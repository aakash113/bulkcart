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>
      <p:cViewPr varScale="1">
        <p:scale>
          <a:sx n="108" d="100"/>
          <a:sy n="108" d="100"/>
        </p:scale>
        <p:origin x="376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30068" y="482600"/>
            <a:ext cx="5029200" cy="523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3119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Level</a:t>
            </a:r>
            <a:r>
              <a:rPr sz="16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1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Logical DFD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-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BulkCart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1A1A2D"/>
                </a:solidFill>
                <a:latin typeface="Times New Roman"/>
                <a:cs typeface="Times New Roman"/>
              </a:rPr>
              <a:t>System</a:t>
            </a:r>
            <a:endParaRPr sz="16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80"/>
              </a:spcBef>
            </a:pP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03.01</a:t>
            </a:r>
            <a:r>
              <a:rPr sz="1600" spc="-3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Manage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Product</a:t>
            </a:r>
            <a:r>
              <a:rPr sz="1600" spc="-3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Catalog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Inventory</a:t>
            </a:r>
            <a:r>
              <a:rPr sz="1600" spc="-3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–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1A1A2D"/>
                </a:solidFill>
                <a:latin typeface="Times New Roman"/>
                <a:cs typeface="Times New Roman"/>
              </a:rPr>
              <a:t>DF-</a:t>
            </a:r>
            <a:r>
              <a:rPr sz="1600" spc="-25" dirty="0">
                <a:solidFill>
                  <a:srgbClr val="1A1A2D"/>
                </a:solidFill>
                <a:latin typeface="Times New Roman"/>
                <a:cs typeface="Times New Roman"/>
              </a:rPr>
              <a:t>In</a:t>
            </a:r>
            <a:endParaRPr sz="16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525380" y="830579"/>
            <a:ext cx="548640" cy="345440"/>
            <a:chOff x="8525380" y="830579"/>
            <a:chExt cx="548640" cy="345440"/>
          </a:xfrm>
        </p:grpSpPr>
        <p:sp>
          <p:nvSpPr>
            <p:cNvPr id="4" name="object 4"/>
            <p:cNvSpPr/>
            <p:nvPr/>
          </p:nvSpPr>
          <p:spPr>
            <a:xfrm>
              <a:off x="8533000" y="838199"/>
              <a:ext cx="533400" cy="330200"/>
            </a:xfrm>
            <a:custGeom>
              <a:avLst/>
              <a:gdLst/>
              <a:ahLst/>
              <a:cxnLst/>
              <a:rect l="l" t="t" r="r" b="b"/>
              <a:pathLst>
                <a:path w="533400" h="330200">
                  <a:moveTo>
                    <a:pt x="533400" y="0"/>
                  </a:moveTo>
                  <a:lnTo>
                    <a:pt x="0" y="0"/>
                  </a:lnTo>
                  <a:lnTo>
                    <a:pt x="0" y="330199"/>
                  </a:lnTo>
                  <a:lnTo>
                    <a:pt x="533400" y="330199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C4D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33000" y="838199"/>
              <a:ext cx="533400" cy="330200"/>
            </a:xfrm>
            <a:custGeom>
              <a:avLst/>
              <a:gdLst/>
              <a:ahLst/>
              <a:cxnLst/>
              <a:rect l="l" t="t" r="r" b="b"/>
              <a:pathLst>
                <a:path w="533400" h="330200">
                  <a:moveTo>
                    <a:pt x="0" y="330199"/>
                  </a:moveTo>
                  <a:lnTo>
                    <a:pt x="533400" y="330199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30199"/>
                  </a:lnTo>
                  <a:close/>
                </a:path>
              </a:pathLst>
            </a:custGeom>
            <a:ln w="15239">
              <a:solidFill>
                <a:srgbClr val="7EA5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563480" y="1249679"/>
            <a:ext cx="472440" cy="370840"/>
            <a:chOff x="8563480" y="1249679"/>
            <a:chExt cx="472440" cy="370840"/>
          </a:xfrm>
        </p:grpSpPr>
        <p:sp>
          <p:nvSpPr>
            <p:cNvPr id="7" name="object 7"/>
            <p:cNvSpPr/>
            <p:nvPr/>
          </p:nvSpPr>
          <p:spPr>
            <a:xfrm>
              <a:off x="8571090" y="1320806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4572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44107" y="266103"/>
                  </a:lnTo>
                  <a:lnTo>
                    <a:pt x="93599" y="279844"/>
                  </a:lnTo>
                  <a:lnTo>
                    <a:pt x="156349" y="288861"/>
                  </a:lnTo>
                  <a:lnTo>
                    <a:pt x="228600" y="292100"/>
                  </a:lnTo>
                  <a:lnTo>
                    <a:pt x="300863" y="288861"/>
                  </a:lnTo>
                  <a:lnTo>
                    <a:pt x="363613" y="279844"/>
                  </a:lnTo>
                  <a:lnTo>
                    <a:pt x="413092" y="266103"/>
                  </a:lnTo>
                  <a:lnTo>
                    <a:pt x="445554" y="248666"/>
                  </a:lnTo>
                  <a:lnTo>
                    <a:pt x="457200" y="2286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71100" y="1485899"/>
              <a:ext cx="457200" cy="127000"/>
            </a:xfrm>
            <a:custGeom>
              <a:avLst/>
              <a:gdLst/>
              <a:ahLst/>
              <a:cxnLst/>
              <a:rect l="l" t="t" r="r" b="b"/>
              <a:pathLst>
                <a:path w="457200" h="127000">
                  <a:moveTo>
                    <a:pt x="457200" y="63500"/>
                  </a:moveTo>
                  <a:lnTo>
                    <a:pt x="413093" y="25997"/>
                  </a:lnTo>
                  <a:lnTo>
                    <a:pt x="363608" y="12251"/>
                  </a:lnTo>
                  <a:lnTo>
                    <a:pt x="300855" y="3237"/>
                  </a:lnTo>
                  <a:lnTo>
                    <a:pt x="228600" y="0"/>
                  </a:lnTo>
                  <a:lnTo>
                    <a:pt x="156344" y="3237"/>
                  </a:lnTo>
                  <a:lnTo>
                    <a:pt x="93591" y="12251"/>
                  </a:lnTo>
                  <a:lnTo>
                    <a:pt x="44106" y="25997"/>
                  </a:lnTo>
                  <a:lnTo>
                    <a:pt x="11654" y="43429"/>
                  </a:lnTo>
                  <a:lnTo>
                    <a:pt x="0" y="63500"/>
                  </a:lnTo>
                  <a:lnTo>
                    <a:pt x="11654" y="83570"/>
                  </a:lnTo>
                  <a:lnTo>
                    <a:pt x="44106" y="101002"/>
                  </a:lnTo>
                  <a:lnTo>
                    <a:pt x="93591" y="114748"/>
                  </a:lnTo>
                  <a:lnTo>
                    <a:pt x="156344" y="123762"/>
                  </a:lnTo>
                  <a:lnTo>
                    <a:pt x="228600" y="127000"/>
                  </a:lnTo>
                  <a:lnTo>
                    <a:pt x="300855" y="123762"/>
                  </a:lnTo>
                  <a:lnTo>
                    <a:pt x="363608" y="114748"/>
                  </a:lnTo>
                  <a:lnTo>
                    <a:pt x="413093" y="101002"/>
                  </a:lnTo>
                  <a:lnTo>
                    <a:pt x="445545" y="83570"/>
                  </a:lnTo>
                  <a:lnTo>
                    <a:pt x="457200" y="63500"/>
                  </a:lnTo>
                </a:path>
              </a:pathLst>
            </a:custGeom>
            <a:ln w="1524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71100" y="1257299"/>
              <a:ext cx="457200" cy="127000"/>
            </a:xfrm>
            <a:custGeom>
              <a:avLst/>
              <a:gdLst/>
              <a:ahLst/>
              <a:cxnLst/>
              <a:rect l="l" t="t" r="r" b="b"/>
              <a:pathLst>
                <a:path w="457200" h="127000">
                  <a:moveTo>
                    <a:pt x="228600" y="0"/>
                  </a:moveTo>
                  <a:lnTo>
                    <a:pt x="156344" y="3237"/>
                  </a:lnTo>
                  <a:lnTo>
                    <a:pt x="93591" y="12251"/>
                  </a:lnTo>
                  <a:lnTo>
                    <a:pt x="44106" y="25997"/>
                  </a:lnTo>
                  <a:lnTo>
                    <a:pt x="0" y="63500"/>
                  </a:lnTo>
                  <a:lnTo>
                    <a:pt x="11654" y="83570"/>
                  </a:lnTo>
                  <a:lnTo>
                    <a:pt x="44106" y="101002"/>
                  </a:lnTo>
                  <a:lnTo>
                    <a:pt x="93591" y="114748"/>
                  </a:lnTo>
                  <a:lnTo>
                    <a:pt x="156344" y="123762"/>
                  </a:lnTo>
                  <a:lnTo>
                    <a:pt x="228600" y="127000"/>
                  </a:lnTo>
                  <a:lnTo>
                    <a:pt x="300855" y="123762"/>
                  </a:lnTo>
                  <a:lnTo>
                    <a:pt x="363608" y="114748"/>
                  </a:lnTo>
                  <a:lnTo>
                    <a:pt x="413093" y="101002"/>
                  </a:lnTo>
                  <a:lnTo>
                    <a:pt x="445545" y="83570"/>
                  </a:lnTo>
                  <a:lnTo>
                    <a:pt x="457200" y="63500"/>
                  </a:lnTo>
                  <a:lnTo>
                    <a:pt x="445545" y="43429"/>
                  </a:lnTo>
                  <a:lnTo>
                    <a:pt x="413093" y="25997"/>
                  </a:lnTo>
                  <a:lnTo>
                    <a:pt x="363608" y="12251"/>
                  </a:lnTo>
                  <a:lnTo>
                    <a:pt x="300855" y="323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71100" y="1257299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457200" y="63500"/>
                  </a:moveTo>
                  <a:lnTo>
                    <a:pt x="413093" y="25997"/>
                  </a:lnTo>
                  <a:lnTo>
                    <a:pt x="363608" y="12251"/>
                  </a:lnTo>
                  <a:lnTo>
                    <a:pt x="300855" y="3237"/>
                  </a:lnTo>
                  <a:lnTo>
                    <a:pt x="228600" y="0"/>
                  </a:lnTo>
                  <a:lnTo>
                    <a:pt x="156344" y="3237"/>
                  </a:lnTo>
                  <a:lnTo>
                    <a:pt x="93591" y="12251"/>
                  </a:lnTo>
                  <a:lnTo>
                    <a:pt x="44106" y="25997"/>
                  </a:lnTo>
                  <a:lnTo>
                    <a:pt x="11654" y="43429"/>
                  </a:lnTo>
                  <a:lnTo>
                    <a:pt x="0" y="63500"/>
                  </a:lnTo>
                  <a:lnTo>
                    <a:pt x="11654" y="83570"/>
                  </a:lnTo>
                  <a:lnTo>
                    <a:pt x="44106" y="101002"/>
                  </a:lnTo>
                  <a:lnTo>
                    <a:pt x="93591" y="114748"/>
                  </a:lnTo>
                  <a:lnTo>
                    <a:pt x="156344" y="123762"/>
                  </a:lnTo>
                  <a:lnTo>
                    <a:pt x="228600" y="127000"/>
                  </a:lnTo>
                  <a:lnTo>
                    <a:pt x="300855" y="123762"/>
                  </a:lnTo>
                  <a:lnTo>
                    <a:pt x="363608" y="114748"/>
                  </a:lnTo>
                  <a:lnTo>
                    <a:pt x="413093" y="101002"/>
                  </a:lnTo>
                  <a:lnTo>
                    <a:pt x="445545" y="83570"/>
                  </a:lnTo>
                  <a:lnTo>
                    <a:pt x="457200" y="63500"/>
                  </a:lnTo>
                </a:path>
                <a:path w="457200" h="292100">
                  <a:moveTo>
                    <a:pt x="0" y="292100"/>
                  </a:moveTo>
                  <a:lnTo>
                    <a:pt x="0" y="63500"/>
                  </a:lnTo>
                </a:path>
                <a:path w="457200" h="292100">
                  <a:moveTo>
                    <a:pt x="457200" y="292100"/>
                  </a:moveTo>
                  <a:lnTo>
                    <a:pt x="457200" y="63500"/>
                  </a:lnTo>
                </a:path>
              </a:pathLst>
            </a:custGeom>
            <a:ln w="1524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155300" y="927099"/>
            <a:ext cx="6502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User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Stories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55300" y="1333499"/>
            <a:ext cx="6146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Data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Stores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50320" y="3006569"/>
            <a:ext cx="1991360" cy="784860"/>
            <a:chOff x="4350320" y="3006569"/>
            <a:chExt cx="1991360" cy="784860"/>
          </a:xfrm>
        </p:grpSpPr>
        <p:sp>
          <p:nvSpPr>
            <p:cNvPr id="14" name="object 14"/>
            <p:cNvSpPr/>
            <p:nvPr/>
          </p:nvSpPr>
          <p:spPr>
            <a:xfrm>
              <a:off x="4361750" y="3017999"/>
              <a:ext cx="1968500" cy="762000"/>
            </a:xfrm>
            <a:custGeom>
              <a:avLst/>
              <a:gdLst/>
              <a:ahLst/>
              <a:cxnLst/>
              <a:rect l="l" t="t" r="r" b="b"/>
              <a:pathLst>
                <a:path w="1968500" h="762000">
                  <a:moveTo>
                    <a:pt x="1816100" y="0"/>
                  </a:moveTo>
                  <a:lnTo>
                    <a:pt x="152400" y="0"/>
                  </a:lnTo>
                  <a:lnTo>
                    <a:pt x="104199" y="7761"/>
                  </a:lnTo>
                  <a:lnTo>
                    <a:pt x="62360" y="29381"/>
                  </a:lnTo>
                  <a:lnTo>
                    <a:pt x="29381" y="62360"/>
                  </a:lnTo>
                  <a:lnTo>
                    <a:pt x="7761" y="104199"/>
                  </a:lnTo>
                  <a:lnTo>
                    <a:pt x="0" y="152400"/>
                  </a:lnTo>
                  <a:lnTo>
                    <a:pt x="0" y="609600"/>
                  </a:lnTo>
                  <a:lnTo>
                    <a:pt x="7761" y="657800"/>
                  </a:lnTo>
                  <a:lnTo>
                    <a:pt x="29381" y="699639"/>
                  </a:lnTo>
                  <a:lnTo>
                    <a:pt x="62360" y="732618"/>
                  </a:lnTo>
                  <a:lnTo>
                    <a:pt x="104199" y="754238"/>
                  </a:lnTo>
                  <a:lnTo>
                    <a:pt x="152400" y="762000"/>
                  </a:lnTo>
                  <a:lnTo>
                    <a:pt x="1816100" y="762000"/>
                  </a:lnTo>
                  <a:lnTo>
                    <a:pt x="1864300" y="754238"/>
                  </a:lnTo>
                  <a:lnTo>
                    <a:pt x="1906139" y="732618"/>
                  </a:lnTo>
                  <a:lnTo>
                    <a:pt x="1939118" y="699639"/>
                  </a:lnTo>
                  <a:lnTo>
                    <a:pt x="1960738" y="657800"/>
                  </a:lnTo>
                  <a:lnTo>
                    <a:pt x="1968500" y="609600"/>
                  </a:lnTo>
                  <a:lnTo>
                    <a:pt x="1968500" y="152400"/>
                  </a:lnTo>
                  <a:lnTo>
                    <a:pt x="1960738" y="104199"/>
                  </a:lnTo>
                  <a:lnTo>
                    <a:pt x="1939118" y="62360"/>
                  </a:lnTo>
                  <a:lnTo>
                    <a:pt x="1906139" y="29381"/>
                  </a:lnTo>
                  <a:lnTo>
                    <a:pt x="1864300" y="7761"/>
                  </a:lnTo>
                  <a:lnTo>
                    <a:pt x="1816100" y="0"/>
                  </a:lnTo>
                  <a:close/>
                </a:path>
              </a:pathLst>
            </a:custGeom>
            <a:solidFill>
              <a:srgbClr val="D4ED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61750" y="3017999"/>
              <a:ext cx="1968500" cy="762000"/>
            </a:xfrm>
            <a:custGeom>
              <a:avLst/>
              <a:gdLst/>
              <a:ahLst/>
              <a:cxnLst/>
              <a:rect l="l" t="t" r="r" b="b"/>
              <a:pathLst>
                <a:path w="1968500" h="762000">
                  <a:moveTo>
                    <a:pt x="152400" y="762000"/>
                  </a:moveTo>
                  <a:lnTo>
                    <a:pt x="1816100" y="762000"/>
                  </a:lnTo>
                  <a:lnTo>
                    <a:pt x="1864300" y="754238"/>
                  </a:lnTo>
                  <a:lnTo>
                    <a:pt x="1906139" y="732618"/>
                  </a:lnTo>
                  <a:lnTo>
                    <a:pt x="1939118" y="699639"/>
                  </a:lnTo>
                  <a:lnTo>
                    <a:pt x="1960738" y="657800"/>
                  </a:lnTo>
                  <a:lnTo>
                    <a:pt x="1968500" y="609600"/>
                  </a:lnTo>
                  <a:lnTo>
                    <a:pt x="1968500" y="152400"/>
                  </a:lnTo>
                  <a:lnTo>
                    <a:pt x="1960738" y="104199"/>
                  </a:lnTo>
                  <a:lnTo>
                    <a:pt x="1939118" y="62360"/>
                  </a:lnTo>
                  <a:lnTo>
                    <a:pt x="1906139" y="29381"/>
                  </a:lnTo>
                  <a:lnTo>
                    <a:pt x="1864300" y="7761"/>
                  </a:lnTo>
                  <a:lnTo>
                    <a:pt x="1816100" y="0"/>
                  </a:lnTo>
                  <a:lnTo>
                    <a:pt x="152400" y="0"/>
                  </a:lnTo>
                  <a:lnTo>
                    <a:pt x="104199" y="7761"/>
                  </a:lnTo>
                  <a:lnTo>
                    <a:pt x="62360" y="29381"/>
                  </a:lnTo>
                  <a:lnTo>
                    <a:pt x="29381" y="62360"/>
                  </a:lnTo>
                  <a:lnTo>
                    <a:pt x="7761" y="104199"/>
                  </a:lnTo>
                  <a:lnTo>
                    <a:pt x="0" y="152400"/>
                  </a:lnTo>
                  <a:lnTo>
                    <a:pt x="0" y="609600"/>
                  </a:lnTo>
                  <a:lnTo>
                    <a:pt x="7761" y="657800"/>
                  </a:lnTo>
                  <a:lnTo>
                    <a:pt x="29381" y="699639"/>
                  </a:lnTo>
                  <a:lnTo>
                    <a:pt x="62360" y="732618"/>
                  </a:lnTo>
                  <a:lnTo>
                    <a:pt x="104199" y="754238"/>
                  </a:lnTo>
                  <a:lnTo>
                    <a:pt x="152400" y="762000"/>
                  </a:lnTo>
                  <a:close/>
                </a:path>
              </a:pathLst>
            </a:custGeom>
            <a:ln w="22860">
              <a:solidFill>
                <a:srgbClr val="598C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814263" y="3208499"/>
            <a:ext cx="1063625" cy="3022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58419" marR="5080" indent="-46355">
              <a:lnSpc>
                <a:spcPct val="101899"/>
              </a:lnSpc>
              <a:spcBef>
                <a:spcPts val="80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03.01</a:t>
            </a:r>
            <a:r>
              <a:rPr sz="9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Manage</a:t>
            </a:r>
            <a:r>
              <a:rPr sz="9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Product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Catalog</a:t>
            </a:r>
            <a:r>
              <a:rPr sz="9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9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Inventory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6000" y="29544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730250" marR="722630" algn="ctr">
              <a:lnSpc>
                <a:spcPct val="101899"/>
              </a:lnSpc>
              <a:spcBef>
                <a:spcPts val="5"/>
              </a:spcBef>
            </a:pP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Subscribed Supplier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07500" y="20019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516890" marR="509905" indent="92075">
              <a:lnSpc>
                <a:spcPct val="101899"/>
              </a:lnSpc>
              <a:spcBef>
                <a:spcPts val="5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03.02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Configure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Pricing</a:t>
            </a:r>
            <a:r>
              <a:rPr sz="9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 Discounts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07500" y="37164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614045" marR="430530" indent="-176530">
              <a:lnSpc>
                <a:spcPct val="101899"/>
              </a:lnSpc>
              <a:spcBef>
                <a:spcPts val="5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03.03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Browse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 Search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Product</a:t>
            </a:r>
            <a:r>
              <a:rPr sz="900" spc="-3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Catalog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16000" y="46689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607695" marR="446405" indent="-154305">
              <a:lnSpc>
                <a:spcPct val="101899"/>
              </a:lnSpc>
              <a:spcBef>
                <a:spcPts val="5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02.01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Create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900" spc="-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Submit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Purchase</a:t>
            </a:r>
            <a:r>
              <a:rPr sz="900" spc="-3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Orders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10975" y="4824574"/>
            <a:ext cx="1670050" cy="1212850"/>
            <a:chOff x="4510975" y="4824574"/>
            <a:chExt cx="1670050" cy="1212850"/>
          </a:xfrm>
        </p:grpSpPr>
        <p:sp>
          <p:nvSpPr>
            <p:cNvPr id="22" name="object 22"/>
            <p:cNvSpPr/>
            <p:nvPr/>
          </p:nvSpPr>
          <p:spPr>
            <a:xfrm>
              <a:off x="4520500" y="4986499"/>
              <a:ext cx="1651000" cy="889000"/>
            </a:xfrm>
            <a:custGeom>
              <a:avLst/>
              <a:gdLst/>
              <a:ahLst/>
              <a:cxnLst/>
              <a:rect l="l" t="t" r="r" b="b"/>
              <a:pathLst>
                <a:path w="1651000" h="889000">
                  <a:moveTo>
                    <a:pt x="1651000" y="0"/>
                  </a:moveTo>
                  <a:lnTo>
                    <a:pt x="0" y="0"/>
                  </a:lnTo>
                  <a:lnTo>
                    <a:pt x="0" y="888999"/>
                  </a:lnTo>
                  <a:lnTo>
                    <a:pt x="1651000" y="888999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500" y="5723099"/>
              <a:ext cx="1651000" cy="304800"/>
            </a:xfrm>
            <a:custGeom>
              <a:avLst/>
              <a:gdLst/>
              <a:ahLst/>
              <a:cxnLst/>
              <a:rect l="l" t="t" r="r" b="b"/>
              <a:pathLst>
                <a:path w="1651000" h="304800">
                  <a:moveTo>
                    <a:pt x="825500" y="0"/>
                  </a:moveTo>
                  <a:lnTo>
                    <a:pt x="750362" y="622"/>
                  </a:lnTo>
                  <a:lnTo>
                    <a:pt x="677115" y="2455"/>
                  </a:lnTo>
                  <a:lnTo>
                    <a:pt x="606049" y="5443"/>
                  </a:lnTo>
                  <a:lnTo>
                    <a:pt x="537456" y="9534"/>
                  </a:lnTo>
                  <a:lnTo>
                    <a:pt x="471627" y="14673"/>
                  </a:lnTo>
                  <a:lnTo>
                    <a:pt x="408854" y="20807"/>
                  </a:lnTo>
                  <a:lnTo>
                    <a:pt x="349428" y="27881"/>
                  </a:lnTo>
                  <a:lnTo>
                    <a:pt x="293640" y="35842"/>
                  </a:lnTo>
                  <a:lnTo>
                    <a:pt x="241783" y="44637"/>
                  </a:lnTo>
                  <a:lnTo>
                    <a:pt x="194147" y="54210"/>
                  </a:lnTo>
                  <a:lnTo>
                    <a:pt x="151024" y="64509"/>
                  </a:lnTo>
                  <a:lnTo>
                    <a:pt x="112704" y="75480"/>
                  </a:lnTo>
                  <a:lnTo>
                    <a:pt x="51645" y="99222"/>
                  </a:lnTo>
                  <a:lnTo>
                    <a:pt x="13299" y="125005"/>
                  </a:lnTo>
                  <a:lnTo>
                    <a:pt x="0" y="152399"/>
                  </a:lnTo>
                  <a:lnTo>
                    <a:pt x="3373" y="166271"/>
                  </a:lnTo>
                  <a:lnTo>
                    <a:pt x="51645" y="205577"/>
                  </a:lnTo>
                  <a:lnTo>
                    <a:pt x="112704" y="229319"/>
                  </a:lnTo>
                  <a:lnTo>
                    <a:pt x="151024" y="240290"/>
                  </a:lnTo>
                  <a:lnTo>
                    <a:pt x="194147" y="250589"/>
                  </a:lnTo>
                  <a:lnTo>
                    <a:pt x="241783" y="260162"/>
                  </a:lnTo>
                  <a:lnTo>
                    <a:pt x="293640" y="268957"/>
                  </a:lnTo>
                  <a:lnTo>
                    <a:pt x="349428" y="276918"/>
                  </a:lnTo>
                  <a:lnTo>
                    <a:pt x="408854" y="283992"/>
                  </a:lnTo>
                  <a:lnTo>
                    <a:pt x="471627" y="290126"/>
                  </a:lnTo>
                  <a:lnTo>
                    <a:pt x="537456" y="295265"/>
                  </a:lnTo>
                  <a:lnTo>
                    <a:pt x="606049" y="299356"/>
                  </a:lnTo>
                  <a:lnTo>
                    <a:pt x="677115" y="302344"/>
                  </a:lnTo>
                  <a:lnTo>
                    <a:pt x="750362" y="304177"/>
                  </a:lnTo>
                  <a:lnTo>
                    <a:pt x="825500" y="304799"/>
                  </a:lnTo>
                  <a:lnTo>
                    <a:pt x="900637" y="304177"/>
                  </a:lnTo>
                  <a:lnTo>
                    <a:pt x="973884" y="302344"/>
                  </a:lnTo>
                  <a:lnTo>
                    <a:pt x="1044950" y="299356"/>
                  </a:lnTo>
                  <a:lnTo>
                    <a:pt x="1113543" y="295265"/>
                  </a:lnTo>
                  <a:lnTo>
                    <a:pt x="1179372" y="290126"/>
                  </a:lnTo>
                  <a:lnTo>
                    <a:pt x="1242145" y="283992"/>
                  </a:lnTo>
                  <a:lnTo>
                    <a:pt x="1301571" y="276918"/>
                  </a:lnTo>
                  <a:lnTo>
                    <a:pt x="1357359" y="268957"/>
                  </a:lnTo>
                  <a:lnTo>
                    <a:pt x="1409216" y="260162"/>
                  </a:lnTo>
                  <a:lnTo>
                    <a:pt x="1456852" y="250589"/>
                  </a:lnTo>
                  <a:lnTo>
                    <a:pt x="1499975" y="240290"/>
                  </a:lnTo>
                  <a:lnTo>
                    <a:pt x="1538295" y="229319"/>
                  </a:lnTo>
                  <a:lnTo>
                    <a:pt x="1599354" y="205577"/>
                  </a:lnTo>
                  <a:lnTo>
                    <a:pt x="1637700" y="179794"/>
                  </a:lnTo>
                  <a:lnTo>
                    <a:pt x="1651000" y="152399"/>
                  </a:lnTo>
                  <a:lnTo>
                    <a:pt x="1647626" y="138528"/>
                  </a:lnTo>
                  <a:lnTo>
                    <a:pt x="1599354" y="99222"/>
                  </a:lnTo>
                  <a:lnTo>
                    <a:pt x="1538295" y="75480"/>
                  </a:lnTo>
                  <a:lnTo>
                    <a:pt x="1499975" y="64509"/>
                  </a:lnTo>
                  <a:lnTo>
                    <a:pt x="1456852" y="54210"/>
                  </a:lnTo>
                  <a:lnTo>
                    <a:pt x="1409216" y="44637"/>
                  </a:lnTo>
                  <a:lnTo>
                    <a:pt x="1357359" y="35842"/>
                  </a:lnTo>
                  <a:lnTo>
                    <a:pt x="1301571" y="27881"/>
                  </a:lnTo>
                  <a:lnTo>
                    <a:pt x="1242145" y="20807"/>
                  </a:lnTo>
                  <a:lnTo>
                    <a:pt x="1179372" y="14673"/>
                  </a:lnTo>
                  <a:lnTo>
                    <a:pt x="1113543" y="9534"/>
                  </a:lnTo>
                  <a:lnTo>
                    <a:pt x="1044950" y="5443"/>
                  </a:lnTo>
                  <a:lnTo>
                    <a:pt x="973884" y="2455"/>
                  </a:lnTo>
                  <a:lnTo>
                    <a:pt x="900637" y="622"/>
                  </a:lnTo>
                  <a:lnTo>
                    <a:pt x="825500" y="0"/>
                  </a:lnTo>
                  <a:close/>
                </a:path>
              </a:pathLst>
            </a:custGeom>
            <a:solidFill>
              <a:srgbClr val="C4D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500" y="5723099"/>
              <a:ext cx="1651000" cy="304800"/>
            </a:xfrm>
            <a:custGeom>
              <a:avLst/>
              <a:gdLst/>
              <a:ahLst/>
              <a:cxnLst/>
              <a:rect l="l" t="t" r="r" b="b"/>
              <a:pathLst>
                <a:path w="1651000" h="304800">
                  <a:moveTo>
                    <a:pt x="1651000" y="152399"/>
                  </a:moveTo>
                  <a:lnTo>
                    <a:pt x="1621512" y="111886"/>
                  </a:lnTo>
                  <a:lnTo>
                    <a:pt x="1571518" y="87069"/>
                  </a:lnTo>
                  <a:lnTo>
                    <a:pt x="1499975" y="64509"/>
                  </a:lnTo>
                  <a:lnTo>
                    <a:pt x="1456852" y="54210"/>
                  </a:lnTo>
                  <a:lnTo>
                    <a:pt x="1409216" y="44637"/>
                  </a:lnTo>
                  <a:lnTo>
                    <a:pt x="1357359" y="35842"/>
                  </a:lnTo>
                  <a:lnTo>
                    <a:pt x="1301571" y="27881"/>
                  </a:lnTo>
                  <a:lnTo>
                    <a:pt x="1242145" y="20807"/>
                  </a:lnTo>
                  <a:lnTo>
                    <a:pt x="1179372" y="14673"/>
                  </a:lnTo>
                  <a:lnTo>
                    <a:pt x="1113543" y="9534"/>
                  </a:lnTo>
                  <a:lnTo>
                    <a:pt x="1044950" y="5443"/>
                  </a:lnTo>
                  <a:lnTo>
                    <a:pt x="973884" y="2455"/>
                  </a:lnTo>
                  <a:lnTo>
                    <a:pt x="900637" y="622"/>
                  </a:lnTo>
                  <a:lnTo>
                    <a:pt x="825500" y="0"/>
                  </a:lnTo>
                  <a:lnTo>
                    <a:pt x="750362" y="622"/>
                  </a:lnTo>
                  <a:lnTo>
                    <a:pt x="677115" y="2455"/>
                  </a:lnTo>
                  <a:lnTo>
                    <a:pt x="606049" y="5443"/>
                  </a:lnTo>
                  <a:lnTo>
                    <a:pt x="537456" y="9534"/>
                  </a:lnTo>
                  <a:lnTo>
                    <a:pt x="471627" y="14673"/>
                  </a:lnTo>
                  <a:lnTo>
                    <a:pt x="408854" y="20807"/>
                  </a:lnTo>
                  <a:lnTo>
                    <a:pt x="349428" y="27881"/>
                  </a:lnTo>
                  <a:lnTo>
                    <a:pt x="293640" y="35842"/>
                  </a:lnTo>
                  <a:lnTo>
                    <a:pt x="241783" y="44637"/>
                  </a:lnTo>
                  <a:lnTo>
                    <a:pt x="194147" y="54210"/>
                  </a:lnTo>
                  <a:lnTo>
                    <a:pt x="151024" y="64509"/>
                  </a:lnTo>
                  <a:lnTo>
                    <a:pt x="112704" y="75480"/>
                  </a:lnTo>
                  <a:lnTo>
                    <a:pt x="51645" y="99222"/>
                  </a:lnTo>
                  <a:lnTo>
                    <a:pt x="13299" y="125005"/>
                  </a:lnTo>
                  <a:lnTo>
                    <a:pt x="0" y="152399"/>
                  </a:lnTo>
                  <a:lnTo>
                    <a:pt x="3373" y="166271"/>
                  </a:lnTo>
                  <a:lnTo>
                    <a:pt x="51645" y="205577"/>
                  </a:lnTo>
                  <a:lnTo>
                    <a:pt x="112704" y="229319"/>
                  </a:lnTo>
                  <a:lnTo>
                    <a:pt x="151024" y="240290"/>
                  </a:lnTo>
                  <a:lnTo>
                    <a:pt x="194147" y="250589"/>
                  </a:lnTo>
                  <a:lnTo>
                    <a:pt x="241783" y="260162"/>
                  </a:lnTo>
                  <a:lnTo>
                    <a:pt x="293640" y="268957"/>
                  </a:lnTo>
                  <a:lnTo>
                    <a:pt x="349428" y="276918"/>
                  </a:lnTo>
                  <a:lnTo>
                    <a:pt x="408854" y="283992"/>
                  </a:lnTo>
                  <a:lnTo>
                    <a:pt x="471627" y="290126"/>
                  </a:lnTo>
                  <a:lnTo>
                    <a:pt x="537456" y="295265"/>
                  </a:lnTo>
                  <a:lnTo>
                    <a:pt x="606049" y="299356"/>
                  </a:lnTo>
                  <a:lnTo>
                    <a:pt x="677115" y="302344"/>
                  </a:lnTo>
                  <a:lnTo>
                    <a:pt x="750362" y="304177"/>
                  </a:lnTo>
                  <a:lnTo>
                    <a:pt x="825500" y="304799"/>
                  </a:lnTo>
                  <a:lnTo>
                    <a:pt x="900637" y="304177"/>
                  </a:lnTo>
                  <a:lnTo>
                    <a:pt x="973884" y="302344"/>
                  </a:lnTo>
                  <a:lnTo>
                    <a:pt x="1044950" y="299356"/>
                  </a:lnTo>
                  <a:lnTo>
                    <a:pt x="1113543" y="295265"/>
                  </a:lnTo>
                  <a:lnTo>
                    <a:pt x="1179372" y="290126"/>
                  </a:lnTo>
                  <a:lnTo>
                    <a:pt x="1242145" y="283992"/>
                  </a:lnTo>
                  <a:lnTo>
                    <a:pt x="1301571" y="276918"/>
                  </a:lnTo>
                  <a:lnTo>
                    <a:pt x="1357359" y="268957"/>
                  </a:lnTo>
                  <a:lnTo>
                    <a:pt x="1409216" y="260162"/>
                  </a:lnTo>
                  <a:lnTo>
                    <a:pt x="1456852" y="250589"/>
                  </a:lnTo>
                  <a:lnTo>
                    <a:pt x="1499975" y="240290"/>
                  </a:lnTo>
                  <a:lnTo>
                    <a:pt x="1538295" y="229319"/>
                  </a:lnTo>
                  <a:lnTo>
                    <a:pt x="1599354" y="205577"/>
                  </a:lnTo>
                  <a:lnTo>
                    <a:pt x="1637700" y="179794"/>
                  </a:lnTo>
                  <a:lnTo>
                    <a:pt x="1651000" y="152399"/>
                  </a:lnTo>
                </a:path>
              </a:pathLst>
            </a:custGeom>
            <a:ln w="1905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500" y="4834099"/>
              <a:ext cx="1651000" cy="304800"/>
            </a:xfrm>
            <a:custGeom>
              <a:avLst/>
              <a:gdLst/>
              <a:ahLst/>
              <a:cxnLst/>
              <a:rect l="l" t="t" r="r" b="b"/>
              <a:pathLst>
                <a:path w="1651000" h="304800">
                  <a:moveTo>
                    <a:pt x="825500" y="0"/>
                  </a:moveTo>
                  <a:lnTo>
                    <a:pt x="750362" y="622"/>
                  </a:lnTo>
                  <a:lnTo>
                    <a:pt x="677115" y="2455"/>
                  </a:lnTo>
                  <a:lnTo>
                    <a:pt x="606049" y="5443"/>
                  </a:lnTo>
                  <a:lnTo>
                    <a:pt x="537456" y="9534"/>
                  </a:lnTo>
                  <a:lnTo>
                    <a:pt x="471627" y="14673"/>
                  </a:lnTo>
                  <a:lnTo>
                    <a:pt x="408854" y="20807"/>
                  </a:lnTo>
                  <a:lnTo>
                    <a:pt x="349428" y="27881"/>
                  </a:lnTo>
                  <a:lnTo>
                    <a:pt x="293640" y="35842"/>
                  </a:lnTo>
                  <a:lnTo>
                    <a:pt x="241783" y="44637"/>
                  </a:lnTo>
                  <a:lnTo>
                    <a:pt x="194147" y="54210"/>
                  </a:lnTo>
                  <a:lnTo>
                    <a:pt x="151024" y="64509"/>
                  </a:lnTo>
                  <a:lnTo>
                    <a:pt x="112704" y="75480"/>
                  </a:lnTo>
                  <a:lnTo>
                    <a:pt x="51645" y="99222"/>
                  </a:lnTo>
                  <a:lnTo>
                    <a:pt x="13299" y="125005"/>
                  </a:lnTo>
                  <a:lnTo>
                    <a:pt x="0" y="152399"/>
                  </a:lnTo>
                  <a:lnTo>
                    <a:pt x="3373" y="166271"/>
                  </a:lnTo>
                  <a:lnTo>
                    <a:pt x="51645" y="205577"/>
                  </a:lnTo>
                  <a:lnTo>
                    <a:pt x="112704" y="229319"/>
                  </a:lnTo>
                  <a:lnTo>
                    <a:pt x="151024" y="240290"/>
                  </a:lnTo>
                  <a:lnTo>
                    <a:pt x="194147" y="250589"/>
                  </a:lnTo>
                  <a:lnTo>
                    <a:pt x="241783" y="260162"/>
                  </a:lnTo>
                  <a:lnTo>
                    <a:pt x="293640" y="268957"/>
                  </a:lnTo>
                  <a:lnTo>
                    <a:pt x="349428" y="276918"/>
                  </a:lnTo>
                  <a:lnTo>
                    <a:pt x="408854" y="283992"/>
                  </a:lnTo>
                  <a:lnTo>
                    <a:pt x="471627" y="290126"/>
                  </a:lnTo>
                  <a:lnTo>
                    <a:pt x="537456" y="295265"/>
                  </a:lnTo>
                  <a:lnTo>
                    <a:pt x="606049" y="299356"/>
                  </a:lnTo>
                  <a:lnTo>
                    <a:pt x="677115" y="302344"/>
                  </a:lnTo>
                  <a:lnTo>
                    <a:pt x="750362" y="304177"/>
                  </a:lnTo>
                  <a:lnTo>
                    <a:pt x="825500" y="304799"/>
                  </a:lnTo>
                  <a:lnTo>
                    <a:pt x="900637" y="304177"/>
                  </a:lnTo>
                  <a:lnTo>
                    <a:pt x="973884" y="302344"/>
                  </a:lnTo>
                  <a:lnTo>
                    <a:pt x="1044950" y="299356"/>
                  </a:lnTo>
                  <a:lnTo>
                    <a:pt x="1113543" y="295265"/>
                  </a:lnTo>
                  <a:lnTo>
                    <a:pt x="1179372" y="290126"/>
                  </a:lnTo>
                  <a:lnTo>
                    <a:pt x="1242145" y="283992"/>
                  </a:lnTo>
                  <a:lnTo>
                    <a:pt x="1301571" y="276918"/>
                  </a:lnTo>
                  <a:lnTo>
                    <a:pt x="1357359" y="268957"/>
                  </a:lnTo>
                  <a:lnTo>
                    <a:pt x="1409216" y="260162"/>
                  </a:lnTo>
                  <a:lnTo>
                    <a:pt x="1456852" y="250589"/>
                  </a:lnTo>
                  <a:lnTo>
                    <a:pt x="1499975" y="240290"/>
                  </a:lnTo>
                  <a:lnTo>
                    <a:pt x="1538295" y="229319"/>
                  </a:lnTo>
                  <a:lnTo>
                    <a:pt x="1599354" y="205577"/>
                  </a:lnTo>
                  <a:lnTo>
                    <a:pt x="1637700" y="179794"/>
                  </a:lnTo>
                  <a:lnTo>
                    <a:pt x="1651000" y="152399"/>
                  </a:lnTo>
                  <a:lnTo>
                    <a:pt x="1647626" y="138528"/>
                  </a:lnTo>
                  <a:lnTo>
                    <a:pt x="1599354" y="99222"/>
                  </a:lnTo>
                  <a:lnTo>
                    <a:pt x="1538295" y="75480"/>
                  </a:lnTo>
                  <a:lnTo>
                    <a:pt x="1499975" y="64509"/>
                  </a:lnTo>
                  <a:lnTo>
                    <a:pt x="1456852" y="54210"/>
                  </a:lnTo>
                  <a:lnTo>
                    <a:pt x="1409216" y="44637"/>
                  </a:lnTo>
                  <a:lnTo>
                    <a:pt x="1357359" y="35842"/>
                  </a:lnTo>
                  <a:lnTo>
                    <a:pt x="1301571" y="27881"/>
                  </a:lnTo>
                  <a:lnTo>
                    <a:pt x="1242145" y="20807"/>
                  </a:lnTo>
                  <a:lnTo>
                    <a:pt x="1179372" y="14673"/>
                  </a:lnTo>
                  <a:lnTo>
                    <a:pt x="1113543" y="9534"/>
                  </a:lnTo>
                  <a:lnTo>
                    <a:pt x="1044950" y="5443"/>
                  </a:lnTo>
                  <a:lnTo>
                    <a:pt x="973884" y="2455"/>
                  </a:lnTo>
                  <a:lnTo>
                    <a:pt x="900637" y="622"/>
                  </a:lnTo>
                  <a:lnTo>
                    <a:pt x="825500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500" y="4834099"/>
              <a:ext cx="1651000" cy="1041400"/>
            </a:xfrm>
            <a:custGeom>
              <a:avLst/>
              <a:gdLst/>
              <a:ahLst/>
              <a:cxnLst/>
              <a:rect l="l" t="t" r="r" b="b"/>
              <a:pathLst>
                <a:path w="1651000" h="1041400">
                  <a:moveTo>
                    <a:pt x="1651000" y="152399"/>
                  </a:moveTo>
                  <a:lnTo>
                    <a:pt x="1621512" y="111886"/>
                  </a:lnTo>
                  <a:lnTo>
                    <a:pt x="1571518" y="87069"/>
                  </a:lnTo>
                  <a:lnTo>
                    <a:pt x="1499975" y="64509"/>
                  </a:lnTo>
                  <a:lnTo>
                    <a:pt x="1456852" y="54210"/>
                  </a:lnTo>
                  <a:lnTo>
                    <a:pt x="1409216" y="44637"/>
                  </a:lnTo>
                  <a:lnTo>
                    <a:pt x="1357359" y="35842"/>
                  </a:lnTo>
                  <a:lnTo>
                    <a:pt x="1301571" y="27881"/>
                  </a:lnTo>
                  <a:lnTo>
                    <a:pt x="1242145" y="20807"/>
                  </a:lnTo>
                  <a:lnTo>
                    <a:pt x="1179372" y="14673"/>
                  </a:lnTo>
                  <a:lnTo>
                    <a:pt x="1113543" y="9534"/>
                  </a:lnTo>
                  <a:lnTo>
                    <a:pt x="1044950" y="5443"/>
                  </a:lnTo>
                  <a:lnTo>
                    <a:pt x="973884" y="2455"/>
                  </a:lnTo>
                  <a:lnTo>
                    <a:pt x="900637" y="622"/>
                  </a:lnTo>
                  <a:lnTo>
                    <a:pt x="825500" y="0"/>
                  </a:lnTo>
                  <a:lnTo>
                    <a:pt x="750362" y="622"/>
                  </a:lnTo>
                  <a:lnTo>
                    <a:pt x="677115" y="2455"/>
                  </a:lnTo>
                  <a:lnTo>
                    <a:pt x="606049" y="5443"/>
                  </a:lnTo>
                  <a:lnTo>
                    <a:pt x="537456" y="9534"/>
                  </a:lnTo>
                  <a:lnTo>
                    <a:pt x="471627" y="14673"/>
                  </a:lnTo>
                  <a:lnTo>
                    <a:pt x="408854" y="20807"/>
                  </a:lnTo>
                  <a:lnTo>
                    <a:pt x="349428" y="27881"/>
                  </a:lnTo>
                  <a:lnTo>
                    <a:pt x="293640" y="35842"/>
                  </a:lnTo>
                  <a:lnTo>
                    <a:pt x="241783" y="44637"/>
                  </a:lnTo>
                  <a:lnTo>
                    <a:pt x="194147" y="54210"/>
                  </a:lnTo>
                  <a:lnTo>
                    <a:pt x="151024" y="64509"/>
                  </a:lnTo>
                  <a:lnTo>
                    <a:pt x="112704" y="75480"/>
                  </a:lnTo>
                  <a:lnTo>
                    <a:pt x="51645" y="99222"/>
                  </a:lnTo>
                  <a:lnTo>
                    <a:pt x="13299" y="125005"/>
                  </a:lnTo>
                  <a:lnTo>
                    <a:pt x="0" y="152399"/>
                  </a:lnTo>
                  <a:lnTo>
                    <a:pt x="3373" y="166271"/>
                  </a:lnTo>
                  <a:lnTo>
                    <a:pt x="51645" y="205577"/>
                  </a:lnTo>
                  <a:lnTo>
                    <a:pt x="112704" y="229319"/>
                  </a:lnTo>
                  <a:lnTo>
                    <a:pt x="151024" y="240290"/>
                  </a:lnTo>
                  <a:lnTo>
                    <a:pt x="194147" y="250589"/>
                  </a:lnTo>
                  <a:lnTo>
                    <a:pt x="241783" y="260162"/>
                  </a:lnTo>
                  <a:lnTo>
                    <a:pt x="293640" y="268957"/>
                  </a:lnTo>
                  <a:lnTo>
                    <a:pt x="349428" y="276918"/>
                  </a:lnTo>
                  <a:lnTo>
                    <a:pt x="408854" y="283992"/>
                  </a:lnTo>
                  <a:lnTo>
                    <a:pt x="471627" y="290126"/>
                  </a:lnTo>
                  <a:lnTo>
                    <a:pt x="537456" y="295265"/>
                  </a:lnTo>
                  <a:lnTo>
                    <a:pt x="606049" y="299356"/>
                  </a:lnTo>
                  <a:lnTo>
                    <a:pt x="677115" y="302344"/>
                  </a:lnTo>
                  <a:lnTo>
                    <a:pt x="750362" y="304177"/>
                  </a:lnTo>
                  <a:lnTo>
                    <a:pt x="825500" y="304799"/>
                  </a:lnTo>
                  <a:lnTo>
                    <a:pt x="900637" y="304177"/>
                  </a:lnTo>
                  <a:lnTo>
                    <a:pt x="973884" y="302344"/>
                  </a:lnTo>
                  <a:lnTo>
                    <a:pt x="1044950" y="299356"/>
                  </a:lnTo>
                  <a:lnTo>
                    <a:pt x="1113543" y="295265"/>
                  </a:lnTo>
                  <a:lnTo>
                    <a:pt x="1179372" y="290126"/>
                  </a:lnTo>
                  <a:lnTo>
                    <a:pt x="1242145" y="283992"/>
                  </a:lnTo>
                  <a:lnTo>
                    <a:pt x="1301571" y="276918"/>
                  </a:lnTo>
                  <a:lnTo>
                    <a:pt x="1357359" y="268957"/>
                  </a:lnTo>
                  <a:lnTo>
                    <a:pt x="1409216" y="260162"/>
                  </a:lnTo>
                  <a:lnTo>
                    <a:pt x="1456852" y="250589"/>
                  </a:lnTo>
                  <a:lnTo>
                    <a:pt x="1499975" y="240290"/>
                  </a:lnTo>
                  <a:lnTo>
                    <a:pt x="1538295" y="229319"/>
                  </a:lnTo>
                  <a:lnTo>
                    <a:pt x="1599354" y="205577"/>
                  </a:lnTo>
                  <a:lnTo>
                    <a:pt x="1637700" y="179794"/>
                  </a:lnTo>
                  <a:lnTo>
                    <a:pt x="1651000" y="152399"/>
                  </a:lnTo>
                </a:path>
                <a:path w="1651000" h="1041400">
                  <a:moveTo>
                    <a:pt x="0" y="1041399"/>
                  </a:moveTo>
                  <a:lnTo>
                    <a:pt x="0" y="152399"/>
                  </a:lnTo>
                </a:path>
                <a:path w="1651000" h="1041400">
                  <a:moveTo>
                    <a:pt x="1651000" y="1041399"/>
                  </a:moveTo>
                  <a:lnTo>
                    <a:pt x="1651000" y="152399"/>
                  </a:lnTo>
                </a:path>
              </a:pathLst>
            </a:custGeom>
            <a:ln w="1905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909532" y="5234149"/>
            <a:ext cx="873125" cy="3022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102870">
              <a:lnSpc>
                <a:spcPct val="101899"/>
              </a:lnSpc>
              <a:spcBef>
                <a:spcPts val="80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D1</a:t>
            </a:r>
            <a:r>
              <a:rPr sz="9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Catalog</a:t>
            </a:r>
            <a:r>
              <a:rPr sz="9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5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 Inventory</a:t>
            </a:r>
            <a:r>
              <a:rPr sz="900" spc="-3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Records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245360" y="3287924"/>
            <a:ext cx="2855595" cy="1390015"/>
            <a:chOff x="2245360" y="3287924"/>
            <a:chExt cx="2855595" cy="1390015"/>
          </a:xfrm>
        </p:grpSpPr>
        <p:sp>
          <p:nvSpPr>
            <p:cNvPr id="29" name="object 29"/>
            <p:cNvSpPr/>
            <p:nvPr/>
          </p:nvSpPr>
          <p:spPr>
            <a:xfrm>
              <a:off x="2984500" y="3335499"/>
              <a:ext cx="1377315" cy="0"/>
            </a:xfrm>
            <a:custGeom>
              <a:avLst/>
              <a:gdLst/>
              <a:ahLst/>
              <a:cxnLst/>
              <a:rect l="l" t="t" r="r" b="b"/>
              <a:pathLst>
                <a:path w="1377314">
                  <a:moveTo>
                    <a:pt x="0" y="0"/>
                  </a:moveTo>
                  <a:lnTo>
                    <a:pt x="137725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43997" y="3287924"/>
              <a:ext cx="118110" cy="95250"/>
            </a:xfrm>
            <a:custGeom>
              <a:avLst/>
              <a:gdLst/>
              <a:ahLst/>
              <a:cxnLst/>
              <a:rect l="l" t="t" r="r" b="b"/>
              <a:pathLst>
                <a:path w="118110" h="95250">
                  <a:moveTo>
                    <a:pt x="0" y="0"/>
                  </a:moveTo>
                  <a:lnTo>
                    <a:pt x="0" y="95150"/>
                  </a:lnTo>
                  <a:lnTo>
                    <a:pt x="117753" y="47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254250" y="3779999"/>
              <a:ext cx="2837815" cy="889000"/>
            </a:xfrm>
            <a:custGeom>
              <a:avLst/>
              <a:gdLst/>
              <a:ahLst/>
              <a:cxnLst/>
              <a:rect l="l" t="t" r="r" b="b"/>
              <a:pathLst>
                <a:path w="2837815" h="889000">
                  <a:moveTo>
                    <a:pt x="0" y="889000"/>
                  </a:moveTo>
                  <a:lnTo>
                    <a:pt x="283775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65410" y="3769802"/>
              <a:ext cx="127000" cy="90805"/>
            </a:xfrm>
            <a:custGeom>
              <a:avLst/>
              <a:gdLst/>
              <a:ahLst/>
              <a:cxnLst/>
              <a:rect l="l" t="t" r="r" b="b"/>
              <a:pathLst>
                <a:path w="127000" h="90804">
                  <a:moveTo>
                    <a:pt x="0" y="0"/>
                  </a:moveTo>
                  <a:lnTo>
                    <a:pt x="28444" y="90798"/>
                  </a:lnTo>
                  <a:lnTo>
                    <a:pt x="126589" y="101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097314" y="3009028"/>
            <a:ext cx="1450975" cy="3026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Product</a:t>
            </a:r>
            <a:r>
              <a:rPr sz="9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lang="en-US" sz="90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&amp;</a:t>
            </a:r>
            <a:r>
              <a:rPr sz="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endParaRPr lang="en-US" sz="900" spc="-15" dirty="0">
              <a:solidFill>
                <a:srgbClr val="333333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Stock</a:t>
            </a:r>
            <a:r>
              <a:rPr sz="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Levels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15315" y="3970499"/>
            <a:ext cx="13430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Stock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Reservation</a:t>
            </a:r>
            <a:r>
              <a:rPr lang="en-US" sz="900" spc="-10" dirty="0">
                <a:solidFill>
                  <a:srgbClr val="333333"/>
                </a:solidFill>
                <a:latin typeface="MS Gothic"/>
                <a:cs typeface="Times New Roman"/>
              </a:rPr>
              <a:t> &amp;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Request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21360" y="2374109"/>
            <a:ext cx="1395095" cy="779780"/>
            <a:chOff x="6321360" y="2374109"/>
            <a:chExt cx="1395095" cy="779780"/>
          </a:xfrm>
        </p:grpSpPr>
        <p:sp>
          <p:nvSpPr>
            <p:cNvPr id="36" name="object 36"/>
            <p:cNvSpPr/>
            <p:nvPr/>
          </p:nvSpPr>
          <p:spPr>
            <a:xfrm>
              <a:off x="6330250" y="2382999"/>
              <a:ext cx="1377315" cy="762000"/>
            </a:xfrm>
            <a:custGeom>
              <a:avLst/>
              <a:gdLst/>
              <a:ahLst/>
              <a:cxnLst/>
              <a:rect l="l" t="t" r="r" b="b"/>
              <a:pathLst>
                <a:path w="1377315" h="762000">
                  <a:moveTo>
                    <a:pt x="0" y="762000"/>
                  </a:moveTo>
                  <a:lnTo>
                    <a:pt x="137725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81433" y="2382999"/>
              <a:ext cx="126364" cy="99060"/>
            </a:xfrm>
            <a:custGeom>
              <a:avLst/>
              <a:gdLst/>
              <a:ahLst/>
              <a:cxnLst/>
              <a:rect l="l" t="t" r="r" b="b"/>
              <a:pathLst>
                <a:path w="126365" h="99060">
                  <a:moveTo>
                    <a:pt x="126066" y="0"/>
                  </a:moveTo>
                  <a:lnTo>
                    <a:pt x="0" y="15378"/>
                  </a:lnTo>
                  <a:lnTo>
                    <a:pt x="46064" y="98634"/>
                  </a:lnTo>
                  <a:lnTo>
                    <a:pt x="126066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088250" y="2464793"/>
            <a:ext cx="12700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Catalog</a:t>
            </a:r>
            <a:r>
              <a:rPr sz="9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Items</a:t>
            </a:r>
            <a:r>
              <a:rPr lang="en-US" sz="90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Times New Roman"/>
                <a:cs typeface="Times New Roman"/>
              </a:rPr>
              <a:t>f</a:t>
            </a: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or</a:t>
            </a:r>
            <a:r>
              <a:rPr sz="9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Pricing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321360" y="3517109"/>
            <a:ext cx="1395095" cy="589280"/>
            <a:chOff x="6321360" y="3517109"/>
            <a:chExt cx="1395095" cy="589280"/>
          </a:xfrm>
        </p:grpSpPr>
        <p:sp>
          <p:nvSpPr>
            <p:cNvPr id="40" name="object 40"/>
            <p:cNvSpPr/>
            <p:nvPr/>
          </p:nvSpPr>
          <p:spPr>
            <a:xfrm>
              <a:off x="6330250" y="3525999"/>
              <a:ext cx="1377315" cy="571500"/>
            </a:xfrm>
            <a:custGeom>
              <a:avLst/>
              <a:gdLst/>
              <a:ahLst/>
              <a:cxnLst/>
              <a:rect l="l" t="t" r="r" b="b"/>
              <a:pathLst>
                <a:path w="1377315" h="571500">
                  <a:moveTo>
                    <a:pt x="0" y="0"/>
                  </a:moveTo>
                  <a:lnTo>
                    <a:pt x="1377250" y="57150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80505" y="4008427"/>
              <a:ext cx="127000" cy="89535"/>
            </a:xfrm>
            <a:custGeom>
              <a:avLst/>
              <a:gdLst/>
              <a:ahLst/>
              <a:cxnLst/>
              <a:rect l="l" t="t" r="r" b="b"/>
              <a:pathLst>
                <a:path w="127000" h="89535">
                  <a:moveTo>
                    <a:pt x="36468" y="0"/>
                  </a:moveTo>
                  <a:lnTo>
                    <a:pt x="0" y="87884"/>
                  </a:lnTo>
                  <a:lnTo>
                    <a:pt x="126994" y="89072"/>
                  </a:lnTo>
                  <a:lnTo>
                    <a:pt x="36468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723250" y="3559634"/>
            <a:ext cx="98425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Available</a:t>
            </a:r>
            <a:r>
              <a:rPr lang="en-US" sz="900" spc="-1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Products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298424" y="3779999"/>
            <a:ext cx="95250" cy="1054100"/>
            <a:chOff x="5298424" y="3779999"/>
            <a:chExt cx="95250" cy="1054100"/>
          </a:xfrm>
        </p:grpSpPr>
        <p:sp>
          <p:nvSpPr>
            <p:cNvPr id="44" name="object 44"/>
            <p:cNvSpPr/>
            <p:nvPr/>
          </p:nvSpPr>
          <p:spPr>
            <a:xfrm>
              <a:off x="5346000" y="3779999"/>
              <a:ext cx="0" cy="1054100"/>
            </a:xfrm>
            <a:custGeom>
              <a:avLst/>
              <a:gdLst/>
              <a:ahLst/>
              <a:cxnLst/>
              <a:rect l="l" t="t" r="r" b="b"/>
              <a:pathLst>
                <a:path h="1054100">
                  <a:moveTo>
                    <a:pt x="0" y="0"/>
                  </a:moveTo>
                  <a:lnTo>
                    <a:pt x="0" y="105410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298424" y="4716348"/>
              <a:ext cx="95250" cy="118110"/>
            </a:xfrm>
            <a:custGeom>
              <a:avLst/>
              <a:gdLst/>
              <a:ahLst/>
              <a:cxnLst/>
              <a:rect l="l" t="t" r="r" b="b"/>
              <a:pathLst>
                <a:path w="95250" h="118110">
                  <a:moveTo>
                    <a:pt x="95149" y="0"/>
                  </a:moveTo>
                  <a:lnTo>
                    <a:pt x="0" y="0"/>
                  </a:lnTo>
                  <a:lnTo>
                    <a:pt x="47575" y="117751"/>
                  </a:lnTo>
                  <a:lnTo>
                    <a:pt x="95149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142750" y="4288537"/>
            <a:ext cx="3567323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Catalog</a:t>
            </a:r>
            <a:r>
              <a:rPr sz="9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Record(Persisted)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324404" y="3335463"/>
            <a:ext cx="324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97EA5"/>
                </a:solidFill>
                <a:latin typeface="Times New Roman"/>
                <a:cs typeface="Times New Roman"/>
              </a:rPr>
              <a:t>DF-</a:t>
            </a:r>
            <a:r>
              <a:rPr sz="900" b="1" spc="-25" dirty="0">
                <a:solidFill>
                  <a:srgbClr val="497EA5"/>
                </a:solidFill>
                <a:latin typeface="Times New Roman"/>
                <a:cs typeface="Times New Roman"/>
              </a:rPr>
              <a:t>In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22300" y="5908999"/>
            <a:ext cx="4561205" cy="85090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b="1" spc="-10" dirty="0">
                <a:solidFill>
                  <a:srgbClr val="1A1A2D"/>
                </a:solidFill>
                <a:latin typeface="Times New Roman"/>
                <a:cs typeface="Times New Roman"/>
              </a:rPr>
              <a:t>Objective: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08300"/>
              </a:lnSpc>
            </a:pP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Illustrates</a:t>
            </a:r>
            <a:r>
              <a:rPr sz="10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how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Manage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Product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Catalog</a:t>
            </a:r>
            <a:r>
              <a:rPr sz="10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Inventory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feature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(03.01)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receives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incoming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product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data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and</a:t>
            </a:r>
            <a:r>
              <a:rPr sz="10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stock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updates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from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sz="10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Subscribed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Supplier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and</a:t>
            </a:r>
            <a:r>
              <a:rPr sz="10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purchase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order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reservations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from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order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creation,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then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pushes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catalog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items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to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pricing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configuration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and</a:t>
            </a:r>
            <a:r>
              <a:rPr sz="10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product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browsing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—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highlighting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 DF-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In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data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flows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within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Sprint</a:t>
            </a:r>
            <a:r>
              <a:rPr sz="10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2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 scope.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30068" y="482600"/>
            <a:ext cx="5029200" cy="523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3119" algn="l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Level</a:t>
            </a:r>
            <a:r>
              <a:rPr sz="16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1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Physical DFD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-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BulkCart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1A1A2D"/>
                </a:solidFill>
                <a:latin typeface="Times New Roman"/>
                <a:cs typeface="Times New Roman"/>
              </a:rPr>
              <a:t>System</a:t>
            </a:r>
            <a:endParaRPr sz="16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80"/>
              </a:spcBef>
            </a:pP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03.01</a:t>
            </a:r>
            <a:r>
              <a:rPr sz="1600" spc="-3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Manage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Product</a:t>
            </a:r>
            <a:r>
              <a:rPr sz="1600" spc="-3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Catalog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Inventory</a:t>
            </a:r>
            <a:r>
              <a:rPr sz="1600" spc="-3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–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1A1A2D"/>
                </a:solidFill>
                <a:latin typeface="Times New Roman"/>
                <a:cs typeface="Times New Roman"/>
              </a:rPr>
              <a:t>DF-</a:t>
            </a:r>
            <a:r>
              <a:rPr sz="1600" spc="-25" dirty="0">
                <a:solidFill>
                  <a:srgbClr val="1A1A2D"/>
                </a:solidFill>
                <a:latin typeface="Times New Roman"/>
                <a:cs typeface="Times New Roman"/>
              </a:rPr>
              <a:t>In</a:t>
            </a:r>
            <a:endParaRPr sz="16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525380" y="830579"/>
            <a:ext cx="548640" cy="345440"/>
            <a:chOff x="8525380" y="830579"/>
            <a:chExt cx="548640" cy="345440"/>
          </a:xfrm>
        </p:grpSpPr>
        <p:sp>
          <p:nvSpPr>
            <p:cNvPr id="4" name="object 4"/>
            <p:cNvSpPr/>
            <p:nvPr/>
          </p:nvSpPr>
          <p:spPr>
            <a:xfrm>
              <a:off x="8533000" y="838199"/>
              <a:ext cx="533400" cy="330200"/>
            </a:xfrm>
            <a:custGeom>
              <a:avLst/>
              <a:gdLst/>
              <a:ahLst/>
              <a:cxnLst/>
              <a:rect l="l" t="t" r="r" b="b"/>
              <a:pathLst>
                <a:path w="533400" h="330200">
                  <a:moveTo>
                    <a:pt x="533400" y="0"/>
                  </a:moveTo>
                  <a:lnTo>
                    <a:pt x="0" y="0"/>
                  </a:lnTo>
                  <a:lnTo>
                    <a:pt x="0" y="330199"/>
                  </a:lnTo>
                  <a:lnTo>
                    <a:pt x="533400" y="330199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C4D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33000" y="838199"/>
              <a:ext cx="533400" cy="330200"/>
            </a:xfrm>
            <a:custGeom>
              <a:avLst/>
              <a:gdLst/>
              <a:ahLst/>
              <a:cxnLst/>
              <a:rect l="l" t="t" r="r" b="b"/>
              <a:pathLst>
                <a:path w="533400" h="330200">
                  <a:moveTo>
                    <a:pt x="0" y="330199"/>
                  </a:moveTo>
                  <a:lnTo>
                    <a:pt x="533400" y="330199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30199"/>
                  </a:lnTo>
                  <a:close/>
                </a:path>
              </a:pathLst>
            </a:custGeom>
            <a:ln w="15239">
              <a:solidFill>
                <a:srgbClr val="7EA5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563480" y="1249679"/>
            <a:ext cx="472440" cy="370840"/>
            <a:chOff x="8563480" y="1249679"/>
            <a:chExt cx="472440" cy="370840"/>
          </a:xfrm>
        </p:grpSpPr>
        <p:sp>
          <p:nvSpPr>
            <p:cNvPr id="7" name="object 7"/>
            <p:cNvSpPr/>
            <p:nvPr/>
          </p:nvSpPr>
          <p:spPr>
            <a:xfrm>
              <a:off x="8571090" y="1320806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4572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44107" y="266103"/>
                  </a:lnTo>
                  <a:lnTo>
                    <a:pt x="93599" y="279844"/>
                  </a:lnTo>
                  <a:lnTo>
                    <a:pt x="156349" y="288861"/>
                  </a:lnTo>
                  <a:lnTo>
                    <a:pt x="228600" y="292100"/>
                  </a:lnTo>
                  <a:lnTo>
                    <a:pt x="300863" y="288861"/>
                  </a:lnTo>
                  <a:lnTo>
                    <a:pt x="363613" y="279844"/>
                  </a:lnTo>
                  <a:lnTo>
                    <a:pt x="413092" y="266103"/>
                  </a:lnTo>
                  <a:lnTo>
                    <a:pt x="445554" y="248666"/>
                  </a:lnTo>
                  <a:lnTo>
                    <a:pt x="457200" y="2286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71100" y="1485899"/>
              <a:ext cx="457200" cy="127000"/>
            </a:xfrm>
            <a:custGeom>
              <a:avLst/>
              <a:gdLst/>
              <a:ahLst/>
              <a:cxnLst/>
              <a:rect l="l" t="t" r="r" b="b"/>
              <a:pathLst>
                <a:path w="457200" h="127000">
                  <a:moveTo>
                    <a:pt x="457200" y="63500"/>
                  </a:moveTo>
                  <a:lnTo>
                    <a:pt x="413093" y="25997"/>
                  </a:lnTo>
                  <a:lnTo>
                    <a:pt x="363608" y="12251"/>
                  </a:lnTo>
                  <a:lnTo>
                    <a:pt x="300855" y="3237"/>
                  </a:lnTo>
                  <a:lnTo>
                    <a:pt x="228600" y="0"/>
                  </a:lnTo>
                  <a:lnTo>
                    <a:pt x="156344" y="3237"/>
                  </a:lnTo>
                  <a:lnTo>
                    <a:pt x="93591" y="12251"/>
                  </a:lnTo>
                  <a:lnTo>
                    <a:pt x="44106" y="25997"/>
                  </a:lnTo>
                  <a:lnTo>
                    <a:pt x="11654" y="43429"/>
                  </a:lnTo>
                  <a:lnTo>
                    <a:pt x="0" y="63500"/>
                  </a:lnTo>
                  <a:lnTo>
                    <a:pt x="11654" y="83570"/>
                  </a:lnTo>
                  <a:lnTo>
                    <a:pt x="44106" y="101002"/>
                  </a:lnTo>
                  <a:lnTo>
                    <a:pt x="93591" y="114748"/>
                  </a:lnTo>
                  <a:lnTo>
                    <a:pt x="156344" y="123762"/>
                  </a:lnTo>
                  <a:lnTo>
                    <a:pt x="228600" y="127000"/>
                  </a:lnTo>
                  <a:lnTo>
                    <a:pt x="300855" y="123762"/>
                  </a:lnTo>
                  <a:lnTo>
                    <a:pt x="363608" y="114748"/>
                  </a:lnTo>
                  <a:lnTo>
                    <a:pt x="413093" y="101002"/>
                  </a:lnTo>
                  <a:lnTo>
                    <a:pt x="445545" y="83570"/>
                  </a:lnTo>
                  <a:lnTo>
                    <a:pt x="457200" y="63500"/>
                  </a:lnTo>
                </a:path>
              </a:pathLst>
            </a:custGeom>
            <a:ln w="1524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71100" y="1257299"/>
              <a:ext cx="457200" cy="127000"/>
            </a:xfrm>
            <a:custGeom>
              <a:avLst/>
              <a:gdLst/>
              <a:ahLst/>
              <a:cxnLst/>
              <a:rect l="l" t="t" r="r" b="b"/>
              <a:pathLst>
                <a:path w="457200" h="127000">
                  <a:moveTo>
                    <a:pt x="228600" y="0"/>
                  </a:moveTo>
                  <a:lnTo>
                    <a:pt x="156344" y="3237"/>
                  </a:lnTo>
                  <a:lnTo>
                    <a:pt x="93591" y="12251"/>
                  </a:lnTo>
                  <a:lnTo>
                    <a:pt x="44106" y="25997"/>
                  </a:lnTo>
                  <a:lnTo>
                    <a:pt x="0" y="63500"/>
                  </a:lnTo>
                  <a:lnTo>
                    <a:pt x="11654" y="83570"/>
                  </a:lnTo>
                  <a:lnTo>
                    <a:pt x="44106" y="101002"/>
                  </a:lnTo>
                  <a:lnTo>
                    <a:pt x="93591" y="114748"/>
                  </a:lnTo>
                  <a:lnTo>
                    <a:pt x="156344" y="123762"/>
                  </a:lnTo>
                  <a:lnTo>
                    <a:pt x="228600" y="127000"/>
                  </a:lnTo>
                  <a:lnTo>
                    <a:pt x="300855" y="123762"/>
                  </a:lnTo>
                  <a:lnTo>
                    <a:pt x="363608" y="114748"/>
                  </a:lnTo>
                  <a:lnTo>
                    <a:pt x="413093" y="101002"/>
                  </a:lnTo>
                  <a:lnTo>
                    <a:pt x="445545" y="83570"/>
                  </a:lnTo>
                  <a:lnTo>
                    <a:pt x="457200" y="63500"/>
                  </a:lnTo>
                  <a:lnTo>
                    <a:pt x="445545" y="43429"/>
                  </a:lnTo>
                  <a:lnTo>
                    <a:pt x="413093" y="25997"/>
                  </a:lnTo>
                  <a:lnTo>
                    <a:pt x="363608" y="12251"/>
                  </a:lnTo>
                  <a:lnTo>
                    <a:pt x="300855" y="323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71100" y="1257299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457200" y="63500"/>
                  </a:moveTo>
                  <a:lnTo>
                    <a:pt x="413093" y="25997"/>
                  </a:lnTo>
                  <a:lnTo>
                    <a:pt x="363608" y="12251"/>
                  </a:lnTo>
                  <a:lnTo>
                    <a:pt x="300855" y="3237"/>
                  </a:lnTo>
                  <a:lnTo>
                    <a:pt x="228600" y="0"/>
                  </a:lnTo>
                  <a:lnTo>
                    <a:pt x="156344" y="3237"/>
                  </a:lnTo>
                  <a:lnTo>
                    <a:pt x="93591" y="12251"/>
                  </a:lnTo>
                  <a:lnTo>
                    <a:pt x="44106" y="25997"/>
                  </a:lnTo>
                  <a:lnTo>
                    <a:pt x="11654" y="43429"/>
                  </a:lnTo>
                  <a:lnTo>
                    <a:pt x="0" y="63500"/>
                  </a:lnTo>
                  <a:lnTo>
                    <a:pt x="11654" y="83570"/>
                  </a:lnTo>
                  <a:lnTo>
                    <a:pt x="44106" y="101002"/>
                  </a:lnTo>
                  <a:lnTo>
                    <a:pt x="93591" y="114748"/>
                  </a:lnTo>
                  <a:lnTo>
                    <a:pt x="156344" y="123762"/>
                  </a:lnTo>
                  <a:lnTo>
                    <a:pt x="228600" y="127000"/>
                  </a:lnTo>
                  <a:lnTo>
                    <a:pt x="300855" y="123762"/>
                  </a:lnTo>
                  <a:lnTo>
                    <a:pt x="363608" y="114748"/>
                  </a:lnTo>
                  <a:lnTo>
                    <a:pt x="413093" y="101002"/>
                  </a:lnTo>
                  <a:lnTo>
                    <a:pt x="445545" y="83570"/>
                  </a:lnTo>
                  <a:lnTo>
                    <a:pt x="457200" y="63500"/>
                  </a:lnTo>
                </a:path>
                <a:path w="457200" h="292100">
                  <a:moveTo>
                    <a:pt x="0" y="292100"/>
                  </a:moveTo>
                  <a:lnTo>
                    <a:pt x="0" y="63500"/>
                  </a:lnTo>
                </a:path>
                <a:path w="457200" h="292100">
                  <a:moveTo>
                    <a:pt x="457200" y="292100"/>
                  </a:moveTo>
                  <a:lnTo>
                    <a:pt x="457200" y="63500"/>
                  </a:lnTo>
                </a:path>
              </a:pathLst>
            </a:custGeom>
            <a:ln w="1524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155300" y="927099"/>
            <a:ext cx="6502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User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Stories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55300" y="1333499"/>
            <a:ext cx="6146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Data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Stores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50320" y="3006569"/>
            <a:ext cx="1991360" cy="784860"/>
            <a:chOff x="4350320" y="3006569"/>
            <a:chExt cx="1991360" cy="784860"/>
          </a:xfrm>
        </p:grpSpPr>
        <p:sp>
          <p:nvSpPr>
            <p:cNvPr id="14" name="object 14"/>
            <p:cNvSpPr/>
            <p:nvPr/>
          </p:nvSpPr>
          <p:spPr>
            <a:xfrm>
              <a:off x="4361750" y="3017999"/>
              <a:ext cx="1968500" cy="762000"/>
            </a:xfrm>
            <a:custGeom>
              <a:avLst/>
              <a:gdLst/>
              <a:ahLst/>
              <a:cxnLst/>
              <a:rect l="l" t="t" r="r" b="b"/>
              <a:pathLst>
                <a:path w="1968500" h="762000">
                  <a:moveTo>
                    <a:pt x="1816100" y="0"/>
                  </a:moveTo>
                  <a:lnTo>
                    <a:pt x="152400" y="0"/>
                  </a:lnTo>
                  <a:lnTo>
                    <a:pt x="104199" y="7761"/>
                  </a:lnTo>
                  <a:lnTo>
                    <a:pt x="62360" y="29381"/>
                  </a:lnTo>
                  <a:lnTo>
                    <a:pt x="29381" y="62360"/>
                  </a:lnTo>
                  <a:lnTo>
                    <a:pt x="7761" y="104199"/>
                  </a:lnTo>
                  <a:lnTo>
                    <a:pt x="0" y="152400"/>
                  </a:lnTo>
                  <a:lnTo>
                    <a:pt x="0" y="609600"/>
                  </a:lnTo>
                  <a:lnTo>
                    <a:pt x="7761" y="657800"/>
                  </a:lnTo>
                  <a:lnTo>
                    <a:pt x="29381" y="699639"/>
                  </a:lnTo>
                  <a:lnTo>
                    <a:pt x="62360" y="732618"/>
                  </a:lnTo>
                  <a:lnTo>
                    <a:pt x="104199" y="754238"/>
                  </a:lnTo>
                  <a:lnTo>
                    <a:pt x="152400" y="762000"/>
                  </a:lnTo>
                  <a:lnTo>
                    <a:pt x="1816100" y="762000"/>
                  </a:lnTo>
                  <a:lnTo>
                    <a:pt x="1864300" y="754238"/>
                  </a:lnTo>
                  <a:lnTo>
                    <a:pt x="1906139" y="732618"/>
                  </a:lnTo>
                  <a:lnTo>
                    <a:pt x="1939118" y="699639"/>
                  </a:lnTo>
                  <a:lnTo>
                    <a:pt x="1960738" y="657800"/>
                  </a:lnTo>
                  <a:lnTo>
                    <a:pt x="1968500" y="609600"/>
                  </a:lnTo>
                  <a:lnTo>
                    <a:pt x="1968500" y="152400"/>
                  </a:lnTo>
                  <a:lnTo>
                    <a:pt x="1960738" y="104199"/>
                  </a:lnTo>
                  <a:lnTo>
                    <a:pt x="1939118" y="62360"/>
                  </a:lnTo>
                  <a:lnTo>
                    <a:pt x="1906139" y="29381"/>
                  </a:lnTo>
                  <a:lnTo>
                    <a:pt x="1864300" y="7761"/>
                  </a:lnTo>
                  <a:lnTo>
                    <a:pt x="1816100" y="0"/>
                  </a:lnTo>
                  <a:close/>
                </a:path>
              </a:pathLst>
            </a:custGeom>
            <a:solidFill>
              <a:srgbClr val="D4ED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61750" y="3017999"/>
              <a:ext cx="1968500" cy="762000"/>
            </a:xfrm>
            <a:custGeom>
              <a:avLst/>
              <a:gdLst/>
              <a:ahLst/>
              <a:cxnLst/>
              <a:rect l="l" t="t" r="r" b="b"/>
              <a:pathLst>
                <a:path w="1968500" h="762000">
                  <a:moveTo>
                    <a:pt x="152400" y="762000"/>
                  </a:moveTo>
                  <a:lnTo>
                    <a:pt x="1816100" y="762000"/>
                  </a:lnTo>
                  <a:lnTo>
                    <a:pt x="1864300" y="754238"/>
                  </a:lnTo>
                  <a:lnTo>
                    <a:pt x="1906139" y="732618"/>
                  </a:lnTo>
                  <a:lnTo>
                    <a:pt x="1939118" y="699639"/>
                  </a:lnTo>
                  <a:lnTo>
                    <a:pt x="1960738" y="657800"/>
                  </a:lnTo>
                  <a:lnTo>
                    <a:pt x="1968500" y="609600"/>
                  </a:lnTo>
                  <a:lnTo>
                    <a:pt x="1968500" y="152400"/>
                  </a:lnTo>
                  <a:lnTo>
                    <a:pt x="1960738" y="104199"/>
                  </a:lnTo>
                  <a:lnTo>
                    <a:pt x="1939118" y="62360"/>
                  </a:lnTo>
                  <a:lnTo>
                    <a:pt x="1906139" y="29381"/>
                  </a:lnTo>
                  <a:lnTo>
                    <a:pt x="1864300" y="7761"/>
                  </a:lnTo>
                  <a:lnTo>
                    <a:pt x="1816100" y="0"/>
                  </a:lnTo>
                  <a:lnTo>
                    <a:pt x="152400" y="0"/>
                  </a:lnTo>
                  <a:lnTo>
                    <a:pt x="104199" y="7761"/>
                  </a:lnTo>
                  <a:lnTo>
                    <a:pt x="62360" y="29381"/>
                  </a:lnTo>
                  <a:lnTo>
                    <a:pt x="29381" y="62360"/>
                  </a:lnTo>
                  <a:lnTo>
                    <a:pt x="7761" y="104199"/>
                  </a:lnTo>
                  <a:lnTo>
                    <a:pt x="0" y="152400"/>
                  </a:lnTo>
                  <a:lnTo>
                    <a:pt x="0" y="609600"/>
                  </a:lnTo>
                  <a:lnTo>
                    <a:pt x="7761" y="657800"/>
                  </a:lnTo>
                  <a:lnTo>
                    <a:pt x="29381" y="699639"/>
                  </a:lnTo>
                  <a:lnTo>
                    <a:pt x="62360" y="732618"/>
                  </a:lnTo>
                  <a:lnTo>
                    <a:pt x="104199" y="754238"/>
                  </a:lnTo>
                  <a:lnTo>
                    <a:pt x="152400" y="762000"/>
                  </a:lnTo>
                  <a:close/>
                </a:path>
              </a:pathLst>
            </a:custGeom>
            <a:ln w="22860">
              <a:solidFill>
                <a:srgbClr val="598C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814263" y="3208499"/>
            <a:ext cx="1063625" cy="3022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58419" marR="5080" indent="-46355">
              <a:lnSpc>
                <a:spcPct val="101899"/>
              </a:lnSpc>
              <a:spcBef>
                <a:spcPts val="80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03.01</a:t>
            </a:r>
            <a:r>
              <a:rPr sz="9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Manage</a:t>
            </a:r>
            <a:r>
              <a:rPr sz="9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Product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Catalog</a:t>
            </a:r>
            <a:r>
              <a:rPr sz="9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9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Inventory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6000" y="29544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730250" marR="722630" algn="ctr">
              <a:lnSpc>
                <a:spcPct val="101899"/>
              </a:lnSpc>
              <a:spcBef>
                <a:spcPts val="5"/>
              </a:spcBef>
            </a:pP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Subscribed Supplier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07500" y="20019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516890" marR="509905" indent="92075">
              <a:lnSpc>
                <a:spcPct val="101899"/>
              </a:lnSpc>
              <a:spcBef>
                <a:spcPts val="5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03.02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Configure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Pricing</a:t>
            </a:r>
            <a:r>
              <a:rPr sz="9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 Discounts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07500" y="37164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614045" marR="430530" indent="-176530">
              <a:lnSpc>
                <a:spcPct val="101899"/>
              </a:lnSpc>
              <a:spcBef>
                <a:spcPts val="5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03.03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Browse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 Search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Product</a:t>
            </a:r>
            <a:r>
              <a:rPr sz="900" spc="-3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Catalog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16000" y="46689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607695" marR="446405" indent="-154305">
              <a:lnSpc>
                <a:spcPct val="101899"/>
              </a:lnSpc>
              <a:spcBef>
                <a:spcPts val="5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02.01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Create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900" spc="-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Submit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Purchase</a:t>
            </a:r>
            <a:r>
              <a:rPr sz="900" spc="-3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Orders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245360" y="3287924"/>
            <a:ext cx="2855595" cy="1390015"/>
            <a:chOff x="2245360" y="3287924"/>
            <a:chExt cx="2855595" cy="1390015"/>
          </a:xfrm>
        </p:grpSpPr>
        <p:sp>
          <p:nvSpPr>
            <p:cNvPr id="29" name="object 29"/>
            <p:cNvSpPr/>
            <p:nvPr/>
          </p:nvSpPr>
          <p:spPr>
            <a:xfrm>
              <a:off x="2984500" y="3335499"/>
              <a:ext cx="1377315" cy="0"/>
            </a:xfrm>
            <a:custGeom>
              <a:avLst/>
              <a:gdLst/>
              <a:ahLst/>
              <a:cxnLst/>
              <a:rect l="l" t="t" r="r" b="b"/>
              <a:pathLst>
                <a:path w="1377314">
                  <a:moveTo>
                    <a:pt x="0" y="0"/>
                  </a:moveTo>
                  <a:lnTo>
                    <a:pt x="137725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43997" y="3287924"/>
              <a:ext cx="118110" cy="95250"/>
            </a:xfrm>
            <a:custGeom>
              <a:avLst/>
              <a:gdLst/>
              <a:ahLst/>
              <a:cxnLst/>
              <a:rect l="l" t="t" r="r" b="b"/>
              <a:pathLst>
                <a:path w="118110" h="95250">
                  <a:moveTo>
                    <a:pt x="0" y="0"/>
                  </a:moveTo>
                  <a:lnTo>
                    <a:pt x="0" y="95150"/>
                  </a:lnTo>
                  <a:lnTo>
                    <a:pt x="117753" y="47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254250" y="3779999"/>
              <a:ext cx="2837815" cy="889000"/>
            </a:xfrm>
            <a:custGeom>
              <a:avLst/>
              <a:gdLst/>
              <a:ahLst/>
              <a:cxnLst/>
              <a:rect l="l" t="t" r="r" b="b"/>
              <a:pathLst>
                <a:path w="2837815" h="889000">
                  <a:moveTo>
                    <a:pt x="0" y="889000"/>
                  </a:moveTo>
                  <a:lnTo>
                    <a:pt x="283775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65410" y="3769802"/>
              <a:ext cx="127000" cy="90805"/>
            </a:xfrm>
            <a:custGeom>
              <a:avLst/>
              <a:gdLst/>
              <a:ahLst/>
              <a:cxnLst/>
              <a:rect l="l" t="t" r="r" b="b"/>
              <a:pathLst>
                <a:path w="127000" h="90804">
                  <a:moveTo>
                    <a:pt x="0" y="0"/>
                  </a:moveTo>
                  <a:lnTo>
                    <a:pt x="28444" y="90798"/>
                  </a:lnTo>
                  <a:lnTo>
                    <a:pt x="126589" y="101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097314" y="3009028"/>
            <a:ext cx="1450975" cy="3026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Product</a:t>
            </a:r>
            <a:r>
              <a:rPr sz="9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lang="en-US" sz="90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&amp;</a:t>
            </a:r>
            <a:r>
              <a:rPr sz="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endParaRPr lang="en-US" sz="900" spc="-15" dirty="0">
              <a:solidFill>
                <a:srgbClr val="333333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Stock</a:t>
            </a:r>
            <a:r>
              <a:rPr sz="9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Levels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15315" y="3970499"/>
            <a:ext cx="13430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Stock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Reservation</a:t>
            </a:r>
            <a:r>
              <a:rPr lang="en-US" sz="900" spc="-10" dirty="0">
                <a:solidFill>
                  <a:srgbClr val="333333"/>
                </a:solidFill>
                <a:latin typeface="MS Gothic"/>
                <a:cs typeface="Times New Roman"/>
              </a:rPr>
              <a:t> &amp;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Request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21360" y="2374109"/>
            <a:ext cx="1395095" cy="779780"/>
            <a:chOff x="6321360" y="2374109"/>
            <a:chExt cx="1395095" cy="779780"/>
          </a:xfrm>
        </p:grpSpPr>
        <p:sp>
          <p:nvSpPr>
            <p:cNvPr id="36" name="object 36"/>
            <p:cNvSpPr/>
            <p:nvPr/>
          </p:nvSpPr>
          <p:spPr>
            <a:xfrm>
              <a:off x="6330250" y="2382999"/>
              <a:ext cx="1377315" cy="762000"/>
            </a:xfrm>
            <a:custGeom>
              <a:avLst/>
              <a:gdLst/>
              <a:ahLst/>
              <a:cxnLst/>
              <a:rect l="l" t="t" r="r" b="b"/>
              <a:pathLst>
                <a:path w="1377315" h="762000">
                  <a:moveTo>
                    <a:pt x="0" y="762000"/>
                  </a:moveTo>
                  <a:lnTo>
                    <a:pt x="137725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81433" y="2382999"/>
              <a:ext cx="126364" cy="99060"/>
            </a:xfrm>
            <a:custGeom>
              <a:avLst/>
              <a:gdLst/>
              <a:ahLst/>
              <a:cxnLst/>
              <a:rect l="l" t="t" r="r" b="b"/>
              <a:pathLst>
                <a:path w="126365" h="99060">
                  <a:moveTo>
                    <a:pt x="126066" y="0"/>
                  </a:moveTo>
                  <a:lnTo>
                    <a:pt x="0" y="15378"/>
                  </a:lnTo>
                  <a:lnTo>
                    <a:pt x="46064" y="98634"/>
                  </a:lnTo>
                  <a:lnTo>
                    <a:pt x="126066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088250" y="2464793"/>
            <a:ext cx="12700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Catalog</a:t>
            </a:r>
            <a:r>
              <a:rPr sz="9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Items</a:t>
            </a:r>
            <a:r>
              <a:rPr lang="en-US" sz="90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Times New Roman"/>
                <a:cs typeface="Times New Roman"/>
              </a:rPr>
              <a:t>f</a:t>
            </a: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or</a:t>
            </a:r>
            <a:r>
              <a:rPr sz="9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Pricing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321360" y="3517109"/>
            <a:ext cx="1395095" cy="589280"/>
            <a:chOff x="6321360" y="3517109"/>
            <a:chExt cx="1395095" cy="589280"/>
          </a:xfrm>
        </p:grpSpPr>
        <p:sp>
          <p:nvSpPr>
            <p:cNvPr id="40" name="object 40"/>
            <p:cNvSpPr/>
            <p:nvPr/>
          </p:nvSpPr>
          <p:spPr>
            <a:xfrm>
              <a:off x="6330250" y="3525999"/>
              <a:ext cx="1377315" cy="571500"/>
            </a:xfrm>
            <a:custGeom>
              <a:avLst/>
              <a:gdLst/>
              <a:ahLst/>
              <a:cxnLst/>
              <a:rect l="l" t="t" r="r" b="b"/>
              <a:pathLst>
                <a:path w="1377315" h="571500">
                  <a:moveTo>
                    <a:pt x="0" y="0"/>
                  </a:moveTo>
                  <a:lnTo>
                    <a:pt x="1377250" y="57150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80505" y="4008427"/>
              <a:ext cx="127000" cy="89535"/>
            </a:xfrm>
            <a:custGeom>
              <a:avLst/>
              <a:gdLst/>
              <a:ahLst/>
              <a:cxnLst/>
              <a:rect l="l" t="t" r="r" b="b"/>
              <a:pathLst>
                <a:path w="127000" h="89535">
                  <a:moveTo>
                    <a:pt x="36468" y="0"/>
                  </a:moveTo>
                  <a:lnTo>
                    <a:pt x="0" y="87884"/>
                  </a:lnTo>
                  <a:lnTo>
                    <a:pt x="126994" y="89072"/>
                  </a:lnTo>
                  <a:lnTo>
                    <a:pt x="36468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723250" y="3559634"/>
            <a:ext cx="98425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Available</a:t>
            </a:r>
            <a:r>
              <a:rPr lang="en-US" sz="900" spc="-1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Products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42750" y="4288537"/>
            <a:ext cx="3567323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Catalog</a:t>
            </a:r>
            <a:r>
              <a:rPr sz="9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Record(Persisted)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324404" y="3335463"/>
            <a:ext cx="324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97EA5"/>
                </a:solidFill>
                <a:latin typeface="Times New Roman"/>
                <a:cs typeface="Times New Roman"/>
              </a:rPr>
              <a:t>DF-</a:t>
            </a:r>
            <a:r>
              <a:rPr sz="900" b="1" spc="-25" dirty="0">
                <a:solidFill>
                  <a:srgbClr val="497EA5"/>
                </a:solidFill>
                <a:latin typeface="Times New Roman"/>
                <a:cs typeface="Times New Roman"/>
              </a:rPr>
              <a:t>In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315968" y="4526280"/>
            <a:ext cx="20574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9144" rIns="18288" bIns="9144" rtlCol="0" anchor="ctr"/>
          <a:lstStyle/>
          <a:p>
            <a:pPr algn="ctr"/>
            <a:r>
              <a:rPr sz="1100" b="1" u="sng">
                <a:solidFill>
                  <a:srgbClr val="C00000"/>
                </a:solidFill>
                <a:latin typeface="Times New Roman"/>
              </a:rPr>
              <a:t>Product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15968" y="4709160"/>
            <a:ext cx="20574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 u="sng">
                <a:solidFill>
                  <a:srgbClr val="000000"/>
                </a:solidFill>
                <a:latin typeface="Times New Roman"/>
              </a:rPr>
              <a:t>id (PK)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15968" y="4892040"/>
            <a:ext cx="20574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name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15968" y="5074920"/>
            <a:ext cx="20574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category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15968" y="5257800"/>
            <a:ext cx="20574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 u="sng">
                <a:solidFill>
                  <a:srgbClr val="000000"/>
                </a:solidFill>
                <a:latin typeface="Times New Roman"/>
              </a:rPr>
              <a:t>supplierId (FK → User.id)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15968" y="5440680"/>
            <a:ext cx="20574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price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15968" y="5623560"/>
            <a:ext cx="20574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minOrderQuantity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15968" y="5806440"/>
            <a:ext cx="20574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inventory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15968" y="5989320"/>
            <a:ext cx="20574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sku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349240" y="3794760"/>
            <a:ext cx="0" cy="713232"/>
          </a:xfrm>
          <a:prstGeom prst="line">
            <a:avLst/>
          </a:prstGeom>
          <a:ln w="19050">
            <a:solidFill>
              <a:srgbClr val="4475B4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30068" y="482600"/>
            <a:ext cx="5029200" cy="523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155"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Level</a:t>
            </a:r>
            <a:r>
              <a:rPr sz="16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1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Logical DFD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-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BulkCart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1A1A2D"/>
                </a:solidFill>
                <a:latin typeface="Times New Roman"/>
                <a:cs typeface="Times New Roman"/>
              </a:rPr>
              <a:t>System</a:t>
            </a:r>
            <a:endParaRPr sz="16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80"/>
              </a:spcBef>
            </a:pP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05.02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Process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Payments</a:t>
            </a:r>
            <a:r>
              <a:rPr sz="16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–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DF-</a:t>
            </a:r>
            <a:r>
              <a:rPr sz="1600" spc="-25" dirty="0">
                <a:solidFill>
                  <a:srgbClr val="1A1A2D"/>
                </a:solidFill>
                <a:latin typeface="Times New Roman"/>
                <a:cs typeface="Times New Roman"/>
              </a:rPr>
              <a:t>Out</a:t>
            </a:r>
            <a:endParaRPr sz="16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525380" y="830579"/>
            <a:ext cx="548640" cy="345440"/>
            <a:chOff x="8525380" y="830579"/>
            <a:chExt cx="548640" cy="345440"/>
          </a:xfrm>
        </p:grpSpPr>
        <p:sp>
          <p:nvSpPr>
            <p:cNvPr id="4" name="object 4"/>
            <p:cNvSpPr/>
            <p:nvPr/>
          </p:nvSpPr>
          <p:spPr>
            <a:xfrm>
              <a:off x="8533000" y="838199"/>
              <a:ext cx="533400" cy="330200"/>
            </a:xfrm>
            <a:custGeom>
              <a:avLst/>
              <a:gdLst/>
              <a:ahLst/>
              <a:cxnLst/>
              <a:rect l="l" t="t" r="r" b="b"/>
              <a:pathLst>
                <a:path w="533400" h="330200">
                  <a:moveTo>
                    <a:pt x="533400" y="0"/>
                  </a:moveTo>
                  <a:lnTo>
                    <a:pt x="0" y="0"/>
                  </a:lnTo>
                  <a:lnTo>
                    <a:pt x="0" y="330199"/>
                  </a:lnTo>
                  <a:lnTo>
                    <a:pt x="533400" y="330199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C4D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33000" y="838199"/>
              <a:ext cx="533400" cy="330200"/>
            </a:xfrm>
            <a:custGeom>
              <a:avLst/>
              <a:gdLst/>
              <a:ahLst/>
              <a:cxnLst/>
              <a:rect l="l" t="t" r="r" b="b"/>
              <a:pathLst>
                <a:path w="533400" h="330200">
                  <a:moveTo>
                    <a:pt x="0" y="330199"/>
                  </a:moveTo>
                  <a:lnTo>
                    <a:pt x="533400" y="330199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30199"/>
                  </a:lnTo>
                  <a:close/>
                </a:path>
              </a:pathLst>
            </a:custGeom>
            <a:ln w="15239">
              <a:solidFill>
                <a:srgbClr val="7EA5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563480" y="1249679"/>
            <a:ext cx="472440" cy="370840"/>
            <a:chOff x="8563480" y="1249679"/>
            <a:chExt cx="472440" cy="370840"/>
          </a:xfrm>
        </p:grpSpPr>
        <p:sp>
          <p:nvSpPr>
            <p:cNvPr id="7" name="object 7"/>
            <p:cNvSpPr/>
            <p:nvPr/>
          </p:nvSpPr>
          <p:spPr>
            <a:xfrm>
              <a:off x="8571090" y="1320806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4572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44107" y="266103"/>
                  </a:lnTo>
                  <a:lnTo>
                    <a:pt x="93599" y="279844"/>
                  </a:lnTo>
                  <a:lnTo>
                    <a:pt x="156349" y="288861"/>
                  </a:lnTo>
                  <a:lnTo>
                    <a:pt x="228600" y="292100"/>
                  </a:lnTo>
                  <a:lnTo>
                    <a:pt x="300863" y="288861"/>
                  </a:lnTo>
                  <a:lnTo>
                    <a:pt x="363613" y="279844"/>
                  </a:lnTo>
                  <a:lnTo>
                    <a:pt x="413092" y="266103"/>
                  </a:lnTo>
                  <a:lnTo>
                    <a:pt x="445554" y="248666"/>
                  </a:lnTo>
                  <a:lnTo>
                    <a:pt x="457200" y="2286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71100" y="1485899"/>
              <a:ext cx="457200" cy="127000"/>
            </a:xfrm>
            <a:custGeom>
              <a:avLst/>
              <a:gdLst/>
              <a:ahLst/>
              <a:cxnLst/>
              <a:rect l="l" t="t" r="r" b="b"/>
              <a:pathLst>
                <a:path w="457200" h="127000">
                  <a:moveTo>
                    <a:pt x="457200" y="63500"/>
                  </a:moveTo>
                  <a:lnTo>
                    <a:pt x="413093" y="25997"/>
                  </a:lnTo>
                  <a:lnTo>
                    <a:pt x="363608" y="12251"/>
                  </a:lnTo>
                  <a:lnTo>
                    <a:pt x="300855" y="3237"/>
                  </a:lnTo>
                  <a:lnTo>
                    <a:pt x="228600" y="0"/>
                  </a:lnTo>
                  <a:lnTo>
                    <a:pt x="156344" y="3237"/>
                  </a:lnTo>
                  <a:lnTo>
                    <a:pt x="93591" y="12251"/>
                  </a:lnTo>
                  <a:lnTo>
                    <a:pt x="44106" y="25997"/>
                  </a:lnTo>
                  <a:lnTo>
                    <a:pt x="11654" y="43429"/>
                  </a:lnTo>
                  <a:lnTo>
                    <a:pt x="0" y="63500"/>
                  </a:lnTo>
                  <a:lnTo>
                    <a:pt x="11654" y="83570"/>
                  </a:lnTo>
                  <a:lnTo>
                    <a:pt x="44106" y="101002"/>
                  </a:lnTo>
                  <a:lnTo>
                    <a:pt x="93591" y="114748"/>
                  </a:lnTo>
                  <a:lnTo>
                    <a:pt x="156344" y="123762"/>
                  </a:lnTo>
                  <a:lnTo>
                    <a:pt x="228600" y="127000"/>
                  </a:lnTo>
                  <a:lnTo>
                    <a:pt x="300855" y="123762"/>
                  </a:lnTo>
                  <a:lnTo>
                    <a:pt x="363608" y="114748"/>
                  </a:lnTo>
                  <a:lnTo>
                    <a:pt x="413093" y="101002"/>
                  </a:lnTo>
                  <a:lnTo>
                    <a:pt x="445545" y="83570"/>
                  </a:lnTo>
                  <a:lnTo>
                    <a:pt x="457200" y="63500"/>
                  </a:lnTo>
                </a:path>
              </a:pathLst>
            </a:custGeom>
            <a:ln w="1524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71100" y="1257299"/>
              <a:ext cx="457200" cy="127000"/>
            </a:xfrm>
            <a:custGeom>
              <a:avLst/>
              <a:gdLst/>
              <a:ahLst/>
              <a:cxnLst/>
              <a:rect l="l" t="t" r="r" b="b"/>
              <a:pathLst>
                <a:path w="457200" h="127000">
                  <a:moveTo>
                    <a:pt x="228600" y="0"/>
                  </a:moveTo>
                  <a:lnTo>
                    <a:pt x="156344" y="3237"/>
                  </a:lnTo>
                  <a:lnTo>
                    <a:pt x="93591" y="12251"/>
                  </a:lnTo>
                  <a:lnTo>
                    <a:pt x="44106" y="25997"/>
                  </a:lnTo>
                  <a:lnTo>
                    <a:pt x="0" y="63500"/>
                  </a:lnTo>
                  <a:lnTo>
                    <a:pt x="11654" y="83570"/>
                  </a:lnTo>
                  <a:lnTo>
                    <a:pt x="44106" y="101002"/>
                  </a:lnTo>
                  <a:lnTo>
                    <a:pt x="93591" y="114748"/>
                  </a:lnTo>
                  <a:lnTo>
                    <a:pt x="156344" y="123762"/>
                  </a:lnTo>
                  <a:lnTo>
                    <a:pt x="228600" y="127000"/>
                  </a:lnTo>
                  <a:lnTo>
                    <a:pt x="300855" y="123762"/>
                  </a:lnTo>
                  <a:lnTo>
                    <a:pt x="363608" y="114748"/>
                  </a:lnTo>
                  <a:lnTo>
                    <a:pt x="413093" y="101002"/>
                  </a:lnTo>
                  <a:lnTo>
                    <a:pt x="445545" y="83570"/>
                  </a:lnTo>
                  <a:lnTo>
                    <a:pt x="457200" y="63500"/>
                  </a:lnTo>
                  <a:lnTo>
                    <a:pt x="445545" y="43429"/>
                  </a:lnTo>
                  <a:lnTo>
                    <a:pt x="413093" y="25997"/>
                  </a:lnTo>
                  <a:lnTo>
                    <a:pt x="363608" y="12251"/>
                  </a:lnTo>
                  <a:lnTo>
                    <a:pt x="300855" y="323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71100" y="1257299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457200" y="63500"/>
                  </a:moveTo>
                  <a:lnTo>
                    <a:pt x="413093" y="25997"/>
                  </a:lnTo>
                  <a:lnTo>
                    <a:pt x="363608" y="12251"/>
                  </a:lnTo>
                  <a:lnTo>
                    <a:pt x="300855" y="3237"/>
                  </a:lnTo>
                  <a:lnTo>
                    <a:pt x="228600" y="0"/>
                  </a:lnTo>
                  <a:lnTo>
                    <a:pt x="156344" y="3237"/>
                  </a:lnTo>
                  <a:lnTo>
                    <a:pt x="93591" y="12251"/>
                  </a:lnTo>
                  <a:lnTo>
                    <a:pt x="44106" y="25997"/>
                  </a:lnTo>
                  <a:lnTo>
                    <a:pt x="11654" y="43429"/>
                  </a:lnTo>
                  <a:lnTo>
                    <a:pt x="0" y="63500"/>
                  </a:lnTo>
                  <a:lnTo>
                    <a:pt x="11654" y="83570"/>
                  </a:lnTo>
                  <a:lnTo>
                    <a:pt x="44106" y="101002"/>
                  </a:lnTo>
                  <a:lnTo>
                    <a:pt x="93591" y="114748"/>
                  </a:lnTo>
                  <a:lnTo>
                    <a:pt x="156344" y="123762"/>
                  </a:lnTo>
                  <a:lnTo>
                    <a:pt x="228600" y="127000"/>
                  </a:lnTo>
                  <a:lnTo>
                    <a:pt x="300855" y="123762"/>
                  </a:lnTo>
                  <a:lnTo>
                    <a:pt x="363608" y="114748"/>
                  </a:lnTo>
                  <a:lnTo>
                    <a:pt x="413093" y="101002"/>
                  </a:lnTo>
                  <a:lnTo>
                    <a:pt x="445545" y="83570"/>
                  </a:lnTo>
                  <a:lnTo>
                    <a:pt x="457200" y="63500"/>
                  </a:lnTo>
                </a:path>
                <a:path w="457200" h="292100">
                  <a:moveTo>
                    <a:pt x="0" y="292100"/>
                  </a:moveTo>
                  <a:lnTo>
                    <a:pt x="0" y="63500"/>
                  </a:lnTo>
                </a:path>
                <a:path w="457200" h="292100">
                  <a:moveTo>
                    <a:pt x="457200" y="292100"/>
                  </a:moveTo>
                  <a:lnTo>
                    <a:pt x="457200" y="63500"/>
                  </a:lnTo>
                </a:path>
              </a:pathLst>
            </a:custGeom>
            <a:ln w="1524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155300" y="927099"/>
            <a:ext cx="6502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User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Stories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55300" y="1333499"/>
            <a:ext cx="6146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Data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Stores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50320" y="2752569"/>
            <a:ext cx="1991360" cy="784860"/>
            <a:chOff x="4350320" y="2752569"/>
            <a:chExt cx="1991360" cy="784860"/>
          </a:xfrm>
        </p:grpSpPr>
        <p:sp>
          <p:nvSpPr>
            <p:cNvPr id="14" name="object 14"/>
            <p:cNvSpPr/>
            <p:nvPr/>
          </p:nvSpPr>
          <p:spPr>
            <a:xfrm>
              <a:off x="4361750" y="2763999"/>
              <a:ext cx="1968500" cy="762000"/>
            </a:xfrm>
            <a:custGeom>
              <a:avLst/>
              <a:gdLst/>
              <a:ahLst/>
              <a:cxnLst/>
              <a:rect l="l" t="t" r="r" b="b"/>
              <a:pathLst>
                <a:path w="1968500" h="762000">
                  <a:moveTo>
                    <a:pt x="1816100" y="0"/>
                  </a:moveTo>
                  <a:lnTo>
                    <a:pt x="152400" y="0"/>
                  </a:lnTo>
                  <a:lnTo>
                    <a:pt x="104199" y="7761"/>
                  </a:lnTo>
                  <a:lnTo>
                    <a:pt x="62360" y="29381"/>
                  </a:lnTo>
                  <a:lnTo>
                    <a:pt x="29381" y="62360"/>
                  </a:lnTo>
                  <a:lnTo>
                    <a:pt x="7761" y="104199"/>
                  </a:lnTo>
                  <a:lnTo>
                    <a:pt x="0" y="152400"/>
                  </a:lnTo>
                  <a:lnTo>
                    <a:pt x="0" y="609600"/>
                  </a:lnTo>
                  <a:lnTo>
                    <a:pt x="7761" y="657800"/>
                  </a:lnTo>
                  <a:lnTo>
                    <a:pt x="29381" y="699639"/>
                  </a:lnTo>
                  <a:lnTo>
                    <a:pt x="62360" y="732618"/>
                  </a:lnTo>
                  <a:lnTo>
                    <a:pt x="104199" y="754238"/>
                  </a:lnTo>
                  <a:lnTo>
                    <a:pt x="152400" y="762000"/>
                  </a:lnTo>
                  <a:lnTo>
                    <a:pt x="1816100" y="762000"/>
                  </a:lnTo>
                  <a:lnTo>
                    <a:pt x="1864300" y="754238"/>
                  </a:lnTo>
                  <a:lnTo>
                    <a:pt x="1906139" y="732618"/>
                  </a:lnTo>
                  <a:lnTo>
                    <a:pt x="1939118" y="699639"/>
                  </a:lnTo>
                  <a:lnTo>
                    <a:pt x="1960738" y="657800"/>
                  </a:lnTo>
                  <a:lnTo>
                    <a:pt x="1968500" y="609600"/>
                  </a:lnTo>
                  <a:lnTo>
                    <a:pt x="1968500" y="152400"/>
                  </a:lnTo>
                  <a:lnTo>
                    <a:pt x="1960738" y="104199"/>
                  </a:lnTo>
                  <a:lnTo>
                    <a:pt x="1939118" y="62360"/>
                  </a:lnTo>
                  <a:lnTo>
                    <a:pt x="1906139" y="29381"/>
                  </a:lnTo>
                  <a:lnTo>
                    <a:pt x="1864300" y="7761"/>
                  </a:lnTo>
                  <a:lnTo>
                    <a:pt x="1816100" y="0"/>
                  </a:lnTo>
                  <a:close/>
                </a:path>
              </a:pathLst>
            </a:custGeom>
            <a:solidFill>
              <a:srgbClr val="D4ED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61750" y="2763999"/>
              <a:ext cx="1968500" cy="762000"/>
            </a:xfrm>
            <a:custGeom>
              <a:avLst/>
              <a:gdLst/>
              <a:ahLst/>
              <a:cxnLst/>
              <a:rect l="l" t="t" r="r" b="b"/>
              <a:pathLst>
                <a:path w="1968500" h="762000">
                  <a:moveTo>
                    <a:pt x="152400" y="762000"/>
                  </a:moveTo>
                  <a:lnTo>
                    <a:pt x="1816100" y="762000"/>
                  </a:lnTo>
                  <a:lnTo>
                    <a:pt x="1864300" y="754238"/>
                  </a:lnTo>
                  <a:lnTo>
                    <a:pt x="1906139" y="732618"/>
                  </a:lnTo>
                  <a:lnTo>
                    <a:pt x="1939118" y="699639"/>
                  </a:lnTo>
                  <a:lnTo>
                    <a:pt x="1960738" y="657800"/>
                  </a:lnTo>
                  <a:lnTo>
                    <a:pt x="1968500" y="609600"/>
                  </a:lnTo>
                  <a:lnTo>
                    <a:pt x="1968500" y="152400"/>
                  </a:lnTo>
                  <a:lnTo>
                    <a:pt x="1960738" y="104199"/>
                  </a:lnTo>
                  <a:lnTo>
                    <a:pt x="1939118" y="62360"/>
                  </a:lnTo>
                  <a:lnTo>
                    <a:pt x="1906139" y="29381"/>
                  </a:lnTo>
                  <a:lnTo>
                    <a:pt x="1864300" y="7761"/>
                  </a:lnTo>
                  <a:lnTo>
                    <a:pt x="1816100" y="0"/>
                  </a:lnTo>
                  <a:lnTo>
                    <a:pt x="152400" y="0"/>
                  </a:lnTo>
                  <a:lnTo>
                    <a:pt x="104199" y="7761"/>
                  </a:lnTo>
                  <a:lnTo>
                    <a:pt x="62360" y="29381"/>
                  </a:lnTo>
                  <a:lnTo>
                    <a:pt x="29381" y="62360"/>
                  </a:lnTo>
                  <a:lnTo>
                    <a:pt x="7761" y="104199"/>
                  </a:lnTo>
                  <a:lnTo>
                    <a:pt x="0" y="152400"/>
                  </a:lnTo>
                  <a:lnTo>
                    <a:pt x="0" y="609600"/>
                  </a:lnTo>
                  <a:lnTo>
                    <a:pt x="7761" y="657800"/>
                  </a:lnTo>
                  <a:lnTo>
                    <a:pt x="29381" y="699639"/>
                  </a:lnTo>
                  <a:lnTo>
                    <a:pt x="62360" y="732618"/>
                  </a:lnTo>
                  <a:lnTo>
                    <a:pt x="104199" y="754238"/>
                  </a:lnTo>
                  <a:lnTo>
                    <a:pt x="152400" y="762000"/>
                  </a:lnTo>
                  <a:close/>
                </a:path>
              </a:pathLst>
            </a:custGeom>
            <a:ln w="22860">
              <a:solidFill>
                <a:srgbClr val="598C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015831" y="2954499"/>
            <a:ext cx="660400" cy="3022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07314" marR="5080" indent="-95250">
              <a:lnSpc>
                <a:spcPct val="101899"/>
              </a:lnSpc>
              <a:spcBef>
                <a:spcPts val="80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05.02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Process Payments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6000" y="27004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730250" marR="722630" algn="ctr">
              <a:lnSpc>
                <a:spcPct val="101899"/>
              </a:lnSpc>
              <a:spcBef>
                <a:spcPts val="5"/>
              </a:spcBef>
            </a:pP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Subscribed Retailer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07500" y="17479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677545" marR="669925" indent="-635" algn="ctr">
              <a:lnSpc>
                <a:spcPct val="101899"/>
              </a:lnSpc>
              <a:spcBef>
                <a:spcPts val="5"/>
              </a:spcBef>
            </a:pP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Payment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Gateway</a:t>
            </a:r>
            <a:r>
              <a:rPr sz="900" spc="-3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20" dirty="0">
                <a:solidFill>
                  <a:srgbClr val="1A1A2D"/>
                </a:solidFill>
                <a:latin typeface="Times New Roman"/>
                <a:cs typeface="Times New Roman"/>
              </a:rPr>
              <a:t>(SI)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07500" y="27639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575945" marR="568325" indent="58419">
              <a:lnSpc>
                <a:spcPct val="101899"/>
              </a:lnSpc>
              <a:spcBef>
                <a:spcPts val="5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05.03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Generate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Spending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Reports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07500" y="37799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460375" marR="452755" indent="104139">
              <a:lnSpc>
                <a:spcPct val="101899"/>
              </a:lnSpc>
              <a:spcBef>
                <a:spcPts val="5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01.07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Notification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Preferences</a:t>
            </a:r>
            <a:r>
              <a:rPr sz="9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9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Routing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67975" y="4634074"/>
            <a:ext cx="1543050" cy="1149350"/>
            <a:chOff x="3367975" y="4634074"/>
            <a:chExt cx="1543050" cy="1149350"/>
          </a:xfrm>
        </p:grpSpPr>
        <p:sp>
          <p:nvSpPr>
            <p:cNvPr id="22" name="object 22"/>
            <p:cNvSpPr/>
            <p:nvPr/>
          </p:nvSpPr>
          <p:spPr>
            <a:xfrm>
              <a:off x="3377500" y="4795999"/>
              <a:ext cx="1524000" cy="825500"/>
            </a:xfrm>
            <a:custGeom>
              <a:avLst/>
              <a:gdLst/>
              <a:ahLst/>
              <a:cxnLst/>
              <a:rect l="l" t="t" r="r" b="b"/>
              <a:pathLst>
                <a:path w="1524000" h="825500">
                  <a:moveTo>
                    <a:pt x="1524000" y="0"/>
                  </a:moveTo>
                  <a:lnTo>
                    <a:pt x="0" y="0"/>
                  </a:lnTo>
                  <a:lnTo>
                    <a:pt x="0" y="825499"/>
                  </a:lnTo>
                  <a:lnTo>
                    <a:pt x="1524000" y="825499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77500" y="5469099"/>
              <a:ext cx="1524000" cy="304800"/>
            </a:xfrm>
            <a:custGeom>
              <a:avLst/>
              <a:gdLst/>
              <a:ahLst/>
              <a:cxnLst/>
              <a:rect l="l" t="t" r="r" b="b"/>
              <a:pathLst>
                <a:path w="1524000" h="304800">
                  <a:moveTo>
                    <a:pt x="762000" y="0"/>
                  </a:moveTo>
                  <a:lnTo>
                    <a:pt x="688614" y="697"/>
                  </a:lnTo>
                  <a:lnTo>
                    <a:pt x="617202" y="2748"/>
                  </a:lnTo>
                  <a:lnTo>
                    <a:pt x="548083" y="6087"/>
                  </a:lnTo>
                  <a:lnTo>
                    <a:pt x="481576" y="10651"/>
                  </a:lnTo>
                  <a:lnTo>
                    <a:pt x="418001" y="16376"/>
                  </a:lnTo>
                  <a:lnTo>
                    <a:pt x="357676" y="23199"/>
                  </a:lnTo>
                  <a:lnTo>
                    <a:pt x="300922" y="31055"/>
                  </a:lnTo>
                  <a:lnTo>
                    <a:pt x="248058" y="39880"/>
                  </a:lnTo>
                  <a:lnTo>
                    <a:pt x="199402" y="49611"/>
                  </a:lnTo>
                  <a:lnTo>
                    <a:pt x="155275" y="60184"/>
                  </a:lnTo>
                  <a:lnTo>
                    <a:pt x="115996" y="71535"/>
                  </a:lnTo>
                  <a:lnTo>
                    <a:pt x="53256" y="96315"/>
                  </a:lnTo>
                  <a:lnTo>
                    <a:pt x="13739" y="123440"/>
                  </a:lnTo>
                  <a:lnTo>
                    <a:pt x="0" y="152399"/>
                  </a:lnTo>
                  <a:lnTo>
                    <a:pt x="3488" y="167077"/>
                  </a:lnTo>
                  <a:lnTo>
                    <a:pt x="30435" y="195183"/>
                  </a:lnTo>
                  <a:lnTo>
                    <a:pt x="81883" y="221199"/>
                  </a:lnTo>
                  <a:lnTo>
                    <a:pt x="155275" y="244615"/>
                  </a:lnTo>
                  <a:lnTo>
                    <a:pt x="199402" y="255188"/>
                  </a:lnTo>
                  <a:lnTo>
                    <a:pt x="248058" y="264919"/>
                  </a:lnTo>
                  <a:lnTo>
                    <a:pt x="300922" y="273744"/>
                  </a:lnTo>
                  <a:lnTo>
                    <a:pt x="357676" y="281600"/>
                  </a:lnTo>
                  <a:lnTo>
                    <a:pt x="418001" y="288423"/>
                  </a:lnTo>
                  <a:lnTo>
                    <a:pt x="481576" y="294148"/>
                  </a:lnTo>
                  <a:lnTo>
                    <a:pt x="548083" y="298712"/>
                  </a:lnTo>
                  <a:lnTo>
                    <a:pt x="617202" y="302051"/>
                  </a:lnTo>
                  <a:lnTo>
                    <a:pt x="688614" y="304102"/>
                  </a:lnTo>
                  <a:lnTo>
                    <a:pt x="762000" y="304799"/>
                  </a:lnTo>
                  <a:lnTo>
                    <a:pt x="835385" y="304102"/>
                  </a:lnTo>
                  <a:lnTo>
                    <a:pt x="906797" y="302051"/>
                  </a:lnTo>
                  <a:lnTo>
                    <a:pt x="975916" y="298712"/>
                  </a:lnTo>
                  <a:lnTo>
                    <a:pt x="1042423" y="294148"/>
                  </a:lnTo>
                  <a:lnTo>
                    <a:pt x="1105998" y="288423"/>
                  </a:lnTo>
                  <a:lnTo>
                    <a:pt x="1166323" y="281600"/>
                  </a:lnTo>
                  <a:lnTo>
                    <a:pt x="1223077" y="273744"/>
                  </a:lnTo>
                  <a:lnTo>
                    <a:pt x="1275941" y="264919"/>
                  </a:lnTo>
                  <a:lnTo>
                    <a:pt x="1324597" y="255188"/>
                  </a:lnTo>
                  <a:lnTo>
                    <a:pt x="1368724" y="244615"/>
                  </a:lnTo>
                  <a:lnTo>
                    <a:pt x="1408003" y="233264"/>
                  </a:lnTo>
                  <a:lnTo>
                    <a:pt x="1470743" y="208484"/>
                  </a:lnTo>
                  <a:lnTo>
                    <a:pt x="1510260" y="181359"/>
                  </a:lnTo>
                  <a:lnTo>
                    <a:pt x="1524000" y="152399"/>
                  </a:lnTo>
                  <a:lnTo>
                    <a:pt x="1520511" y="137722"/>
                  </a:lnTo>
                  <a:lnTo>
                    <a:pt x="1493564" y="109616"/>
                  </a:lnTo>
                  <a:lnTo>
                    <a:pt x="1442116" y="83600"/>
                  </a:lnTo>
                  <a:lnTo>
                    <a:pt x="1368724" y="60184"/>
                  </a:lnTo>
                  <a:lnTo>
                    <a:pt x="1324597" y="49611"/>
                  </a:lnTo>
                  <a:lnTo>
                    <a:pt x="1275941" y="39880"/>
                  </a:lnTo>
                  <a:lnTo>
                    <a:pt x="1223077" y="31055"/>
                  </a:lnTo>
                  <a:lnTo>
                    <a:pt x="1166323" y="23199"/>
                  </a:lnTo>
                  <a:lnTo>
                    <a:pt x="1105998" y="16376"/>
                  </a:lnTo>
                  <a:lnTo>
                    <a:pt x="1042423" y="10651"/>
                  </a:lnTo>
                  <a:lnTo>
                    <a:pt x="975916" y="6087"/>
                  </a:lnTo>
                  <a:lnTo>
                    <a:pt x="906797" y="2748"/>
                  </a:lnTo>
                  <a:lnTo>
                    <a:pt x="835385" y="697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C4D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77500" y="5469099"/>
              <a:ext cx="1524000" cy="304800"/>
            </a:xfrm>
            <a:custGeom>
              <a:avLst/>
              <a:gdLst/>
              <a:ahLst/>
              <a:cxnLst/>
              <a:rect l="l" t="t" r="r" b="b"/>
              <a:pathLst>
                <a:path w="1524000" h="304800">
                  <a:moveTo>
                    <a:pt x="1524000" y="152399"/>
                  </a:moveTo>
                  <a:lnTo>
                    <a:pt x="1493564" y="109616"/>
                  </a:lnTo>
                  <a:lnTo>
                    <a:pt x="1442116" y="83600"/>
                  </a:lnTo>
                  <a:lnTo>
                    <a:pt x="1368724" y="60184"/>
                  </a:lnTo>
                  <a:lnTo>
                    <a:pt x="1324597" y="49611"/>
                  </a:lnTo>
                  <a:lnTo>
                    <a:pt x="1275941" y="39880"/>
                  </a:lnTo>
                  <a:lnTo>
                    <a:pt x="1223077" y="31055"/>
                  </a:lnTo>
                  <a:lnTo>
                    <a:pt x="1166323" y="23199"/>
                  </a:lnTo>
                  <a:lnTo>
                    <a:pt x="1105998" y="16376"/>
                  </a:lnTo>
                  <a:lnTo>
                    <a:pt x="1042423" y="10651"/>
                  </a:lnTo>
                  <a:lnTo>
                    <a:pt x="975916" y="6087"/>
                  </a:lnTo>
                  <a:lnTo>
                    <a:pt x="906797" y="2748"/>
                  </a:lnTo>
                  <a:lnTo>
                    <a:pt x="835385" y="697"/>
                  </a:lnTo>
                  <a:lnTo>
                    <a:pt x="762000" y="0"/>
                  </a:lnTo>
                  <a:lnTo>
                    <a:pt x="688614" y="697"/>
                  </a:lnTo>
                  <a:lnTo>
                    <a:pt x="617202" y="2748"/>
                  </a:lnTo>
                  <a:lnTo>
                    <a:pt x="548083" y="6087"/>
                  </a:lnTo>
                  <a:lnTo>
                    <a:pt x="481576" y="10651"/>
                  </a:lnTo>
                  <a:lnTo>
                    <a:pt x="418001" y="16376"/>
                  </a:lnTo>
                  <a:lnTo>
                    <a:pt x="357676" y="23199"/>
                  </a:lnTo>
                  <a:lnTo>
                    <a:pt x="300922" y="31055"/>
                  </a:lnTo>
                  <a:lnTo>
                    <a:pt x="248058" y="39880"/>
                  </a:lnTo>
                  <a:lnTo>
                    <a:pt x="199402" y="49611"/>
                  </a:lnTo>
                  <a:lnTo>
                    <a:pt x="155275" y="60184"/>
                  </a:lnTo>
                  <a:lnTo>
                    <a:pt x="115996" y="71535"/>
                  </a:lnTo>
                  <a:lnTo>
                    <a:pt x="53256" y="96315"/>
                  </a:lnTo>
                  <a:lnTo>
                    <a:pt x="13739" y="123440"/>
                  </a:lnTo>
                  <a:lnTo>
                    <a:pt x="0" y="152399"/>
                  </a:lnTo>
                  <a:lnTo>
                    <a:pt x="3488" y="167077"/>
                  </a:lnTo>
                  <a:lnTo>
                    <a:pt x="30435" y="195183"/>
                  </a:lnTo>
                  <a:lnTo>
                    <a:pt x="81883" y="221199"/>
                  </a:lnTo>
                  <a:lnTo>
                    <a:pt x="155275" y="244615"/>
                  </a:lnTo>
                  <a:lnTo>
                    <a:pt x="199402" y="255188"/>
                  </a:lnTo>
                  <a:lnTo>
                    <a:pt x="248058" y="264919"/>
                  </a:lnTo>
                  <a:lnTo>
                    <a:pt x="300922" y="273744"/>
                  </a:lnTo>
                  <a:lnTo>
                    <a:pt x="357676" y="281600"/>
                  </a:lnTo>
                  <a:lnTo>
                    <a:pt x="418001" y="288423"/>
                  </a:lnTo>
                  <a:lnTo>
                    <a:pt x="481576" y="294148"/>
                  </a:lnTo>
                  <a:lnTo>
                    <a:pt x="548083" y="298712"/>
                  </a:lnTo>
                  <a:lnTo>
                    <a:pt x="617202" y="302051"/>
                  </a:lnTo>
                  <a:lnTo>
                    <a:pt x="688614" y="304102"/>
                  </a:lnTo>
                  <a:lnTo>
                    <a:pt x="762000" y="304799"/>
                  </a:lnTo>
                  <a:lnTo>
                    <a:pt x="835385" y="304102"/>
                  </a:lnTo>
                  <a:lnTo>
                    <a:pt x="906797" y="302051"/>
                  </a:lnTo>
                  <a:lnTo>
                    <a:pt x="975916" y="298712"/>
                  </a:lnTo>
                  <a:lnTo>
                    <a:pt x="1042423" y="294148"/>
                  </a:lnTo>
                  <a:lnTo>
                    <a:pt x="1105998" y="288423"/>
                  </a:lnTo>
                  <a:lnTo>
                    <a:pt x="1166323" y="281600"/>
                  </a:lnTo>
                  <a:lnTo>
                    <a:pt x="1223077" y="273744"/>
                  </a:lnTo>
                  <a:lnTo>
                    <a:pt x="1275941" y="264919"/>
                  </a:lnTo>
                  <a:lnTo>
                    <a:pt x="1324597" y="255188"/>
                  </a:lnTo>
                  <a:lnTo>
                    <a:pt x="1368724" y="244615"/>
                  </a:lnTo>
                  <a:lnTo>
                    <a:pt x="1408003" y="233264"/>
                  </a:lnTo>
                  <a:lnTo>
                    <a:pt x="1470743" y="208484"/>
                  </a:lnTo>
                  <a:lnTo>
                    <a:pt x="1510260" y="181359"/>
                  </a:lnTo>
                  <a:lnTo>
                    <a:pt x="1524000" y="152399"/>
                  </a:lnTo>
                </a:path>
              </a:pathLst>
            </a:custGeom>
            <a:ln w="1905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77500" y="4643599"/>
              <a:ext cx="1524000" cy="304800"/>
            </a:xfrm>
            <a:custGeom>
              <a:avLst/>
              <a:gdLst/>
              <a:ahLst/>
              <a:cxnLst/>
              <a:rect l="l" t="t" r="r" b="b"/>
              <a:pathLst>
                <a:path w="1524000" h="304800">
                  <a:moveTo>
                    <a:pt x="762000" y="0"/>
                  </a:moveTo>
                  <a:lnTo>
                    <a:pt x="688614" y="697"/>
                  </a:lnTo>
                  <a:lnTo>
                    <a:pt x="617202" y="2748"/>
                  </a:lnTo>
                  <a:lnTo>
                    <a:pt x="548083" y="6087"/>
                  </a:lnTo>
                  <a:lnTo>
                    <a:pt x="481576" y="10651"/>
                  </a:lnTo>
                  <a:lnTo>
                    <a:pt x="418001" y="16376"/>
                  </a:lnTo>
                  <a:lnTo>
                    <a:pt x="357676" y="23199"/>
                  </a:lnTo>
                  <a:lnTo>
                    <a:pt x="300922" y="31055"/>
                  </a:lnTo>
                  <a:lnTo>
                    <a:pt x="248058" y="39880"/>
                  </a:lnTo>
                  <a:lnTo>
                    <a:pt x="199402" y="49611"/>
                  </a:lnTo>
                  <a:lnTo>
                    <a:pt x="155275" y="60184"/>
                  </a:lnTo>
                  <a:lnTo>
                    <a:pt x="115996" y="71535"/>
                  </a:lnTo>
                  <a:lnTo>
                    <a:pt x="53256" y="96315"/>
                  </a:lnTo>
                  <a:lnTo>
                    <a:pt x="13739" y="123440"/>
                  </a:lnTo>
                  <a:lnTo>
                    <a:pt x="0" y="152399"/>
                  </a:lnTo>
                  <a:lnTo>
                    <a:pt x="3488" y="167077"/>
                  </a:lnTo>
                  <a:lnTo>
                    <a:pt x="30435" y="195183"/>
                  </a:lnTo>
                  <a:lnTo>
                    <a:pt x="81883" y="221199"/>
                  </a:lnTo>
                  <a:lnTo>
                    <a:pt x="155275" y="244615"/>
                  </a:lnTo>
                  <a:lnTo>
                    <a:pt x="199402" y="255188"/>
                  </a:lnTo>
                  <a:lnTo>
                    <a:pt x="248058" y="264919"/>
                  </a:lnTo>
                  <a:lnTo>
                    <a:pt x="300922" y="273744"/>
                  </a:lnTo>
                  <a:lnTo>
                    <a:pt x="357676" y="281600"/>
                  </a:lnTo>
                  <a:lnTo>
                    <a:pt x="418001" y="288423"/>
                  </a:lnTo>
                  <a:lnTo>
                    <a:pt x="481576" y="294148"/>
                  </a:lnTo>
                  <a:lnTo>
                    <a:pt x="548083" y="298712"/>
                  </a:lnTo>
                  <a:lnTo>
                    <a:pt x="617202" y="302051"/>
                  </a:lnTo>
                  <a:lnTo>
                    <a:pt x="688614" y="304102"/>
                  </a:lnTo>
                  <a:lnTo>
                    <a:pt x="762000" y="304799"/>
                  </a:lnTo>
                  <a:lnTo>
                    <a:pt x="835385" y="304102"/>
                  </a:lnTo>
                  <a:lnTo>
                    <a:pt x="906797" y="302051"/>
                  </a:lnTo>
                  <a:lnTo>
                    <a:pt x="975916" y="298712"/>
                  </a:lnTo>
                  <a:lnTo>
                    <a:pt x="1042423" y="294148"/>
                  </a:lnTo>
                  <a:lnTo>
                    <a:pt x="1105998" y="288423"/>
                  </a:lnTo>
                  <a:lnTo>
                    <a:pt x="1166323" y="281600"/>
                  </a:lnTo>
                  <a:lnTo>
                    <a:pt x="1223077" y="273744"/>
                  </a:lnTo>
                  <a:lnTo>
                    <a:pt x="1275941" y="264919"/>
                  </a:lnTo>
                  <a:lnTo>
                    <a:pt x="1324597" y="255188"/>
                  </a:lnTo>
                  <a:lnTo>
                    <a:pt x="1368724" y="244615"/>
                  </a:lnTo>
                  <a:lnTo>
                    <a:pt x="1408003" y="233264"/>
                  </a:lnTo>
                  <a:lnTo>
                    <a:pt x="1470743" y="208484"/>
                  </a:lnTo>
                  <a:lnTo>
                    <a:pt x="1510260" y="181359"/>
                  </a:lnTo>
                  <a:lnTo>
                    <a:pt x="1524000" y="152399"/>
                  </a:lnTo>
                  <a:lnTo>
                    <a:pt x="1520511" y="137722"/>
                  </a:lnTo>
                  <a:lnTo>
                    <a:pt x="1493564" y="109616"/>
                  </a:lnTo>
                  <a:lnTo>
                    <a:pt x="1442116" y="83600"/>
                  </a:lnTo>
                  <a:lnTo>
                    <a:pt x="1368724" y="60184"/>
                  </a:lnTo>
                  <a:lnTo>
                    <a:pt x="1324597" y="49611"/>
                  </a:lnTo>
                  <a:lnTo>
                    <a:pt x="1275941" y="39880"/>
                  </a:lnTo>
                  <a:lnTo>
                    <a:pt x="1223077" y="31055"/>
                  </a:lnTo>
                  <a:lnTo>
                    <a:pt x="1166323" y="23199"/>
                  </a:lnTo>
                  <a:lnTo>
                    <a:pt x="1105998" y="16376"/>
                  </a:lnTo>
                  <a:lnTo>
                    <a:pt x="1042423" y="10651"/>
                  </a:lnTo>
                  <a:lnTo>
                    <a:pt x="975916" y="6087"/>
                  </a:lnTo>
                  <a:lnTo>
                    <a:pt x="906797" y="2748"/>
                  </a:lnTo>
                  <a:lnTo>
                    <a:pt x="835385" y="697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77500" y="4643599"/>
              <a:ext cx="1524000" cy="977900"/>
            </a:xfrm>
            <a:custGeom>
              <a:avLst/>
              <a:gdLst/>
              <a:ahLst/>
              <a:cxnLst/>
              <a:rect l="l" t="t" r="r" b="b"/>
              <a:pathLst>
                <a:path w="1524000" h="977900">
                  <a:moveTo>
                    <a:pt x="1524000" y="152399"/>
                  </a:moveTo>
                  <a:lnTo>
                    <a:pt x="1493564" y="109616"/>
                  </a:lnTo>
                  <a:lnTo>
                    <a:pt x="1442116" y="83600"/>
                  </a:lnTo>
                  <a:lnTo>
                    <a:pt x="1368724" y="60184"/>
                  </a:lnTo>
                  <a:lnTo>
                    <a:pt x="1324597" y="49611"/>
                  </a:lnTo>
                  <a:lnTo>
                    <a:pt x="1275941" y="39880"/>
                  </a:lnTo>
                  <a:lnTo>
                    <a:pt x="1223077" y="31055"/>
                  </a:lnTo>
                  <a:lnTo>
                    <a:pt x="1166323" y="23199"/>
                  </a:lnTo>
                  <a:lnTo>
                    <a:pt x="1105998" y="16376"/>
                  </a:lnTo>
                  <a:lnTo>
                    <a:pt x="1042423" y="10651"/>
                  </a:lnTo>
                  <a:lnTo>
                    <a:pt x="975916" y="6087"/>
                  </a:lnTo>
                  <a:lnTo>
                    <a:pt x="906797" y="2748"/>
                  </a:lnTo>
                  <a:lnTo>
                    <a:pt x="835385" y="697"/>
                  </a:lnTo>
                  <a:lnTo>
                    <a:pt x="762000" y="0"/>
                  </a:lnTo>
                  <a:lnTo>
                    <a:pt x="688614" y="697"/>
                  </a:lnTo>
                  <a:lnTo>
                    <a:pt x="617202" y="2748"/>
                  </a:lnTo>
                  <a:lnTo>
                    <a:pt x="548083" y="6087"/>
                  </a:lnTo>
                  <a:lnTo>
                    <a:pt x="481576" y="10651"/>
                  </a:lnTo>
                  <a:lnTo>
                    <a:pt x="418001" y="16376"/>
                  </a:lnTo>
                  <a:lnTo>
                    <a:pt x="357676" y="23199"/>
                  </a:lnTo>
                  <a:lnTo>
                    <a:pt x="300922" y="31055"/>
                  </a:lnTo>
                  <a:lnTo>
                    <a:pt x="248058" y="39880"/>
                  </a:lnTo>
                  <a:lnTo>
                    <a:pt x="199402" y="49611"/>
                  </a:lnTo>
                  <a:lnTo>
                    <a:pt x="155275" y="60184"/>
                  </a:lnTo>
                  <a:lnTo>
                    <a:pt x="115996" y="71535"/>
                  </a:lnTo>
                  <a:lnTo>
                    <a:pt x="53256" y="96315"/>
                  </a:lnTo>
                  <a:lnTo>
                    <a:pt x="13739" y="123440"/>
                  </a:lnTo>
                  <a:lnTo>
                    <a:pt x="0" y="152399"/>
                  </a:lnTo>
                  <a:lnTo>
                    <a:pt x="3488" y="167077"/>
                  </a:lnTo>
                  <a:lnTo>
                    <a:pt x="30435" y="195183"/>
                  </a:lnTo>
                  <a:lnTo>
                    <a:pt x="81883" y="221199"/>
                  </a:lnTo>
                  <a:lnTo>
                    <a:pt x="155275" y="244615"/>
                  </a:lnTo>
                  <a:lnTo>
                    <a:pt x="199402" y="255188"/>
                  </a:lnTo>
                  <a:lnTo>
                    <a:pt x="248058" y="264919"/>
                  </a:lnTo>
                  <a:lnTo>
                    <a:pt x="300922" y="273744"/>
                  </a:lnTo>
                  <a:lnTo>
                    <a:pt x="357676" y="281600"/>
                  </a:lnTo>
                  <a:lnTo>
                    <a:pt x="418001" y="288423"/>
                  </a:lnTo>
                  <a:lnTo>
                    <a:pt x="481576" y="294148"/>
                  </a:lnTo>
                  <a:lnTo>
                    <a:pt x="548083" y="298712"/>
                  </a:lnTo>
                  <a:lnTo>
                    <a:pt x="617202" y="302051"/>
                  </a:lnTo>
                  <a:lnTo>
                    <a:pt x="688614" y="304102"/>
                  </a:lnTo>
                  <a:lnTo>
                    <a:pt x="762000" y="304799"/>
                  </a:lnTo>
                  <a:lnTo>
                    <a:pt x="835385" y="304102"/>
                  </a:lnTo>
                  <a:lnTo>
                    <a:pt x="906797" y="302051"/>
                  </a:lnTo>
                  <a:lnTo>
                    <a:pt x="975916" y="298712"/>
                  </a:lnTo>
                  <a:lnTo>
                    <a:pt x="1042423" y="294148"/>
                  </a:lnTo>
                  <a:lnTo>
                    <a:pt x="1105998" y="288423"/>
                  </a:lnTo>
                  <a:lnTo>
                    <a:pt x="1166323" y="281600"/>
                  </a:lnTo>
                  <a:lnTo>
                    <a:pt x="1223077" y="273744"/>
                  </a:lnTo>
                  <a:lnTo>
                    <a:pt x="1275941" y="264919"/>
                  </a:lnTo>
                  <a:lnTo>
                    <a:pt x="1324597" y="255188"/>
                  </a:lnTo>
                  <a:lnTo>
                    <a:pt x="1368724" y="244615"/>
                  </a:lnTo>
                  <a:lnTo>
                    <a:pt x="1408003" y="233264"/>
                  </a:lnTo>
                  <a:lnTo>
                    <a:pt x="1470743" y="208484"/>
                  </a:lnTo>
                  <a:lnTo>
                    <a:pt x="1510260" y="181359"/>
                  </a:lnTo>
                  <a:lnTo>
                    <a:pt x="1524000" y="152399"/>
                  </a:lnTo>
                </a:path>
                <a:path w="1524000" h="977900">
                  <a:moveTo>
                    <a:pt x="0" y="977899"/>
                  </a:moveTo>
                  <a:lnTo>
                    <a:pt x="0" y="152399"/>
                  </a:lnTo>
                </a:path>
                <a:path w="1524000" h="977900">
                  <a:moveTo>
                    <a:pt x="1524000" y="977899"/>
                  </a:moveTo>
                  <a:lnTo>
                    <a:pt x="1524000" y="152399"/>
                  </a:lnTo>
                </a:path>
              </a:pathLst>
            </a:custGeom>
            <a:ln w="1905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71282" y="5011899"/>
            <a:ext cx="536575" cy="3022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80645" marR="5080" indent="-68580">
              <a:lnSpc>
                <a:spcPct val="101899"/>
              </a:lnSpc>
              <a:spcBef>
                <a:spcPts val="80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D2</a:t>
            </a:r>
            <a:r>
              <a:rPr sz="9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Invoice Records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780975" y="4634074"/>
            <a:ext cx="1543050" cy="1149350"/>
            <a:chOff x="5780975" y="4634074"/>
            <a:chExt cx="1543050" cy="1149350"/>
          </a:xfrm>
        </p:grpSpPr>
        <p:sp>
          <p:nvSpPr>
            <p:cNvPr id="29" name="object 29"/>
            <p:cNvSpPr/>
            <p:nvPr/>
          </p:nvSpPr>
          <p:spPr>
            <a:xfrm>
              <a:off x="5790500" y="4795999"/>
              <a:ext cx="1524000" cy="825500"/>
            </a:xfrm>
            <a:custGeom>
              <a:avLst/>
              <a:gdLst/>
              <a:ahLst/>
              <a:cxnLst/>
              <a:rect l="l" t="t" r="r" b="b"/>
              <a:pathLst>
                <a:path w="1524000" h="825500">
                  <a:moveTo>
                    <a:pt x="1523999" y="0"/>
                  </a:moveTo>
                  <a:lnTo>
                    <a:pt x="0" y="0"/>
                  </a:lnTo>
                  <a:lnTo>
                    <a:pt x="0" y="825499"/>
                  </a:lnTo>
                  <a:lnTo>
                    <a:pt x="1523999" y="825499"/>
                  </a:lnTo>
                  <a:lnTo>
                    <a:pt x="1523999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90500" y="5469099"/>
              <a:ext cx="1524000" cy="304800"/>
            </a:xfrm>
            <a:custGeom>
              <a:avLst/>
              <a:gdLst/>
              <a:ahLst/>
              <a:cxnLst/>
              <a:rect l="l" t="t" r="r" b="b"/>
              <a:pathLst>
                <a:path w="1524000" h="304800">
                  <a:moveTo>
                    <a:pt x="761999" y="0"/>
                  </a:moveTo>
                  <a:lnTo>
                    <a:pt x="688614" y="697"/>
                  </a:lnTo>
                  <a:lnTo>
                    <a:pt x="617202" y="2748"/>
                  </a:lnTo>
                  <a:lnTo>
                    <a:pt x="548083" y="6087"/>
                  </a:lnTo>
                  <a:lnTo>
                    <a:pt x="481576" y="10651"/>
                  </a:lnTo>
                  <a:lnTo>
                    <a:pt x="418001" y="16376"/>
                  </a:lnTo>
                  <a:lnTo>
                    <a:pt x="357676" y="23199"/>
                  </a:lnTo>
                  <a:lnTo>
                    <a:pt x="300922" y="31055"/>
                  </a:lnTo>
                  <a:lnTo>
                    <a:pt x="248058" y="39880"/>
                  </a:lnTo>
                  <a:lnTo>
                    <a:pt x="199402" y="49611"/>
                  </a:lnTo>
                  <a:lnTo>
                    <a:pt x="155275" y="60184"/>
                  </a:lnTo>
                  <a:lnTo>
                    <a:pt x="115996" y="71535"/>
                  </a:lnTo>
                  <a:lnTo>
                    <a:pt x="53256" y="96315"/>
                  </a:lnTo>
                  <a:lnTo>
                    <a:pt x="13739" y="123440"/>
                  </a:lnTo>
                  <a:lnTo>
                    <a:pt x="0" y="152399"/>
                  </a:lnTo>
                  <a:lnTo>
                    <a:pt x="3488" y="167077"/>
                  </a:lnTo>
                  <a:lnTo>
                    <a:pt x="30435" y="195183"/>
                  </a:lnTo>
                  <a:lnTo>
                    <a:pt x="81883" y="221199"/>
                  </a:lnTo>
                  <a:lnTo>
                    <a:pt x="155275" y="244615"/>
                  </a:lnTo>
                  <a:lnTo>
                    <a:pt x="199402" y="255188"/>
                  </a:lnTo>
                  <a:lnTo>
                    <a:pt x="248058" y="264919"/>
                  </a:lnTo>
                  <a:lnTo>
                    <a:pt x="300922" y="273744"/>
                  </a:lnTo>
                  <a:lnTo>
                    <a:pt x="357676" y="281600"/>
                  </a:lnTo>
                  <a:lnTo>
                    <a:pt x="418001" y="288423"/>
                  </a:lnTo>
                  <a:lnTo>
                    <a:pt x="481576" y="294148"/>
                  </a:lnTo>
                  <a:lnTo>
                    <a:pt x="548083" y="298712"/>
                  </a:lnTo>
                  <a:lnTo>
                    <a:pt x="617202" y="302051"/>
                  </a:lnTo>
                  <a:lnTo>
                    <a:pt x="688614" y="304102"/>
                  </a:lnTo>
                  <a:lnTo>
                    <a:pt x="761999" y="304799"/>
                  </a:lnTo>
                  <a:lnTo>
                    <a:pt x="835385" y="304102"/>
                  </a:lnTo>
                  <a:lnTo>
                    <a:pt x="906797" y="302051"/>
                  </a:lnTo>
                  <a:lnTo>
                    <a:pt x="975916" y="298712"/>
                  </a:lnTo>
                  <a:lnTo>
                    <a:pt x="1042423" y="294148"/>
                  </a:lnTo>
                  <a:lnTo>
                    <a:pt x="1105998" y="288423"/>
                  </a:lnTo>
                  <a:lnTo>
                    <a:pt x="1166323" y="281600"/>
                  </a:lnTo>
                  <a:lnTo>
                    <a:pt x="1223077" y="273744"/>
                  </a:lnTo>
                  <a:lnTo>
                    <a:pt x="1275941" y="264919"/>
                  </a:lnTo>
                  <a:lnTo>
                    <a:pt x="1324597" y="255188"/>
                  </a:lnTo>
                  <a:lnTo>
                    <a:pt x="1368724" y="244615"/>
                  </a:lnTo>
                  <a:lnTo>
                    <a:pt x="1408003" y="233264"/>
                  </a:lnTo>
                  <a:lnTo>
                    <a:pt x="1470743" y="208484"/>
                  </a:lnTo>
                  <a:lnTo>
                    <a:pt x="1510260" y="181359"/>
                  </a:lnTo>
                  <a:lnTo>
                    <a:pt x="1523999" y="152399"/>
                  </a:lnTo>
                  <a:lnTo>
                    <a:pt x="1520511" y="137722"/>
                  </a:lnTo>
                  <a:lnTo>
                    <a:pt x="1493564" y="109616"/>
                  </a:lnTo>
                  <a:lnTo>
                    <a:pt x="1442116" y="83600"/>
                  </a:lnTo>
                  <a:lnTo>
                    <a:pt x="1368724" y="60184"/>
                  </a:lnTo>
                  <a:lnTo>
                    <a:pt x="1324597" y="49611"/>
                  </a:lnTo>
                  <a:lnTo>
                    <a:pt x="1275941" y="39880"/>
                  </a:lnTo>
                  <a:lnTo>
                    <a:pt x="1223077" y="31055"/>
                  </a:lnTo>
                  <a:lnTo>
                    <a:pt x="1166323" y="23199"/>
                  </a:lnTo>
                  <a:lnTo>
                    <a:pt x="1105998" y="16376"/>
                  </a:lnTo>
                  <a:lnTo>
                    <a:pt x="1042423" y="10651"/>
                  </a:lnTo>
                  <a:lnTo>
                    <a:pt x="975916" y="6087"/>
                  </a:lnTo>
                  <a:lnTo>
                    <a:pt x="906797" y="2748"/>
                  </a:lnTo>
                  <a:lnTo>
                    <a:pt x="835385" y="697"/>
                  </a:lnTo>
                  <a:lnTo>
                    <a:pt x="761999" y="0"/>
                  </a:lnTo>
                  <a:close/>
                </a:path>
              </a:pathLst>
            </a:custGeom>
            <a:solidFill>
              <a:srgbClr val="C4D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90500" y="5469099"/>
              <a:ext cx="1524000" cy="304800"/>
            </a:xfrm>
            <a:custGeom>
              <a:avLst/>
              <a:gdLst/>
              <a:ahLst/>
              <a:cxnLst/>
              <a:rect l="l" t="t" r="r" b="b"/>
              <a:pathLst>
                <a:path w="1524000" h="304800">
                  <a:moveTo>
                    <a:pt x="1523999" y="152399"/>
                  </a:moveTo>
                  <a:lnTo>
                    <a:pt x="1493564" y="109616"/>
                  </a:lnTo>
                  <a:lnTo>
                    <a:pt x="1442116" y="83600"/>
                  </a:lnTo>
                  <a:lnTo>
                    <a:pt x="1368724" y="60184"/>
                  </a:lnTo>
                  <a:lnTo>
                    <a:pt x="1324597" y="49611"/>
                  </a:lnTo>
                  <a:lnTo>
                    <a:pt x="1275941" y="39880"/>
                  </a:lnTo>
                  <a:lnTo>
                    <a:pt x="1223077" y="31055"/>
                  </a:lnTo>
                  <a:lnTo>
                    <a:pt x="1166323" y="23199"/>
                  </a:lnTo>
                  <a:lnTo>
                    <a:pt x="1105998" y="16376"/>
                  </a:lnTo>
                  <a:lnTo>
                    <a:pt x="1042423" y="10651"/>
                  </a:lnTo>
                  <a:lnTo>
                    <a:pt x="975916" y="6087"/>
                  </a:lnTo>
                  <a:lnTo>
                    <a:pt x="906797" y="2748"/>
                  </a:lnTo>
                  <a:lnTo>
                    <a:pt x="835385" y="697"/>
                  </a:lnTo>
                  <a:lnTo>
                    <a:pt x="761999" y="0"/>
                  </a:lnTo>
                  <a:lnTo>
                    <a:pt x="688614" y="697"/>
                  </a:lnTo>
                  <a:lnTo>
                    <a:pt x="617202" y="2748"/>
                  </a:lnTo>
                  <a:lnTo>
                    <a:pt x="548083" y="6087"/>
                  </a:lnTo>
                  <a:lnTo>
                    <a:pt x="481576" y="10651"/>
                  </a:lnTo>
                  <a:lnTo>
                    <a:pt x="418001" y="16376"/>
                  </a:lnTo>
                  <a:lnTo>
                    <a:pt x="357676" y="23199"/>
                  </a:lnTo>
                  <a:lnTo>
                    <a:pt x="300922" y="31055"/>
                  </a:lnTo>
                  <a:lnTo>
                    <a:pt x="248058" y="39880"/>
                  </a:lnTo>
                  <a:lnTo>
                    <a:pt x="199402" y="49611"/>
                  </a:lnTo>
                  <a:lnTo>
                    <a:pt x="155275" y="60184"/>
                  </a:lnTo>
                  <a:lnTo>
                    <a:pt x="115996" y="71535"/>
                  </a:lnTo>
                  <a:lnTo>
                    <a:pt x="53256" y="96315"/>
                  </a:lnTo>
                  <a:lnTo>
                    <a:pt x="13739" y="123440"/>
                  </a:lnTo>
                  <a:lnTo>
                    <a:pt x="0" y="152399"/>
                  </a:lnTo>
                  <a:lnTo>
                    <a:pt x="3488" y="167077"/>
                  </a:lnTo>
                  <a:lnTo>
                    <a:pt x="30435" y="195183"/>
                  </a:lnTo>
                  <a:lnTo>
                    <a:pt x="81883" y="221199"/>
                  </a:lnTo>
                  <a:lnTo>
                    <a:pt x="155275" y="244615"/>
                  </a:lnTo>
                  <a:lnTo>
                    <a:pt x="199402" y="255188"/>
                  </a:lnTo>
                  <a:lnTo>
                    <a:pt x="248058" y="264919"/>
                  </a:lnTo>
                  <a:lnTo>
                    <a:pt x="300922" y="273744"/>
                  </a:lnTo>
                  <a:lnTo>
                    <a:pt x="357676" y="281600"/>
                  </a:lnTo>
                  <a:lnTo>
                    <a:pt x="418001" y="288423"/>
                  </a:lnTo>
                  <a:lnTo>
                    <a:pt x="481576" y="294148"/>
                  </a:lnTo>
                  <a:lnTo>
                    <a:pt x="548083" y="298712"/>
                  </a:lnTo>
                  <a:lnTo>
                    <a:pt x="617202" y="302051"/>
                  </a:lnTo>
                  <a:lnTo>
                    <a:pt x="688614" y="304102"/>
                  </a:lnTo>
                  <a:lnTo>
                    <a:pt x="761999" y="304799"/>
                  </a:lnTo>
                  <a:lnTo>
                    <a:pt x="835385" y="304102"/>
                  </a:lnTo>
                  <a:lnTo>
                    <a:pt x="906797" y="302051"/>
                  </a:lnTo>
                  <a:lnTo>
                    <a:pt x="975916" y="298712"/>
                  </a:lnTo>
                  <a:lnTo>
                    <a:pt x="1042423" y="294148"/>
                  </a:lnTo>
                  <a:lnTo>
                    <a:pt x="1105998" y="288423"/>
                  </a:lnTo>
                  <a:lnTo>
                    <a:pt x="1166323" y="281600"/>
                  </a:lnTo>
                  <a:lnTo>
                    <a:pt x="1223077" y="273744"/>
                  </a:lnTo>
                  <a:lnTo>
                    <a:pt x="1275941" y="264919"/>
                  </a:lnTo>
                  <a:lnTo>
                    <a:pt x="1324597" y="255188"/>
                  </a:lnTo>
                  <a:lnTo>
                    <a:pt x="1368724" y="244615"/>
                  </a:lnTo>
                  <a:lnTo>
                    <a:pt x="1408003" y="233264"/>
                  </a:lnTo>
                  <a:lnTo>
                    <a:pt x="1470743" y="208484"/>
                  </a:lnTo>
                  <a:lnTo>
                    <a:pt x="1510260" y="181359"/>
                  </a:lnTo>
                  <a:lnTo>
                    <a:pt x="1523999" y="152399"/>
                  </a:lnTo>
                </a:path>
              </a:pathLst>
            </a:custGeom>
            <a:ln w="1905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90500" y="4643599"/>
              <a:ext cx="1524000" cy="304800"/>
            </a:xfrm>
            <a:custGeom>
              <a:avLst/>
              <a:gdLst/>
              <a:ahLst/>
              <a:cxnLst/>
              <a:rect l="l" t="t" r="r" b="b"/>
              <a:pathLst>
                <a:path w="1524000" h="304800">
                  <a:moveTo>
                    <a:pt x="761999" y="0"/>
                  </a:moveTo>
                  <a:lnTo>
                    <a:pt x="688614" y="697"/>
                  </a:lnTo>
                  <a:lnTo>
                    <a:pt x="617202" y="2748"/>
                  </a:lnTo>
                  <a:lnTo>
                    <a:pt x="548083" y="6087"/>
                  </a:lnTo>
                  <a:lnTo>
                    <a:pt x="481576" y="10651"/>
                  </a:lnTo>
                  <a:lnTo>
                    <a:pt x="418001" y="16376"/>
                  </a:lnTo>
                  <a:lnTo>
                    <a:pt x="357676" y="23199"/>
                  </a:lnTo>
                  <a:lnTo>
                    <a:pt x="300922" y="31055"/>
                  </a:lnTo>
                  <a:lnTo>
                    <a:pt x="248058" y="39880"/>
                  </a:lnTo>
                  <a:lnTo>
                    <a:pt x="199402" y="49611"/>
                  </a:lnTo>
                  <a:lnTo>
                    <a:pt x="155275" y="60184"/>
                  </a:lnTo>
                  <a:lnTo>
                    <a:pt x="115996" y="71535"/>
                  </a:lnTo>
                  <a:lnTo>
                    <a:pt x="53256" y="96315"/>
                  </a:lnTo>
                  <a:lnTo>
                    <a:pt x="13739" y="123440"/>
                  </a:lnTo>
                  <a:lnTo>
                    <a:pt x="0" y="152399"/>
                  </a:lnTo>
                  <a:lnTo>
                    <a:pt x="3488" y="167077"/>
                  </a:lnTo>
                  <a:lnTo>
                    <a:pt x="30435" y="195183"/>
                  </a:lnTo>
                  <a:lnTo>
                    <a:pt x="81883" y="221199"/>
                  </a:lnTo>
                  <a:lnTo>
                    <a:pt x="155275" y="244615"/>
                  </a:lnTo>
                  <a:lnTo>
                    <a:pt x="199402" y="255188"/>
                  </a:lnTo>
                  <a:lnTo>
                    <a:pt x="248058" y="264919"/>
                  </a:lnTo>
                  <a:lnTo>
                    <a:pt x="300922" y="273744"/>
                  </a:lnTo>
                  <a:lnTo>
                    <a:pt x="357676" y="281600"/>
                  </a:lnTo>
                  <a:lnTo>
                    <a:pt x="418001" y="288423"/>
                  </a:lnTo>
                  <a:lnTo>
                    <a:pt x="481576" y="294148"/>
                  </a:lnTo>
                  <a:lnTo>
                    <a:pt x="548083" y="298712"/>
                  </a:lnTo>
                  <a:lnTo>
                    <a:pt x="617202" y="302051"/>
                  </a:lnTo>
                  <a:lnTo>
                    <a:pt x="688614" y="304102"/>
                  </a:lnTo>
                  <a:lnTo>
                    <a:pt x="761999" y="304799"/>
                  </a:lnTo>
                  <a:lnTo>
                    <a:pt x="835385" y="304102"/>
                  </a:lnTo>
                  <a:lnTo>
                    <a:pt x="906797" y="302051"/>
                  </a:lnTo>
                  <a:lnTo>
                    <a:pt x="975916" y="298712"/>
                  </a:lnTo>
                  <a:lnTo>
                    <a:pt x="1042423" y="294148"/>
                  </a:lnTo>
                  <a:lnTo>
                    <a:pt x="1105998" y="288423"/>
                  </a:lnTo>
                  <a:lnTo>
                    <a:pt x="1166323" y="281600"/>
                  </a:lnTo>
                  <a:lnTo>
                    <a:pt x="1223077" y="273744"/>
                  </a:lnTo>
                  <a:lnTo>
                    <a:pt x="1275941" y="264919"/>
                  </a:lnTo>
                  <a:lnTo>
                    <a:pt x="1324597" y="255188"/>
                  </a:lnTo>
                  <a:lnTo>
                    <a:pt x="1368724" y="244615"/>
                  </a:lnTo>
                  <a:lnTo>
                    <a:pt x="1408003" y="233264"/>
                  </a:lnTo>
                  <a:lnTo>
                    <a:pt x="1470743" y="208484"/>
                  </a:lnTo>
                  <a:lnTo>
                    <a:pt x="1510260" y="181359"/>
                  </a:lnTo>
                  <a:lnTo>
                    <a:pt x="1523999" y="152399"/>
                  </a:lnTo>
                  <a:lnTo>
                    <a:pt x="1520511" y="137722"/>
                  </a:lnTo>
                  <a:lnTo>
                    <a:pt x="1493564" y="109616"/>
                  </a:lnTo>
                  <a:lnTo>
                    <a:pt x="1442116" y="83600"/>
                  </a:lnTo>
                  <a:lnTo>
                    <a:pt x="1368724" y="60184"/>
                  </a:lnTo>
                  <a:lnTo>
                    <a:pt x="1324597" y="49611"/>
                  </a:lnTo>
                  <a:lnTo>
                    <a:pt x="1275941" y="39880"/>
                  </a:lnTo>
                  <a:lnTo>
                    <a:pt x="1223077" y="31055"/>
                  </a:lnTo>
                  <a:lnTo>
                    <a:pt x="1166323" y="23199"/>
                  </a:lnTo>
                  <a:lnTo>
                    <a:pt x="1105998" y="16376"/>
                  </a:lnTo>
                  <a:lnTo>
                    <a:pt x="1042423" y="10651"/>
                  </a:lnTo>
                  <a:lnTo>
                    <a:pt x="975916" y="6087"/>
                  </a:lnTo>
                  <a:lnTo>
                    <a:pt x="906797" y="2748"/>
                  </a:lnTo>
                  <a:lnTo>
                    <a:pt x="835385" y="697"/>
                  </a:lnTo>
                  <a:lnTo>
                    <a:pt x="761999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90500" y="4643599"/>
              <a:ext cx="1524000" cy="977900"/>
            </a:xfrm>
            <a:custGeom>
              <a:avLst/>
              <a:gdLst/>
              <a:ahLst/>
              <a:cxnLst/>
              <a:rect l="l" t="t" r="r" b="b"/>
              <a:pathLst>
                <a:path w="1524000" h="977900">
                  <a:moveTo>
                    <a:pt x="1523999" y="152399"/>
                  </a:moveTo>
                  <a:lnTo>
                    <a:pt x="1493564" y="109616"/>
                  </a:lnTo>
                  <a:lnTo>
                    <a:pt x="1442116" y="83600"/>
                  </a:lnTo>
                  <a:lnTo>
                    <a:pt x="1368724" y="60184"/>
                  </a:lnTo>
                  <a:lnTo>
                    <a:pt x="1324597" y="49611"/>
                  </a:lnTo>
                  <a:lnTo>
                    <a:pt x="1275941" y="39880"/>
                  </a:lnTo>
                  <a:lnTo>
                    <a:pt x="1223077" y="31055"/>
                  </a:lnTo>
                  <a:lnTo>
                    <a:pt x="1166323" y="23199"/>
                  </a:lnTo>
                  <a:lnTo>
                    <a:pt x="1105998" y="16376"/>
                  </a:lnTo>
                  <a:lnTo>
                    <a:pt x="1042423" y="10651"/>
                  </a:lnTo>
                  <a:lnTo>
                    <a:pt x="975916" y="6087"/>
                  </a:lnTo>
                  <a:lnTo>
                    <a:pt x="906797" y="2748"/>
                  </a:lnTo>
                  <a:lnTo>
                    <a:pt x="835385" y="697"/>
                  </a:lnTo>
                  <a:lnTo>
                    <a:pt x="761999" y="0"/>
                  </a:lnTo>
                  <a:lnTo>
                    <a:pt x="688614" y="697"/>
                  </a:lnTo>
                  <a:lnTo>
                    <a:pt x="617202" y="2748"/>
                  </a:lnTo>
                  <a:lnTo>
                    <a:pt x="548083" y="6087"/>
                  </a:lnTo>
                  <a:lnTo>
                    <a:pt x="481576" y="10651"/>
                  </a:lnTo>
                  <a:lnTo>
                    <a:pt x="418001" y="16376"/>
                  </a:lnTo>
                  <a:lnTo>
                    <a:pt x="357676" y="23199"/>
                  </a:lnTo>
                  <a:lnTo>
                    <a:pt x="300922" y="31055"/>
                  </a:lnTo>
                  <a:lnTo>
                    <a:pt x="248058" y="39880"/>
                  </a:lnTo>
                  <a:lnTo>
                    <a:pt x="199402" y="49611"/>
                  </a:lnTo>
                  <a:lnTo>
                    <a:pt x="155275" y="60184"/>
                  </a:lnTo>
                  <a:lnTo>
                    <a:pt x="115996" y="71535"/>
                  </a:lnTo>
                  <a:lnTo>
                    <a:pt x="53256" y="96315"/>
                  </a:lnTo>
                  <a:lnTo>
                    <a:pt x="13739" y="123440"/>
                  </a:lnTo>
                  <a:lnTo>
                    <a:pt x="0" y="152399"/>
                  </a:lnTo>
                  <a:lnTo>
                    <a:pt x="3488" y="167077"/>
                  </a:lnTo>
                  <a:lnTo>
                    <a:pt x="30435" y="195183"/>
                  </a:lnTo>
                  <a:lnTo>
                    <a:pt x="81883" y="221199"/>
                  </a:lnTo>
                  <a:lnTo>
                    <a:pt x="155275" y="244615"/>
                  </a:lnTo>
                  <a:lnTo>
                    <a:pt x="199402" y="255188"/>
                  </a:lnTo>
                  <a:lnTo>
                    <a:pt x="248058" y="264919"/>
                  </a:lnTo>
                  <a:lnTo>
                    <a:pt x="300922" y="273744"/>
                  </a:lnTo>
                  <a:lnTo>
                    <a:pt x="357676" y="281600"/>
                  </a:lnTo>
                  <a:lnTo>
                    <a:pt x="418001" y="288423"/>
                  </a:lnTo>
                  <a:lnTo>
                    <a:pt x="481576" y="294148"/>
                  </a:lnTo>
                  <a:lnTo>
                    <a:pt x="548083" y="298712"/>
                  </a:lnTo>
                  <a:lnTo>
                    <a:pt x="617202" y="302051"/>
                  </a:lnTo>
                  <a:lnTo>
                    <a:pt x="688614" y="304102"/>
                  </a:lnTo>
                  <a:lnTo>
                    <a:pt x="761999" y="304799"/>
                  </a:lnTo>
                  <a:lnTo>
                    <a:pt x="835385" y="304102"/>
                  </a:lnTo>
                  <a:lnTo>
                    <a:pt x="906797" y="302051"/>
                  </a:lnTo>
                  <a:lnTo>
                    <a:pt x="975916" y="298712"/>
                  </a:lnTo>
                  <a:lnTo>
                    <a:pt x="1042423" y="294148"/>
                  </a:lnTo>
                  <a:lnTo>
                    <a:pt x="1105998" y="288423"/>
                  </a:lnTo>
                  <a:lnTo>
                    <a:pt x="1166323" y="281600"/>
                  </a:lnTo>
                  <a:lnTo>
                    <a:pt x="1223077" y="273744"/>
                  </a:lnTo>
                  <a:lnTo>
                    <a:pt x="1275941" y="264919"/>
                  </a:lnTo>
                  <a:lnTo>
                    <a:pt x="1324597" y="255188"/>
                  </a:lnTo>
                  <a:lnTo>
                    <a:pt x="1368724" y="244615"/>
                  </a:lnTo>
                  <a:lnTo>
                    <a:pt x="1408003" y="233264"/>
                  </a:lnTo>
                  <a:lnTo>
                    <a:pt x="1470743" y="208484"/>
                  </a:lnTo>
                  <a:lnTo>
                    <a:pt x="1510260" y="181359"/>
                  </a:lnTo>
                  <a:lnTo>
                    <a:pt x="1523999" y="152399"/>
                  </a:lnTo>
                </a:path>
                <a:path w="1524000" h="977900">
                  <a:moveTo>
                    <a:pt x="0" y="977899"/>
                  </a:moveTo>
                  <a:lnTo>
                    <a:pt x="0" y="152399"/>
                  </a:lnTo>
                </a:path>
                <a:path w="1524000" h="977900">
                  <a:moveTo>
                    <a:pt x="1523999" y="977899"/>
                  </a:moveTo>
                  <a:lnTo>
                    <a:pt x="1523999" y="152399"/>
                  </a:lnTo>
                </a:path>
              </a:pathLst>
            </a:custGeom>
            <a:ln w="1905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55650" y="5011899"/>
            <a:ext cx="593725" cy="3022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09220" marR="5080" indent="-97155">
              <a:lnSpc>
                <a:spcPct val="101899"/>
              </a:lnSpc>
              <a:spcBef>
                <a:spcPts val="80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D3</a:t>
            </a:r>
            <a:r>
              <a:rPr sz="9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Payment Records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975610" y="3033924"/>
            <a:ext cx="1934845" cy="2088514"/>
            <a:chOff x="2975610" y="3033924"/>
            <a:chExt cx="1934845" cy="2088514"/>
          </a:xfrm>
        </p:grpSpPr>
        <p:sp>
          <p:nvSpPr>
            <p:cNvPr id="36" name="object 36"/>
            <p:cNvSpPr/>
            <p:nvPr/>
          </p:nvSpPr>
          <p:spPr>
            <a:xfrm>
              <a:off x="2984500" y="3081499"/>
              <a:ext cx="1377315" cy="0"/>
            </a:xfrm>
            <a:custGeom>
              <a:avLst/>
              <a:gdLst/>
              <a:ahLst/>
              <a:cxnLst/>
              <a:rect l="l" t="t" r="r" b="b"/>
              <a:pathLst>
                <a:path w="1377314">
                  <a:moveTo>
                    <a:pt x="0" y="0"/>
                  </a:moveTo>
                  <a:lnTo>
                    <a:pt x="137725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243997" y="3033924"/>
              <a:ext cx="118110" cy="95250"/>
            </a:xfrm>
            <a:custGeom>
              <a:avLst/>
              <a:gdLst/>
              <a:ahLst/>
              <a:cxnLst/>
              <a:rect l="l" t="t" r="r" b="b"/>
              <a:pathLst>
                <a:path w="118110" h="95250">
                  <a:moveTo>
                    <a:pt x="0" y="0"/>
                  </a:moveTo>
                  <a:lnTo>
                    <a:pt x="0" y="95150"/>
                  </a:lnTo>
                  <a:lnTo>
                    <a:pt x="117753" y="47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42750" y="3525999"/>
              <a:ext cx="158750" cy="1587500"/>
            </a:xfrm>
            <a:custGeom>
              <a:avLst/>
              <a:gdLst/>
              <a:ahLst/>
              <a:cxnLst/>
              <a:rect l="l" t="t" r="r" b="b"/>
              <a:pathLst>
                <a:path w="158750" h="1587500">
                  <a:moveTo>
                    <a:pt x="158750" y="1587500"/>
                  </a:moveTo>
                  <a:lnTo>
                    <a:pt x="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07127" y="3525999"/>
              <a:ext cx="95250" cy="121920"/>
            </a:xfrm>
            <a:custGeom>
              <a:avLst/>
              <a:gdLst/>
              <a:ahLst/>
              <a:cxnLst/>
              <a:rect l="l" t="t" r="r" b="b"/>
              <a:pathLst>
                <a:path w="95250" h="121920">
                  <a:moveTo>
                    <a:pt x="35622" y="0"/>
                  </a:moveTo>
                  <a:lnTo>
                    <a:pt x="0" y="121902"/>
                  </a:lnTo>
                  <a:lnTo>
                    <a:pt x="94677" y="112434"/>
                  </a:lnTo>
                  <a:lnTo>
                    <a:pt x="35622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047090" y="2827499"/>
            <a:ext cx="127952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Invoice</a:t>
            </a:r>
            <a:r>
              <a:rPr sz="9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Payment</a:t>
            </a:r>
            <a:r>
              <a:rPr lang="en-US" sz="900" spc="-1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Request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767616" y="4120465"/>
            <a:ext cx="107632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Invoice Amount</a:t>
            </a:r>
            <a:r>
              <a:rPr lang="en-US" sz="90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Due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321360" y="2120109"/>
            <a:ext cx="1395095" cy="779780"/>
            <a:chOff x="6321360" y="2120109"/>
            <a:chExt cx="1395095" cy="779780"/>
          </a:xfrm>
        </p:grpSpPr>
        <p:sp>
          <p:nvSpPr>
            <p:cNvPr id="43" name="object 43"/>
            <p:cNvSpPr/>
            <p:nvPr/>
          </p:nvSpPr>
          <p:spPr>
            <a:xfrm>
              <a:off x="6330250" y="2128999"/>
              <a:ext cx="1377315" cy="762000"/>
            </a:xfrm>
            <a:custGeom>
              <a:avLst/>
              <a:gdLst/>
              <a:ahLst/>
              <a:cxnLst/>
              <a:rect l="l" t="t" r="r" b="b"/>
              <a:pathLst>
                <a:path w="1377315" h="762000">
                  <a:moveTo>
                    <a:pt x="0" y="762000"/>
                  </a:moveTo>
                  <a:lnTo>
                    <a:pt x="137725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581433" y="2128999"/>
              <a:ext cx="126364" cy="99060"/>
            </a:xfrm>
            <a:custGeom>
              <a:avLst/>
              <a:gdLst/>
              <a:ahLst/>
              <a:cxnLst/>
              <a:rect l="l" t="t" r="r" b="b"/>
              <a:pathLst>
                <a:path w="126365" h="99060">
                  <a:moveTo>
                    <a:pt x="126066" y="0"/>
                  </a:moveTo>
                  <a:lnTo>
                    <a:pt x="0" y="15378"/>
                  </a:lnTo>
                  <a:lnTo>
                    <a:pt x="46064" y="98634"/>
                  </a:lnTo>
                  <a:lnTo>
                    <a:pt x="126066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381050" y="2273778"/>
            <a:ext cx="8223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Payment</a:t>
            </a:r>
            <a:r>
              <a:rPr sz="9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Request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628876" y="2110396"/>
            <a:ext cx="406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497EA5"/>
                </a:solidFill>
                <a:latin typeface="Times New Roman"/>
                <a:cs typeface="Times New Roman"/>
              </a:rPr>
              <a:t>DF-</a:t>
            </a:r>
            <a:r>
              <a:rPr sz="900" b="1" spc="-25" dirty="0">
                <a:solidFill>
                  <a:srgbClr val="497EA5"/>
                </a:solidFill>
                <a:latin typeface="Times New Roman"/>
                <a:cs typeface="Times New Roman"/>
              </a:rPr>
              <a:t>Out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321360" y="3097424"/>
            <a:ext cx="1395095" cy="95250"/>
            <a:chOff x="6321360" y="3097424"/>
            <a:chExt cx="1395095" cy="95250"/>
          </a:xfrm>
        </p:grpSpPr>
        <p:sp>
          <p:nvSpPr>
            <p:cNvPr id="48" name="object 48"/>
            <p:cNvSpPr/>
            <p:nvPr/>
          </p:nvSpPr>
          <p:spPr>
            <a:xfrm>
              <a:off x="6330250" y="3144999"/>
              <a:ext cx="1377315" cy="0"/>
            </a:xfrm>
            <a:custGeom>
              <a:avLst/>
              <a:gdLst/>
              <a:ahLst/>
              <a:cxnLst/>
              <a:rect l="l" t="t" r="r" b="b"/>
              <a:pathLst>
                <a:path w="1377315">
                  <a:moveTo>
                    <a:pt x="0" y="0"/>
                  </a:moveTo>
                  <a:lnTo>
                    <a:pt x="137725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589747" y="3097424"/>
              <a:ext cx="118110" cy="95250"/>
            </a:xfrm>
            <a:custGeom>
              <a:avLst/>
              <a:gdLst/>
              <a:ahLst/>
              <a:cxnLst/>
              <a:rect l="l" t="t" r="r" b="b"/>
              <a:pathLst>
                <a:path w="118109" h="95250">
                  <a:moveTo>
                    <a:pt x="0" y="0"/>
                  </a:moveTo>
                  <a:lnTo>
                    <a:pt x="0" y="95150"/>
                  </a:lnTo>
                  <a:lnTo>
                    <a:pt x="117753" y="47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797208" y="2880812"/>
            <a:ext cx="784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Payment</a:t>
            </a:r>
            <a:r>
              <a:rPr sz="9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Record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81050" y="2954499"/>
            <a:ext cx="406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497EA5"/>
                </a:solidFill>
                <a:latin typeface="Times New Roman"/>
                <a:cs typeface="Times New Roman"/>
              </a:rPr>
              <a:t>DF-</a:t>
            </a:r>
            <a:r>
              <a:rPr sz="900" b="1" spc="-25" dirty="0">
                <a:solidFill>
                  <a:srgbClr val="497EA5"/>
                </a:solidFill>
                <a:latin typeface="Times New Roman"/>
                <a:cs typeface="Times New Roman"/>
              </a:rPr>
              <a:t>Out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321360" y="3390109"/>
            <a:ext cx="1395095" cy="779780"/>
            <a:chOff x="6321360" y="3390109"/>
            <a:chExt cx="1395095" cy="779780"/>
          </a:xfrm>
        </p:grpSpPr>
        <p:sp>
          <p:nvSpPr>
            <p:cNvPr id="53" name="object 53"/>
            <p:cNvSpPr/>
            <p:nvPr/>
          </p:nvSpPr>
          <p:spPr>
            <a:xfrm>
              <a:off x="6330250" y="3398999"/>
              <a:ext cx="1377315" cy="762000"/>
            </a:xfrm>
            <a:custGeom>
              <a:avLst/>
              <a:gdLst/>
              <a:ahLst/>
              <a:cxnLst/>
              <a:rect l="l" t="t" r="r" b="b"/>
              <a:pathLst>
                <a:path w="1377315" h="762000">
                  <a:moveTo>
                    <a:pt x="0" y="0"/>
                  </a:moveTo>
                  <a:lnTo>
                    <a:pt x="1377250" y="76200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581433" y="4062365"/>
              <a:ext cx="126364" cy="99060"/>
            </a:xfrm>
            <a:custGeom>
              <a:avLst/>
              <a:gdLst/>
              <a:ahLst/>
              <a:cxnLst/>
              <a:rect l="l" t="t" r="r" b="b"/>
              <a:pathLst>
                <a:path w="126365" h="99060">
                  <a:moveTo>
                    <a:pt x="46064" y="0"/>
                  </a:moveTo>
                  <a:lnTo>
                    <a:pt x="0" y="83257"/>
                  </a:lnTo>
                  <a:lnTo>
                    <a:pt x="126066" y="98634"/>
                  </a:lnTo>
                  <a:lnTo>
                    <a:pt x="46064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563494" y="3709133"/>
            <a:ext cx="11557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Payment</a:t>
            </a:r>
            <a:r>
              <a:rPr lang="en-US" sz="900" spc="-1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Confirmation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932297" y="3939196"/>
            <a:ext cx="406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497EA5"/>
                </a:solidFill>
                <a:latin typeface="Times New Roman"/>
                <a:cs typeface="Times New Roman"/>
              </a:rPr>
              <a:t>DF-</a:t>
            </a:r>
            <a:r>
              <a:rPr sz="900" b="1" spc="-25" dirty="0">
                <a:solidFill>
                  <a:srgbClr val="497EA5"/>
                </a:solidFill>
                <a:latin typeface="Times New Roman"/>
                <a:cs typeface="Times New Roman"/>
              </a:rPr>
              <a:t>Out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718110" y="3517109"/>
            <a:ext cx="716280" cy="1135380"/>
            <a:chOff x="5718110" y="3517109"/>
            <a:chExt cx="716280" cy="1135380"/>
          </a:xfrm>
        </p:grpSpPr>
        <p:sp>
          <p:nvSpPr>
            <p:cNvPr id="58" name="object 58"/>
            <p:cNvSpPr/>
            <p:nvPr/>
          </p:nvSpPr>
          <p:spPr>
            <a:xfrm>
              <a:off x="5727000" y="3525999"/>
              <a:ext cx="698500" cy="1117600"/>
            </a:xfrm>
            <a:custGeom>
              <a:avLst/>
              <a:gdLst/>
              <a:ahLst/>
              <a:cxnLst/>
              <a:rect l="l" t="t" r="r" b="b"/>
              <a:pathLst>
                <a:path w="698500" h="1117600">
                  <a:moveTo>
                    <a:pt x="0" y="0"/>
                  </a:moveTo>
                  <a:lnTo>
                    <a:pt x="698500" y="111760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322748" y="4518531"/>
              <a:ext cx="102870" cy="125095"/>
            </a:xfrm>
            <a:custGeom>
              <a:avLst/>
              <a:gdLst/>
              <a:ahLst/>
              <a:cxnLst/>
              <a:rect l="l" t="t" r="r" b="b"/>
              <a:pathLst>
                <a:path w="102870" h="125095">
                  <a:moveTo>
                    <a:pt x="80686" y="0"/>
                  </a:moveTo>
                  <a:lnTo>
                    <a:pt x="0" y="50429"/>
                  </a:lnTo>
                  <a:lnTo>
                    <a:pt x="102751" y="125068"/>
                  </a:lnTo>
                  <a:lnTo>
                    <a:pt x="80686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133099" y="4013293"/>
            <a:ext cx="100965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Transaction</a:t>
            </a:r>
            <a:r>
              <a:rPr lang="en-US" sz="900" spc="-1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Record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22300" y="6010599"/>
            <a:ext cx="4451350" cy="101600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b="1" spc="-10" dirty="0">
                <a:solidFill>
                  <a:srgbClr val="1A1A2D"/>
                </a:solidFill>
                <a:latin typeface="Times New Roman"/>
                <a:cs typeface="Times New Roman"/>
              </a:rPr>
              <a:t>Objective: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08300"/>
              </a:lnSpc>
            </a:pP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Depicts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how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Process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Payments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feature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(05.02)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receives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a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payment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request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from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the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Subscribed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Retailer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and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invoice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data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from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Invoice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Records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store,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then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sends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50" dirty="0">
                <a:solidFill>
                  <a:srgbClr val="1A1A2D"/>
                </a:solidFill>
                <a:latin typeface="Times New Roman"/>
                <a:cs typeface="Times New Roman"/>
              </a:rPr>
              <a:t>a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 payment</a:t>
            </a:r>
            <a:r>
              <a:rPr sz="10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request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to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external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Payment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Gateway,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pushes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the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payment</a:t>
            </a:r>
            <a:r>
              <a:rPr sz="10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record</a:t>
            </a:r>
            <a:r>
              <a:rPr sz="1000" spc="-25" dirty="0">
                <a:solidFill>
                  <a:srgbClr val="1A1A2D"/>
                </a:solidFill>
                <a:latin typeface="Times New Roman"/>
                <a:cs typeface="Times New Roman"/>
              </a:rPr>
              <a:t> to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Spending</a:t>
            </a:r>
            <a:r>
              <a:rPr sz="10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Reports</a:t>
            </a:r>
            <a:r>
              <a:rPr sz="10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and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notification</a:t>
            </a:r>
            <a:r>
              <a:rPr sz="10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routing</a:t>
            </a:r>
            <a:r>
              <a:rPr sz="10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—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highlighting</a:t>
            </a:r>
            <a:r>
              <a:rPr sz="10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DF-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Out</a:t>
            </a:r>
            <a:r>
              <a:rPr sz="10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data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flows</a:t>
            </a:r>
            <a:r>
              <a:rPr sz="1000" spc="-1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within </a:t>
            </a: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Sprint 2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scope.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30068" y="482600"/>
            <a:ext cx="5029200" cy="523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155"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Level</a:t>
            </a:r>
            <a:r>
              <a:rPr sz="16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1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Physical DFD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-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BulkCart</a:t>
            </a:r>
            <a:r>
              <a:rPr sz="16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1A1A2D"/>
                </a:solidFill>
                <a:latin typeface="Times New Roman"/>
                <a:cs typeface="Times New Roman"/>
              </a:rPr>
              <a:t>System</a:t>
            </a:r>
            <a:endParaRPr sz="16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80"/>
              </a:spcBef>
            </a:pP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05.02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Process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Payments</a:t>
            </a:r>
            <a:r>
              <a:rPr sz="16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–</a:t>
            </a:r>
            <a:r>
              <a:rPr sz="1600" spc="-3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A1A2D"/>
                </a:solidFill>
                <a:latin typeface="Times New Roman"/>
                <a:cs typeface="Times New Roman"/>
              </a:rPr>
              <a:t>DF-</a:t>
            </a:r>
            <a:r>
              <a:rPr sz="1600" spc="-25" dirty="0">
                <a:solidFill>
                  <a:srgbClr val="1A1A2D"/>
                </a:solidFill>
                <a:latin typeface="Times New Roman"/>
                <a:cs typeface="Times New Roman"/>
              </a:rPr>
              <a:t>Out</a:t>
            </a:r>
            <a:endParaRPr sz="16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525380" y="830579"/>
            <a:ext cx="548640" cy="345440"/>
            <a:chOff x="8525380" y="830579"/>
            <a:chExt cx="548640" cy="345440"/>
          </a:xfrm>
        </p:grpSpPr>
        <p:sp>
          <p:nvSpPr>
            <p:cNvPr id="4" name="object 4"/>
            <p:cNvSpPr/>
            <p:nvPr/>
          </p:nvSpPr>
          <p:spPr>
            <a:xfrm>
              <a:off x="8533000" y="838199"/>
              <a:ext cx="533400" cy="330200"/>
            </a:xfrm>
            <a:custGeom>
              <a:avLst/>
              <a:gdLst/>
              <a:ahLst/>
              <a:cxnLst/>
              <a:rect l="l" t="t" r="r" b="b"/>
              <a:pathLst>
                <a:path w="533400" h="330200">
                  <a:moveTo>
                    <a:pt x="533400" y="0"/>
                  </a:moveTo>
                  <a:lnTo>
                    <a:pt x="0" y="0"/>
                  </a:lnTo>
                  <a:lnTo>
                    <a:pt x="0" y="330199"/>
                  </a:lnTo>
                  <a:lnTo>
                    <a:pt x="533400" y="330199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C4D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33000" y="838199"/>
              <a:ext cx="533400" cy="330200"/>
            </a:xfrm>
            <a:custGeom>
              <a:avLst/>
              <a:gdLst/>
              <a:ahLst/>
              <a:cxnLst/>
              <a:rect l="l" t="t" r="r" b="b"/>
              <a:pathLst>
                <a:path w="533400" h="330200">
                  <a:moveTo>
                    <a:pt x="0" y="330199"/>
                  </a:moveTo>
                  <a:lnTo>
                    <a:pt x="533400" y="330199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30199"/>
                  </a:lnTo>
                  <a:close/>
                </a:path>
              </a:pathLst>
            </a:custGeom>
            <a:ln w="15239">
              <a:solidFill>
                <a:srgbClr val="7EA5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563480" y="1249679"/>
            <a:ext cx="472440" cy="370840"/>
            <a:chOff x="8563480" y="1249679"/>
            <a:chExt cx="472440" cy="370840"/>
          </a:xfrm>
        </p:grpSpPr>
        <p:sp>
          <p:nvSpPr>
            <p:cNvPr id="7" name="object 7"/>
            <p:cNvSpPr/>
            <p:nvPr/>
          </p:nvSpPr>
          <p:spPr>
            <a:xfrm>
              <a:off x="8571090" y="1320806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4572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44107" y="266103"/>
                  </a:lnTo>
                  <a:lnTo>
                    <a:pt x="93599" y="279844"/>
                  </a:lnTo>
                  <a:lnTo>
                    <a:pt x="156349" y="288861"/>
                  </a:lnTo>
                  <a:lnTo>
                    <a:pt x="228600" y="292100"/>
                  </a:lnTo>
                  <a:lnTo>
                    <a:pt x="300863" y="288861"/>
                  </a:lnTo>
                  <a:lnTo>
                    <a:pt x="363613" y="279844"/>
                  </a:lnTo>
                  <a:lnTo>
                    <a:pt x="413092" y="266103"/>
                  </a:lnTo>
                  <a:lnTo>
                    <a:pt x="445554" y="248666"/>
                  </a:lnTo>
                  <a:lnTo>
                    <a:pt x="457200" y="2286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71100" y="1485899"/>
              <a:ext cx="457200" cy="127000"/>
            </a:xfrm>
            <a:custGeom>
              <a:avLst/>
              <a:gdLst/>
              <a:ahLst/>
              <a:cxnLst/>
              <a:rect l="l" t="t" r="r" b="b"/>
              <a:pathLst>
                <a:path w="457200" h="127000">
                  <a:moveTo>
                    <a:pt x="457200" y="63500"/>
                  </a:moveTo>
                  <a:lnTo>
                    <a:pt x="413093" y="25997"/>
                  </a:lnTo>
                  <a:lnTo>
                    <a:pt x="363608" y="12251"/>
                  </a:lnTo>
                  <a:lnTo>
                    <a:pt x="300855" y="3237"/>
                  </a:lnTo>
                  <a:lnTo>
                    <a:pt x="228600" y="0"/>
                  </a:lnTo>
                  <a:lnTo>
                    <a:pt x="156344" y="3237"/>
                  </a:lnTo>
                  <a:lnTo>
                    <a:pt x="93591" y="12251"/>
                  </a:lnTo>
                  <a:lnTo>
                    <a:pt x="44106" y="25997"/>
                  </a:lnTo>
                  <a:lnTo>
                    <a:pt x="11654" y="43429"/>
                  </a:lnTo>
                  <a:lnTo>
                    <a:pt x="0" y="63500"/>
                  </a:lnTo>
                  <a:lnTo>
                    <a:pt x="11654" y="83570"/>
                  </a:lnTo>
                  <a:lnTo>
                    <a:pt x="44106" y="101002"/>
                  </a:lnTo>
                  <a:lnTo>
                    <a:pt x="93591" y="114748"/>
                  </a:lnTo>
                  <a:lnTo>
                    <a:pt x="156344" y="123762"/>
                  </a:lnTo>
                  <a:lnTo>
                    <a:pt x="228600" y="127000"/>
                  </a:lnTo>
                  <a:lnTo>
                    <a:pt x="300855" y="123762"/>
                  </a:lnTo>
                  <a:lnTo>
                    <a:pt x="363608" y="114748"/>
                  </a:lnTo>
                  <a:lnTo>
                    <a:pt x="413093" y="101002"/>
                  </a:lnTo>
                  <a:lnTo>
                    <a:pt x="445545" y="83570"/>
                  </a:lnTo>
                  <a:lnTo>
                    <a:pt x="457200" y="63500"/>
                  </a:lnTo>
                </a:path>
              </a:pathLst>
            </a:custGeom>
            <a:ln w="1524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71100" y="1257299"/>
              <a:ext cx="457200" cy="127000"/>
            </a:xfrm>
            <a:custGeom>
              <a:avLst/>
              <a:gdLst/>
              <a:ahLst/>
              <a:cxnLst/>
              <a:rect l="l" t="t" r="r" b="b"/>
              <a:pathLst>
                <a:path w="457200" h="127000">
                  <a:moveTo>
                    <a:pt x="228600" y="0"/>
                  </a:moveTo>
                  <a:lnTo>
                    <a:pt x="156344" y="3237"/>
                  </a:lnTo>
                  <a:lnTo>
                    <a:pt x="93591" y="12251"/>
                  </a:lnTo>
                  <a:lnTo>
                    <a:pt x="44106" y="25997"/>
                  </a:lnTo>
                  <a:lnTo>
                    <a:pt x="0" y="63500"/>
                  </a:lnTo>
                  <a:lnTo>
                    <a:pt x="11654" y="83570"/>
                  </a:lnTo>
                  <a:lnTo>
                    <a:pt x="44106" y="101002"/>
                  </a:lnTo>
                  <a:lnTo>
                    <a:pt x="93591" y="114748"/>
                  </a:lnTo>
                  <a:lnTo>
                    <a:pt x="156344" y="123762"/>
                  </a:lnTo>
                  <a:lnTo>
                    <a:pt x="228600" y="127000"/>
                  </a:lnTo>
                  <a:lnTo>
                    <a:pt x="300855" y="123762"/>
                  </a:lnTo>
                  <a:lnTo>
                    <a:pt x="363608" y="114748"/>
                  </a:lnTo>
                  <a:lnTo>
                    <a:pt x="413093" y="101002"/>
                  </a:lnTo>
                  <a:lnTo>
                    <a:pt x="445545" y="83570"/>
                  </a:lnTo>
                  <a:lnTo>
                    <a:pt x="457200" y="63500"/>
                  </a:lnTo>
                  <a:lnTo>
                    <a:pt x="445545" y="43429"/>
                  </a:lnTo>
                  <a:lnTo>
                    <a:pt x="413093" y="25997"/>
                  </a:lnTo>
                  <a:lnTo>
                    <a:pt x="363608" y="12251"/>
                  </a:lnTo>
                  <a:lnTo>
                    <a:pt x="300855" y="323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A8C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71100" y="1257299"/>
              <a:ext cx="457200" cy="292100"/>
            </a:xfrm>
            <a:custGeom>
              <a:avLst/>
              <a:gdLst/>
              <a:ahLst/>
              <a:cxnLst/>
              <a:rect l="l" t="t" r="r" b="b"/>
              <a:pathLst>
                <a:path w="457200" h="292100">
                  <a:moveTo>
                    <a:pt x="457200" y="63500"/>
                  </a:moveTo>
                  <a:lnTo>
                    <a:pt x="413093" y="25997"/>
                  </a:lnTo>
                  <a:lnTo>
                    <a:pt x="363608" y="12251"/>
                  </a:lnTo>
                  <a:lnTo>
                    <a:pt x="300855" y="3237"/>
                  </a:lnTo>
                  <a:lnTo>
                    <a:pt x="228600" y="0"/>
                  </a:lnTo>
                  <a:lnTo>
                    <a:pt x="156344" y="3237"/>
                  </a:lnTo>
                  <a:lnTo>
                    <a:pt x="93591" y="12251"/>
                  </a:lnTo>
                  <a:lnTo>
                    <a:pt x="44106" y="25997"/>
                  </a:lnTo>
                  <a:lnTo>
                    <a:pt x="11654" y="43429"/>
                  </a:lnTo>
                  <a:lnTo>
                    <a:pt x="0" y="63500"/>
                  </a:lnTo>
                  <a:lnTo>
                    <a:pt x="11654" y="83570"/>
                  </a:lnTo>
                  <a:lnTo>
                    <a:pt x="44106" y="101002"/>
                  </a:lnTo>
                  <a:lnTo>
                    <a:pt x="93591" y="114748"/>
                  </a:lnTo>
                  <a:lnTo>
                    <a:pt x="156344" y="123762"/>
                  </a:lnTo>
                  <a:lnTo>
                    <a:pt x="228600" y="127000"/>
                  </a:lnTo>
                  <a:lnTo>
                    <a:pt x="300855" y="123762"/>
                  </a:lnTo>
                  <a:lnTo>
                    <a:pt x="363608" y="114748"/>
                  </a:lnTo>
                  <a:lnTo>
                    <a:pt x="413093" y="101002"/>
                  </a:lnTo>
                  <a:lnTo>
                    <a:pt x="445545" y="83570"/>
                  </a:lnTo>
                  <a:lnTo>
                    <a:pt x="457200" y="63500"/>
                  </a:lnTo>
                </a:path>
                <a:path w="457200" h="292100">
                  <a:moveTo>
                    <a:pt x="0" y="292100"/>
                  </a:moveTo>
                  <a:lnTo>
                    <a:pt x="0" y="63500"/>
                  </a:lnTo>
                </a:path>
                <a:path w="457200" h="292100">
                  <a:moveTo>
                    <a:pt x="457200" y="292100"/>
                  </a:moveTo>
                  <a:lnTo>
                    <a:pt x="457200" y="63500"/>
                  </a:lnTo>
                </a:path>
              </a:pathLst>
            </a:custGeom>
            <a:ln w="1524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155300" y="927099"/>
            <a:ext cx="6502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User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Stories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55300" y="1333499"/>
            <a:ext cx="6146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A1A2D"/>
                </a:solidFill>
                <a:latin typeface="Times New Roman"/>
                <a:cs typeface="Times New Roman"/>
              </a:rPr>
              <a:t>Data</a:t>
            </a:r>
            <a:r>
              <a:rPr sz="10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A1A2D"/>
                </a:solidFill>
                <a:latin typeface="Times New Roman"/>
                <a:cs typeface="Times New Roman"/>
              </a:rPr>
              <a:t>Stores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50320" y="2752569"/>
            <a:ext cx="1991360" cy="784860"/>
            <a:chOff x="4350320" y="2752569"/>
            <a:chExt cx="1991360" cy="784860"/>
          </a:xfrm>
        </p:grpSpPr>
        <p:sp>
          <p:nvSpPr>
            <p:cNvPr id="14" name="object 14"/>
            <p:cNvSpPr/>
            <p:nvPr/>
          </p:nvSpPr>
          <p:spPr>
            <a:xfrm>
              <a:off x="4361750" y="2763999"/>
              <a:ext cx="1968500" cy="762000"/>
            </a:xfrm>
            <a:custGeom>
              <a:avLst/>
              <a:gdLst/>
              <a:ahLst/>
              <a:cxnLst/>
              <a:rect l="l" t="t" r="r" b="b"/>
              <a:pathLst>
                <a:path w="1968500" h="762000">
                  <a:moveTo>
                    <a:pt x="1816100" y="0"/>
                  </a:moveTo>
                  <a:lnTo>
                    <a:pt x="152400" y="0"/>
                  </a:lnTo>
                  <a:lnTo>
                    <a:pt x="104199" y="7761"/>
                  </a:lnTo>
                  <a:lnTo>
                    <a:pt x="62360" y="29381"/>
                  </a:lnTo>
                  <a:lnTo>
                    <a:pt x="29381" y="62360"/>
                  </a:lnTo>
                  <a:lnTo>
                    <a:pt x="7761" y="104199"/>
                  </a:lnTo>
                  <a:lnTo>
                    <a:pt x="0" y="152400"/>
                  </a:lnTo>
                  <a:lnTo>
                    <a:pt x="0" y="609600"/>
                  </a:lnTo>
                  <a:lnTo>
                    <a:pt x="7761" y="657800"/>
                  </a:lnTo>
                  <a:lnTo>
                    <a:pt x="29381" y="699639"/>
                  </a:lnTo>
                  <a:lnTo>
                    <a:pt x="62360" y="732618"/>
                  </a:lnTo>
                  <a:lnTo>
                    <a:pt x="104199" y="754238"/>
                  </a:lnTo>
                  <a:lnTo>
                    <a:pt x="152400" y="762000"/>
                  </a:lnTo>
                  <a:lnTo>
                    <a:pt x="1816100" y="762000"/>
                  </a:lnTo>
                  <a:lnTo>
                    <a:pt x="1864300" y="754238"/>
                  </a:lnTo>
                  <a:lnTo>
                    <a:pt x="1906139" y="732618"/>
                  </a:lnTo>
                  <a:lnTo>
                    <a:pt x="1939118" y="699639"/>
                  </a:lnTo>
                  <a:lnTo>
                    <a:pt x="1960738" y="657800"/>
                  </a:lnTo>
                  <a:lnTo>
                    <a:pt x="1968500" y="609600"/>
                  </a:lnTo>
                  <a:lnTo>
                    <a:pt x="1968500" y="152400"/>
                  </a:lnTo>
                  <a:lnTo>
                    <a:pt x="1960738" y="104199"/>
                  </a:lnTo>
                  <a:lnTo>
                    <a:pt x="1939118" y="62360"/>
                  </a:lnTo>
                  <a:lnTo>
                    <a:pt x="1906139" y="29381"/>
                  </a:lnTo>
                  <a:lnTo>
                    <a:pt x="1864300" y="7761"/>
                  </a:lnTo>
                  <a:lnTo>
                    <a:pt x="1816100" y="0"/>
                  </a:lnTo>
                  <a:close/>
                </a:path>
              </a:pathLst>
            </a:custGeom>
            <a:solidFill>
              <a:srgbClr val="D4ED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61750" y="2763999"/>
              <a:ext cx="1968500" cy="762000"/>
            </a:xfrm>
            <a:custGeom>
              <a:avLst/>
              <a:gdLst/>
              <a:ahLst/>
              <a:cxnLst/>
              <a:rect l="l" t="t" r="r" b="b"/>
              <a:pathLst>
                <a:path w="1968500" h="762000">
                  <a:moveTo>
                    <a:pt x="152400" y="762000"/>
                  </a:moveTo>
                  <a:lnTo>
                    <a:pt x="1816100" y="762000"/>
                  </a:lnTo>
                  <a:lnTo>
                    <a:pt x="1864300" y="754238"/>
                  </a:lnTo>
                  <a:lnTo>
                    <a:pt x="1906139" y="732618"/>
                  </a:lnTo>
                  <a:lnTo>
                    <a:pt x="1939118" y="699639"/>
                  </a:lnTo>
                  <a:lnTo>
                    <a:pt x="1960738" y="657800"/>
                  </a:lnTo>
                  <a:lnTo>
                    <a:pt x="1968500" y="609600"/>
                  </a:lnTo>
                  <a:lnTo>
                    <a:pt x="1968500" y="152400"/>
                  </a:lnTo>
                  <a:lnTo>
                    <a:pt x="1960738" y="104199"/>
                  </a:lnTo>
                  <a:lnTo>
                    <a:pt x="1939118" y="62360"/>
                  </a:lnTo>
                  <a:lnTo>
                    <a:pt x="1906139" y="29381"/>
                  </a:lnTo>
                  <a:lnTo>
                    <a:pt x="1864300" y="7761"/>
                  </a:lnTo>
                  <a:lnTo>
                    <a:pt x="1816100" y="0"/>
                  </a:lnTo>
                  <a:lnTo>
                    <a:pt x="152400" y="0"/>
                  </a:lnTo>
                  <a:lnTo>
                    <a:pt x="104199" y="7761"/>
                  </a:lnTo>
                  <a:lnTo>
                    <a:pt x="62360" y="29381"/>
                  </a:lnTo>
                  <a:lnTo>
                    <a:pt x="29381" y="62360"/>
                  </a:lnTo>
                  <a:lnTo>
                    <a:pt x="7761" y="104199"/>
                  </a:lnTo>
                  <a:lnTo>
                    <a:pt x="0" y="152400"/>
                  </a:lnTo>
                  <a:lnTo>
                    <a:pt x="0" y="609600"/>
                  </a:lnTo>
                  <a:lnTo>
                    <a:pt x="7761" y="657800"/>
                  </a:lnTo>
                  <a:lnTo>
                    <a:pt x="29381" y="699639"/>
                  </a:lnTo>
                  <a:lnTo>
                    <a:pt x="62360" y="732618"/>
                  </a:lnTo>
                  <a:lnTo>
                    <a:pt x="104199" y="754238"/>
                  </a:lnTo>
                  <a:lnTo>
                    <a:pt x="152400" y="762000"/>
                  </a:lnTo>
                  <a:close/>
                </a:path>
              </a:pathLst>
            </a:custGeom>
            <a:ln w="22860">
              <a:solidFill>
                <a:srgbClr val="598C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015831" y="2954499"/>
            <a:ext cx="660400" cy="3022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07314" marR="5080" indent="-95250">
              <a:lnSpc>
                <a:spcPct val="101899"/>
              </a:lnSpc>
              <a:spcBef>
                <a:spcPts val="80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05.02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Process Payments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6000" y="27004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730250" marR="722630" algn="ctr">
              <a:lnSpc>
                <a:spcPct val="101899"/>
              </a:lnSpc>
              <a:spcBef>
                <a:spcPts val="5"/>
              </a:spcBef>
            </a:pP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Subscribed Retailer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07500" y="17479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677545" marR="669925" indent="-635" algn="ctr">
              <a:lnSpc>
                <a:spcPct val="101899"/>
              </a:lnSpc>
              <a:spcBef>
                <a:spcPts val="5"/>
              </a:spcBef>
            </a:pP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Payment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Gateway</a:t>
            </a:r>
            <a:r>
              <a:rPr sz="900" spc="-3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20" dirty="0">
                <a:solidFill>
                  <a:srgbClr val="1A1A2D"/>
                </a:solidFill>
                <a:latin typeface="Times New Roman"/>
                <a:cs typeface="Times New Roman"/>
              </a:rPr>
              <a:t>(SI)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07500" y="27639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575945" marR="568325" indent="58419">
              <a:lnSpc>
                <a:spcPct val="101899"/>
              </a:lnSpc>
              <a:spcBef>
                <a:spcPts val="5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05.03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Generate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Spending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Reports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07500" y="3779999"/>
            <a:ext cx="1968500" cy="762000"/>
          </a:xfrm>
          <a:prstGeom prst="rect">
            <a:avLst/>
          </a:prstGeom>
          <a:solidFill>
            <a:srgbClr val="C4D8E8"/>
          </a:solidFill>
          <a:ln w="19050">
            <a:solidFill>
              <a:srgbClr val="7EA5C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Times New Roman"/>
              <a:cs typeface="Times New Roman"/>
            </a:endParaRPr>
          </a:p>
          <a:p>
            <a:pPr marL="460375" marR="452755" indent="104139">
              <a:lnSpc>
                <a:spcPct val="101899"/>
              </a:lnSpc>
              <a:spcBef>
                <a:spcPts val="5"/>
              </a:spcBef>
            </a:pP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01.07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Notification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Preferences</a:t>
            </a:r>
            <a:r>
              <a:rPr sz="900" spc="-25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sz="900" spc="-20" dirty="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1A1A2D"/>
                </a:solidFill>
                <a:latin typeface="Times New Roman"/>
                <a:cs typeface="Times New Roman"/>
              </a:rPr>
              <a:t>Routing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975610" y="3033924"/>
            <a:ext cx="1934845" cy="2088514"/>
            <a:chOff x="2975610" y="3033924"/>
            <a:chExt cx="1934845" cy="2088514"/>
          </a:xfrm>
        </p:grpSpPr>
        <p:sp>
          <p:nvSpPr>
            <p:cNvPr id="36" name="object 36"/>
            <p:cNvSpPr/>
            <p:nvPr/>
          </p:nvSpPr>
          <p:spPr>
            <a:xfrm>
              <a:off x="2984500" y="3081499"/>
              <a:ext cx="1377315" cy="0"/>
            </a:xfrm>
            <a:custGeom>
              <a:avLst/>
              <a:gdLst/>
              <a:ahLst/>
              <a:cxnLst/>
              <a:rect l="l" t="t" r="r" b="b"/>
              <a:pathLst>
                <a:path w="1377314">
                  <a:moveTo>
                    <a:pt x="0" y="0"/>
                  </a:moveTo>
                  <a:lnTo>
                    <a:pt x="137725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243997" y="3033924"/>
              <a:ext cx="118110" cy="95250"/>
            </a:xfrm>
            <a:custGeom>
              <a:avLst/>
              <a:gdLst/>
              <a:ahLst/>
              <a:cxnLst/>
              <a:rect l="l" t="t" r="r" b="b"/>
              <a:pathLst>
                <a:path w="118110" h="95250">
                  <a:moveTo>
                    <a:pt x="0" y="0"/>
                  </a:moveTo>
                  <a:lnTo>
                    <a:pt x="0" y="95150"/>
                  </a:lnTo>
                  <a:lnTo>
                    <a:pt x="117753" y="47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42750" y="3525999"/>
              <a:ext cx="158750" cy="1587500"/>
            </a:xfrm>
            <a:custGeom>
              <a:avLst/>
              <a:gdLst/>
              <a:ahLst/>
              <a:cxnLst/>
              <a:rect l="l" t="t" r="r" b="b"/>
              <a:pathLst>
                <a:path w="158750" h="1587500">
                  <a:moveTo>
                    <a:pt x="158750" y="1587500"/>
                  </a:moveTo>
                  <a:lnTo>
                    <a:pt x="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07127" y="3525999"/>
              <a:ext cx="95250" cy="121920"/>
            </a:xfrm>
            <a:custGeom>
              <a:avLst/>
              <a:gdLst/>
              <a:ahLst/>
              <a:cxnLst/>
              <a:rect l="l" t="t" r="r" b="b"/>
              <a:pathLst>
                <a:path w="95250" h="121920">
                  <a:moveTo>
                    <a:pt x="35622" y="0"/>
                  </a:moveTo>
                  <a:lnTo>
                    <a:pt x="0" y="121902"/>
                  </a:lnTo>
                  <a:lnTo>
                    <a:pt x="94677" y="112434"/>
                  </a:lnTo>
                  <a:lnTo>
                    <a:pt x="35622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047090" y="2827499"/>
            <a:ext cx="127952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Invoice</a:t>
            </a:r>
            <a:r>
              <a:rPr sz="9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Payment</a:t>
            </a:r>
            <a:r>
              <a:rPr lang="en-US" sz="900" spc="-1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Request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767616" y="4120465"/>
            <a:ext cx="107632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Invoice Amount</a:t>
            </a:r>
            <a:r>
              <a:rPr lang="en-US" sz="90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Due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321360" y="2120109"/>
            <a:ext cx="1395095" cy="779780"/>
            <a:chOff x="6321360" y="2120109"/>
            <a:chExt cx="1395095" cy="779780"/>
          </a:xfrm>
        </p:grpSpPr>
        <p:sp>
          <p:nvSpPr>
            <p:cNvPr id="43" name="object 43"/>
            <p:cNvSpPr/>
            <p:nvPr/>
          </p:nvSpPr>
          <p:spPr>
            <a:xfrm>
              <a:off x="6330250" y="2128999"/>
              <a:ext cx="1377315" cy="762000"/>
            </a:xfrm>
            <a:custGeom>
              <a:avLst/>
              <a:gdLst/>
              <a:ahLst/>
              <a:cxnLst/>
              <a:rect l="l" t="t" r="r" b="b"/>
              <a:pathLst>
                <a:path w="1377315" h="762000">
                  <a:moveTo>
                    <a:pt x="0" y="762000"/>
                  </a:moveTo>
                  <a:lnTo>
                    <a:pt x="137725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581433" y="2128999"/>
              <a:ext cx="126364" cy="99060"/>
            </a:xfrm>
            <a:custGeom>
              <a:avLst/>
              <a:gdLst/>
              <a:ahLst/>
              <a:cxnLst/>
              <a:rect l="l" t="t" r="r" b="b"/>
              <a:pathLst>
                <a:path w="126365" h="99060">
                  <a:moveTo>
                    <a:pt x="126066" y="0"/>
                  </a:moveTo>
                  <a:lnTo>
                    <a:pt x="0" y="15378"/>
                  </a:lnTo>
                  <a:lnTo>
                    <a:pt x="46064" y="98634"/>
                  </a:lnTo>
                  <a:lnTo>
                    <a:pt x="126066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381050" y="2273778"/>
            <a:ext cx="8223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Payment</a:t>
            </a:r>
            <a:r>
              <a:rPr sz="9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Request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628876" y="2110396"/>
            <a:ext cx="406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497EA5"/>
                </a:solidFill>
                <a:latin typeface="Times New Roman"/>
                <a:cs typeface="Times New Roman"/>
              </a:rPr>
              <a:t>DF-</a:t>
            </a:r>
            <a:r>
              <a:rPr sz="900" b="1" spc="-25" dirty="0">
                <a:solidFill>
                  <a:srgbClr val="497EA5"/>
                </a:solidFill>
                <a:latin typeface="Times New Roman"/>
                <a:cs typeface="Times New Roman"/>
              </a:rPr>
              <a:t>Out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321360" y="3097424"/>
            <a:ext cx="1395095" cy="95250"/>
            <a:chOff x="6321360" y="3097424"/>
            <a:chExt cx="1395095" cy="95250"/>
          </a:xfrm>
        </p:grpSpPr>
        <p:sp>
          <p:nvSpPr>
            <p:cNvPr id="48" name="object 48"/>
            <p:cNvSpPr/>
            <p:nvPr/>
          </p:nvSpPr>
          <p:spPr>
            <a:xfrm>
              <a:off x="6330250" y="3144999"/>
              <a:ext cx="1377315" cy="0"/>
            </a:xfrm>
            <a:custGeom>
              <a:avLst/>
              <a:gdLst/>
              <a:ahLst/>
              <a:cxnLst/>
              <a:rect l="l" t="t" r="r" b="b"/>
              <a:pathLst>
                <a:path w="1377315">
                  <a:moveTo>
                    <a:pt x="0" y="0"/>
                  </a:moveTo>
                  <a:lnTo>
                    <a:pt x="1377250" y="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589747" y="3097424"/>
              <a:ext cx="118110" cy="95250"/>
            </a:xfrm>
            <a:custGeom>
              <a:avLst/>
              <a:gdLst/>
              <a:ahLst/>
              <a:cxnLst/>
              <a:rect l="l" t="t" r="r" b="b"/>
              <a:pathLst>
                <a:path w="118109" h="95250">
                  <a:moveTo>
                    <a:pt x="0" y="0"/>
                  </a:moveTo>
                  <a:lnTo>
                    <a:pt x="0" y="95150"/>
                  </a:lnTo>
                  <a:lnTo>
                    <a:pt x="117753" y="47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797208" y="2880812"/>
            <a:ext cx="784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Times New Roman"/>
                <a:cs typeface="Times New Roman"/>
              </a:rPr>
              <a:t>Payment</a:t>
            </a:r>
            <a:r>
              <a:rPr sz="9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Record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81050" y="2954499"/>
            <a:ext cx="406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497EA5"/>
                </a:solidFill>
                <a:latin typeface="Times New Roman"/>
                <a:cs typeface="Times New Roman"/>
              </a:rPr>
              <a:t>DF-</a:t>
            </a:r>
            <a:r>
              <a:rPr sz="900" b="1" spc="-25" dirty="0">
                <a:solidFill>
                  <a:srgbClr val="497EA5"/>
                </a:solidFill>
                <a:latin typeface="Times New Roman"/>
                <a:cs typeface="Times New Roman"/>
              </a:rPr>
              <a:t>Out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321360" y="3390109"/>
            <a:ext cx="1395095" cy="779780"/>
            <a:chOff x="6321360" y="3390109"/>
            <a:chExt cx="1395095" cy="779780"/>
          </a:xfrm>
        </p:grpSpPr>
        <p:sp>
          <p:nvSpPr>
            <p:cNvPr id="53" name="object 53"/>
            <p:cNvSpPr/>
            <p:nvPr/>
          </p:nvSpPr>
          <p:spPr>
            <a:xfrm>
              <a:off x="6330250" y="3398999"/>
              <a:ext cx="1377315" cy="762000"/>
            </a:xfrm>
            <a:custGeom>
              <a:avLst/>
              <a:gdLst/>
              <a:ahLst/>
              <a:cxnLst/>
              <a:rect l="l" t="t" r="r" b="b"/>
              <a:pathLst>
                <a:path w="1377315" h="762000">
                  <a:moveTo>
                    <a:pt x="0" y="0"/>
                  </a:moveTo>
                  <a:lnTo>
                    <a:pt x="1377250" y="76200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581433" y="4062365"/>
              <a:ext cx="126364" cy="99060"/>
            </a:xfrm>
            <a:custGeom>
              <a:avLst/>
              <a:gdLst/>
              <a:ahLst/>
              <a:cxnLst/>
              <a:rect l="l" t="t" r="r" b="b"/>
              <a:pathLst>
                <a:path w="126365" h="99060">
                  <a:moveTo>
                    <a:pt x="46064" y="0"/>
                  </a:moveTo>
                  <a:lnTo>
                    <a:pt x="0" y="83257"/>
                  </a:lnTo>
                  <a:lnTo>
                    <a:pt x="126066" y="98634"/>
                  </a:lnTo>
                  <a:lnTo>
                    <a:pt x="46064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563494" y="3709133"/>
            <a:ext cx="11557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Payment</a:t>
            </a:r>
            <a:r>
              <a:rPr lang="en-US" sz="900" spc="-1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Confirmation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932297" y="3939196"/>
            <a:ext cx="406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497EA5"/>
                </a:solidFill>
                <a:latin typeface="Times New Roman"/>
                <a:cs typeface="Times New Roman"/>
              </a:rPr>
              <a:t>DF-</a:t>
            </a:r>
            <a:r>
              <a:rPr sz="900" b="1" spc="-25" dirty="0">
                <a:solidFill>
                  <a:srgbClr val="497EA5"/>
                </a:solidFill>
                <a:latin typeface="Times New Roman"/>
                <a:cs typeface="Times New Roman"/>
              </a:rPr>
              <a:t>Out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718110" y="3517109"/>
            <a:ext cx="716280" cy="1135380"/>
            <a:chOff x="5718110" y="3517109"/>
            <a:chExt cx="716280" cy="1135380"/>
          </a:xfrm>
        </p:grpSpPr>
        <p:sp>
          <p:nvSpPr>
            <p:cNvPr id="58" name="object 58"/>
            <p:cNvSpPr/>
            <p:nvPr/>
          </p:nvSpPr>
          <p:spPr>
            <a:xfrm>
              <a:off x="5727000" y="3525999"/>
              <a:ext cx="698500" cy="1117600"/>
            </a:xfrm>
            <a:custGeom>
              <a:avLst/>
              <a:gdLst/>
              <a:ahLst/>
              <a:cxnLst/>
              <a:rect l="l" t="t" r="r" b="b"/>
              <a:pathLst>
                <a:path w="698500" h="1117600">
                  <a:moveTo>
                    <a:pt x="0" y="0"/>
                  </a:moveTo>
                  <a:lnTo>
                    <a:pt x="698500" y="1117600"/>
                  </a:lnTo>
                </a:path>
              </a:pathLst>
            </a:custGeom>
            <a:ln w="17780">
              <a:solidFill>
                <a:srgbClr val="497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322748" y="4518531"/>
              <a:ext cx="102870" cy="125095"/>
            </a:xfrm>
            <a:custGeom>
              <a:avLst/>
              <a:gdLst/>
              <a:ahLst/>
              <a:cxnLst/>
              <a:rect l="l" t="t" r="r" b="b"/>
              <a:pathLst>
                <a:path w="102870" h="125095">
                  <a:moveTo>
                    <a:pt x="80686" y="0"/>
                  </a:moveTo>
                  <a:lnTo>
                    <a:pt x="0" y="50429"/>
                  </a:lnTo>
                  <a:lnTo>
                    <a:pt x="102751" y="125068"/>
                  </a:lnTo>
                  <a:lnTo>
                    <a:pt x="80686" y="0"/>
                  </a:lnTo>
                  <a:close/>
                </a:path>
              </a:pathLst>
            </a:custGeom>
            <a:solidFill>
              <a:srgbClr val="497E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133099" y="4013293"/>
            <a:ext cx="100965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Transaction</a:t>
            </a:r>
            <a:r>
              <a:rPr lang="en-US" sz="900" spc="-10" dirty="0">
                <a:solidFill>
                  <a:srgbClr val="333333"/>
                </a:solidFill>
                <a:latin typeface="MS Gothic"/>
                <a:cs typeface="Times New Roman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Times New Roman"/>
                <a:cs typeface="Times New Roman"/>
              </a:rPr>
              <a:t>Record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017520" y="4480560"/>
            <a:ext cx="19202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9144" rIns="18288" bIns="9144" rtlCol="0" anchor="ctr"/>
          <a:lstStyle/>
          <a:p>
            <a:pPr algn="ctr"/>
            <a:r>
              <a:rPr sz="1100" b="1" u="sng">
                <a:solidFill>
                  <a:srgbClr val="C00000"/>
                </a:solidFill>
                <a:latin typeface="Times New Roman"/>
              </a:rPr>
              <a:t>Order (Invoice)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0" y="466344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 u="sng">
                <a:solidFill>
                  <a:srgbClr val="000000"/>
                </a:solidFill>
                <a:latin typeface="Times New Roman"/>
              </a:rPr>
              <a:t>id (PK)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17520" y="484632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 u="sng">
                <a:solidFill>
                  <a:srgbClr val="000000"/>
                </a:solidFill>
                <a:latin typeface="Times New Roman"/>
              </a:rPr>
              <a:t>customerId (FK → User.id)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502920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 u="sng">
                <a:solidFill>
                  <a:srgbClr val="000000"/>
                </a:solidFill>
                <a:latin typeface="Times New Roman"/>
              </a:rPr>
              <a:t>vendorId (FK → User.id)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17520" y="521208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total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539496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paymentStatus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557784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paymentReference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17520" y="576072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paymentMethod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23560" y="4480560"/>
            <a:ext cx="19202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9144" rIns="18288" bIns="9144" rtlCol="0" anchor="ctr"/>
          <a:lstStyle/>
          <a:p>
            <a:pPr algn="ctr"/>
            <a:r>
              <a:rPr sz="1100" b="1" u="sng">
                <a:solidFill>
                  <a:srgbClr val="C00000"/>
                </a:solidFill>
                <a:latin typeface="Times New Roman"/>
              </a:rPr>
              <a:t>Payment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23560" y="466344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 u="sng">
                <a:solidFill>
                  <a:srgbClr val="000000"/>
                </a:solidFill>
                <a:latin typeface="Times New Roman"/>
              </a:rPr>
              <a:t>id (PK)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23560" y="484632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 u="sng">
                <a:solidFill>
                  <a:srgbClr val="000000"/>
                </a:solidFill>
                <a:latin typeface="Times New Roman"/>
              </a:rPr>
              <a:t>userId (FK → User.id)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23560" y="502920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amount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23560" y="521208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currency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23560" y="539496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status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23560" y="557784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gateway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23560" y="5760720"/>
            <a:ext cx="19202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447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cardLast4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424</Words>
  <Application>Microsoft Macintosh PowerPoint</Application>
  <PresentationFormat>Custom</PresentationFormat>
  <Paragraphs>116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MS Gothic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BulkCart – Level 1 DFD – Sprint 2</dc:title>
  <dc:subject>unspecified</dc:subject>
  <dc:creator>anonymous</dc:creator>
  <cp:lastModifiedBy>Meet Mangukiya</cp:lastModifiedBy>
  <cp:revision>3</cp:revision>
  <dcterms:created xsi:type="dcterms:W3CDTF">2026-04-03T14:11:52Z</dcterms:created>
  <dcterms:modified xsi:type="dcterms:W3CDTF">2026-04-12T02:47:10Z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2026-04-03T00:00:00Z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2026-04-03T00:00:00Z</vt:filetime>
  </property>
  <property fmtid="{D5CDD505-2E9C-101B-9397-08002B2CF9AE}" pid="5" name="Producer">
    <vt:lpwstr>ReportLab PDF Library - (opensource)</vt:lpwstr>
  </property>
</Properties>
</file>