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192"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266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834640" y="484632"/>
            <a:ext cx="5029200" cy="521208"/>
          </a:xfrm>
          <a:prstGeom prst="rect">
            <a:avLst/>
          </a:prstGeom>
          <a:noFill/>
          <a:ln/>
        </p:spPr>
        <p:txBody>
          <a:bodyPr wrap="square" rtlCol="0" anchor="ctr"/>
          <a:lstStyle/>
          <a:p>
            <a:pPr marL="0" indent="0" algn="ctr">
              <a:buNone/>
            </a:pPr>
            <a:r>
              <a:rPr lang="en-US" sz="1600" dirty="0">
                <a:solidFill>
                  <a:srgbClr val="1A1A2D"/>
                </a:solidFill>
                <a:latin typeface="Calibri" pitchFamily="34" charset="0"/>
                <a:ea typeface="Calibri" pitchFamily="34" charset="-122"/>
                <a:cs typeface="Calibri" pitchFamily="34" charset="-120"/>
              </a:rPr>
              <a:t>Level 1 Logical DFD - BulkCart System</a:t>
            </a:r>
            <a:endParaRPr lang="en-US" sz="1600" dirty="0"/>
          </a:p>
          <a:p>
            <a:pPr marL="0" indent="0" algn="ctr">
              <a:buNone/>
            </a:pPr>
            <a:r>
              <a:rPr lang="en-US" sz="1600" dirty="0">
                <a:solidFill>
                  <a:srgbClr val="1A1A2D"/>
                </a:solidFill>
                <a:latin typeface="Calibri" pitchFamily="34" charset="0"/>
                <a:ea typeface="Calibri" pitchFamily="34" charset="-122"/>
                <a:cs typeface="Calibri" pitchFamily="34" charset="-120"/>
              </a:rPr>
              <a:t>04.05 Delivery Exception Handling &amp; Re-Shipment – DF-In</a:t>
            </a:r>
            <a:endParaRPr lang="en-US" sz="1600" dirty="0"/>
          </a:p>
        </p:txBody>
      </p:sp>
      <p:sp>
        <p:nvSpPr>
          <p:cNvPr id="3" name="Shape 1"/>
          <p:cNvSpPr/>
          <p:nvPr/>
        </p:nvSpPr>
        <p:spPr>
          <a:xfrm>
            <a:off x="8522208" y="832104"/>
            <a:ext cx="548640" cy="347472"/>
          </a:xfrm>
          <a:prstGeom prst="roundRect">
            <a:avLst>
              <a:gd name="adj" fmla="val 13158"/>
            </a:avLst>
          </a:prstGeom>
          <a:solidFill>
            <a:srgbClr val="C4D8E8"/>
          </a:solidFill>
          <a:ln w="9525">
            <a:solidFill>
              <a:srgbClr val="7EB2CC"/>
            </a:solidFill>
            <a:prstDash val="solid"/>
          </a:ln>
        </p:spPr>
        <p:txBody>
          <a:bodyPr/>
          <a:lstStyle/>
          <a:p>
            <a:endParaRPr lang="en-US"/>
          </a:p>
        </p:txBody>
      </p:sp>
      <p:sp>
        <p:nvSpPr>
          <p:cNvPr id="4" name="Text 2"/>
          <p:cNvSpPr/>
          <p:nvPr/>
        </p:nvSpPr>
        <p:spPr>
          <a:xfrm>
            <a:off x="9153144" y="92354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User Stories</a:t>
            </a:r>
            <a:endParaRPr lang="en-US" sz="1000" dirty="0"/>
          </a:p>
        </p:txBody>
      </p:sp>
      <p:sp>
        <p:nvSpPr>
          <p:cNvPr id="5" name="Shape 3"/>
          <p:cNvSpPr/>
          <p:nvPr/>
        </p:nvSpPr>
        <p:spPr>
          <a:xfrm>
            <a:off x="8567928" y="1252728"/>
            <a:ext cx="475488" cy="374904"/>
          </a:xfrm>
          <a:prstGeom prst="can">
            <a:avLst/>
          </a:prstGeom>
          <a:solidFill>
            <a:srgbClr val="9DC3E6"/>
          </a:solidFill>
          <a:ln w="9525">
            <a:solidFill>
              <a:srgbClr val="4472C4"/>
            </a:solidFill>
            <a:prstDash val="solid"/>
          </a:ln>
        </p:spPr>
        <p:txBody>
          <a:bodyPr/>
          <a:lstStyle/>
          <a:p>
            <a:endParaRPr lang="en-US"/>
          </a:p>
        </p:txBody>
      </p:sp>
      <p:sp>
        <p:nvSpPr>
          <p:cNvPr id="6" name="Text 4"/>
          <p:cNvSpPr/>
          <p:nvPr/>
        </p:nvSpPr>
        <p:spPr>
          <a:xfrm>
            <a:off x="9153144" y="133502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Data Stores</a:t>
            </a:r>
            <a:endParaRPr lang="en-US" sz="1000" dirty="0"/>
          </a:p>
        </p:txBody>
      </p:sp>
      <p:sp>
        <p:nvSpPr>
          <p:cNvPr id="7" name="Shape 5"/>
          <p:cNvSpPr/>
          <p:nvPr/>
        </p:nvSpPr>
        <p:spPr>
          <a:xfrm>
            <a:off x="4352544" y="2834640"/>
            <a:ext cx="1993392" cy="786384"/>
          </a:xfrm>
          <a:prstGeom prst="roundRect">
            <a:avLst>
              <a:gd name="adj" fmla="val 13953"/>
            </a:avLst>
          </a:prstGeom>
          <a:solidFill>
            <a:srgbClr val="C6E0B4"/>
          </a:solidFill>
          <a:ln w="15240">
            <a:solidFill>
              <a:srgbClr val="70AD47"/>
            </a:solidFill>
            <a:prstDash val="solid"/>
          </a:ln>
        </p:spPr>
        <p:txBody>
          <a:bodyPr/>
          <a:lstStyle/>
          <a:p>
            <a:endParaRPr lang="en-US"/>
          </a:p>
        </p:txBody>
      </p:sp>
      <p:sp>
        <p:nvSpPr>
          <p:cNvPr id="8" name="Text 6"/>
          <p:cNvSpPr/>
          <p:nvPr/>
        </p:nvSpPr>
        <p:spPr>
          <a:xfrm>
            <a:off x="4352544" y="2834640"/>
            <a:ext cx="1993392" cy="7863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04.05 Delivery Exception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Handling &amp; Re-Shipment</a:t>
            </a:r>
            <a:endParaRPr lang="en-US" sz="900" dirty="0"/>
          </a:p>
        </p:txBody>
      </p:sp>
      <p:sp>
        <p:nvSpPr>
          <p:cNvPr id="9" name="Shape 7"/>
          <p:cNvSpPr/>
          <p:nvPr/>
        </p:nvSpPr>
        <p:spPr>
          <a:xfrm>
            <a:off x="1014984" y="210312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0" name="Text 8"/>
          <p:cNvSpPr/>
          <p:nvPr/>
        </p:nvSpPr>
        <p:spPr>
          <a:xfrm>
            <a:off x="1014984" y="210312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Warehouse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Staff</a:t>
            </a:r>
            <a:endParaRPr lang="en-US" sz="900" dirty="0"/>
          </a:p>
        </p:txBody>
      </p:sp>
      <p:sp>
        <p:nvSpPr>
          <p:cNvPr id="11" name="Shape 9"/>
          <p:cNvSpPr/>
          <p:nvPr/>
        </p:nvSpPr>
        <p:spPr>
          <a:xfrm>
            <a:off x="1014984" y="356616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2" name="Text 10"/>
          <p:cNvSpPr/>
          <p:nvPr/>
        </p:nvSpPr>
        <p:spPr>
          <a:xfrm>
            <a:off x="1014984" y="356616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3" name="Shape 11"/>
          <p:cNvSpPr/>
          <p:nvPr/>
        </p:nvSpPr>
        <p:spPr>
          <a:xfrm>
            <a:off x="1143000" y="4754880"/>
            <a:ext cx="1673352" cy="1216152"/>
          </a:xfrm>
          <a:prstGeom prst="can">
            <a:avLst/>
          </a:prstGeom>
          <a:solidFill>
            <a:srgbClr val="9DC3E6"/>
          </a:solidFill>
          <a:ln w="9525">
            <a:solidFill>
              <a:srgbClr val="4472C4"/>
            </a:solidFill>
            <a:prstDash val="solid"/>
          </a:ln>
        </p:spPr>
        <p:txBody>
          <a:bodyPr/>
          <a:lstStyle/>
          <a:p>
            <a:endParaRPr lang="en-US"/>
          </a:p>
        </p:txBody>
      </p:sp>
      <p:sp>
        <p:nvSpPr>
          <p:cNvPr id="14" name="Text 12"/>
          <p:cNvSpPr/>
          <p:nvPr/>
        </p:nvSpPr>
        <p:spPr>
          <a:xfrm>
            <a:off x="1143000" y="5095403"/>
            <a:ext cx="1673352" cy="6688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D4 Shipment</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Records</a:t>
            </a:r>
            <a:endParaRPr lang="en-US" sz="900" dirty="0"/>
          </a:p>
        </p:txBody>
      </p:sp>
      <p:sp>
        <p:nvSpPr>
          <p:cNvPr id="15" name="Shape 13"/>
          <p:cNvSpPr/>
          <p:nvPr/>
        </p:nvSpPr>
        <p:spPr>
          <a:xfrm>
            <a:off x="7708392" y="182880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6" name="Text 14"/>
          <p:cNvSpPr/>
          <p:nvPr/>
        </p:nvSpPr>
        <p:spPr>
          <a:xfrm>
            <a:off x="7708392" y="182880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7" name="Shape 15"/>
          <p:cNvSpPr/>
          <p:nvPr/>
        </p:nvSpPr>
        <p:spPr>
          <a:xfrm>
            <a:off x="7708392" y="283464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8" name="Text 16"/>
          <p:cNvSpPr/>
          <p:nvPr/>
        </p:nvSpPr>
        <p:spPr>
          <a:xfrm>
            <a:off x="7708392" y="283464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04.01 Create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Shipments</a:t>
            </a:r>
            <a:endParaRPr lang="en-US" sz="900" dirty="0"/>
          </a:p>
        </p:txBody>
      </p:sp>
      <p:sp>
        <p:nvSpPr>
          <p:cNvPr id="19" name="Shape 17"/>
          <p:cNvSpPr/>
          <p:nvPr/>
        </p:nvSpPr>
        <p:spPr>
          <a:xfrm>
            <a:off x="7708392" y="388620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20" name="Text 18"/>
          <p:cNvSpPr/>
          <p:nvPr/>
        </p:nvSpPr>
        <p:spPr>
          <a:xfrm>
            <a:off x="7708392" y="388620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01.07 Notification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Preferences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Routing</a:t>
            </a:r>
            <a:endParaRPr lang="en-US" sz="900" dirty="0"/>
          </a:p>
        </p:txBody>
      </p:sp>
      <p:sp>
        <p:nvSpPr>
          <p:cNvPr id="21" name="Shape 19"/>
          <p:cNvSpPr/>
          <p:nvPr/>
        </p:nvSpPr>
        <p:spPr>
          <a:xfrm>
            <a:off x="4507992" y="4754880"/>
            <a:ext cx="1673352" cy="1216152"/>
          </a:xfrm>
          <a:prstGeom prst="can">
            <a:avLst/>
          </a:prstGeom>
          <a:solidFill>
            <a:srgbClr val="9DC3E6"/>
          </a:solidFill>
          <a:ln w="9525">
            <a:solidFill>
              <a:srgbClr val="4472C4"/>
            </a:solidFill>
            <a:prstDash val="solid"/>
          </a:ln>
        </p:spPr>
        <p:txBody>
          <a:bodyPr/>
          <a:lstStyle/>
          <a:p>
            <a:endParaRPr lang="en-US"/>
          </a:p>
        </p:txBody>
      </p:sp>
      <p:sp>
        <p:nvSpPr>
          <p:cNvPr id="22" name="Text 20"/>
          <p:cNvSpPr/>
          <p:nvPr/>
        </p:nvSpPr>
        <p:spPr>
          <a:xfrm>
            <a:off x="4507992" y="5095403"/>
            <a:ext cx="1673352" cy="6688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D8 Delivery</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Exception Records</a:t>
            </a:r>
            <a:endParaRPr lang="en-US" sz="900" dirty="0"/>
          </a:p>
        </p:txBody>
      </p:sp>
      <p:sp>
        <p:nvSpPr>
          <p:cNvPr id="23" name="Shape 21"/>
          <p:cNvSpPr/>
          <p:nvPr/>
        </p:nvSpPr>
        <p:spPr>
          <a:xfrm>
            <a:off x="2980944" y="2482596"/>
            <a:ext cx="1371600" cy="516636"/>
          </a:xfrm>
          <a:prstGeom prst="line">
            <a:avLst/>
          </a:prstGeom>
          <a:noFill/>
          <a:ln w="15240">
            <a:solidFill>
              <a:srgbClr val="4472C4"/>
            </a:solidFill>
            <a:prstDash val="solid"/>
            <a:headEnd type="none"/>
            <a:tailEnd type="arrow"/>
          </a:ln>
        </p:spPr>
        <p:txBody>
          <a:bodyPr/>
          <a:lstStyle/>
          <a:p>
            <a:endParaRPr lang="en-US"/>
          </a:p>
        </p:txBody>
      </p:sp>
      <p:sp>
        <p:nvSpPr>
          <p:cNvPr id="24" name="Shape 22"/>
          <p:cNvSpPr/>
          <p:nvPr/>
        </p:nvSpPr>
        <p:spPr>
          <a:xfrm flipV="1">
            <a:off x="2980944" y="3364992"/>
            <a:ext cx="1371600" cy="580644"/>
          </a:xfrm>
          <a:prstGeom prst="line">
            <a:avLst/>
          </a:prstGeom>
          <a:noFill/>
          <a:ln w="15240">
            <a:solidFill>
              <a:srgbClr val="4472C4"/>
            </a:solidFill>
            <a:prstDash val="solid"/>
            <a:headEnd type="none"/>
            <a:tailEnd type="arrow"/>
          </a:ln>
        </p:spPr>
        <p:txBody>
          <a:bodyPr/>
          <a:lstStyle/>
          <a:p>
            <a:endParaRPr lang="en-US"/>
          </a:p>
        </p:txBody>
      </p:sp>
      <p:sp>
        <p:nvSpPr>
          <p:cNvPr id="25" name="Shape 23"/>
          <p:cNvSpPr/>
          <p:nvPr/>
        </p:nvSpPr>
        <p:spPr>
          <a:xfrm flipV="1">
            <a:off x="2816352" y="3493008"/>
            <a:ext cx="1536192" cy="1869948"/>
          </a:xfrm>
          <a:prstGeom prst="line">
            <a:avLst/>
          </a:prstGeom>
          <a:noFill/>
          <a:ln w="15240">
            <a:solidFill>
              <a:srgbClr val="4472C4"/>
            </a:solidFill>
            <a:prstDash val="solid"/>
            <a:headEnd type="none"/>
            <a:tailEnd type="arrow"/>
          </a:ln>
        </p:spPr>
        <p:txBody>
          <a:bodyPr/>
          <a:lstStyle/>
          <a:p>
            <a:endParaRPr lang="en-US"/>
          </a:p>
        </p:txBody>
      </p:sp>
      <p:sp>
        <p:nvSpPr>
          <p:cNvPr id="26" name="Shape 24"/>
          <p:cNvSpPr/>
          <p:nvPr/>
        </p:nvSpPr>
        <p:spPr>
          <a:xfrm flipV="1">
            <a:off x="6345936" y="2208276"/>
            <a:ext cx="1362456" cy="763524"/>
          </a:xfrm>
          <a:prstGeom prst="line">
            <a:avLst/>
          </a:prstGeom>
          <a:noFill/>
          <a:ln w="15240">
            <a:solidFill>
              <a:srgbClr val="4472C4"/>
            </a:solidFill>
            <a:prstDash val="solid"/>
            <a:headEnd type="none"/>
            <a:tailEnd type="arrow"/>
          </a:ln>
        </p:spPr>
        <p:txBody>
          <a:bodyPr/>
          <a:lstStyle/>
          <a:p>
            <a:endParaRPr lang="en-US"/>
          </a:p>
        </p:txBody>
      </p:sp>
      <p:sp>
        <p:nvSpPr>
          <p:cNvPr id="27" name="Shape 25"/>
          <p:cNvSpPr/>
          <p:nvPr/>
        </p:nvSpPr>
        <p:spPr>
          <a:xfrm flipV="1">
            <a:off x="6345936" y="3214116"/>
            <a:ext cx="1362456" cy="13716"/>
          </a:xfrm>
          <a:prstGeom prst="line">
            <a:avLst/>
          </a:prstGeom>
          <a:noFill/>
          <a:ln w="15240">
            <a:solidFill>
              <a:srgbClr val="4472C4"/>
            </a:solidFill>
            <a:prstDash val="solid"/>
            <a:headEnd type="none"/>
            <a:tailEnd type="arrow"/>
          </a:ln>
        </p:spPr>
        <p:txBody>
          <a:bodyPr/>
          <a:lstStyle/>
          <a:p>
            <a:endParaRPr lang="en-US"/>
          </a:p>
        </p:txBody>
      </p:sp>
      <p:sp>
        <p:nvSpPr>
          <p:cNvPr id="28" name="Shape 26"/>
          <p:cNvSpPr/>
          <p:nvPr/>
        </p:nvSpPr>
        <p:spPr>
          <a:xfrm>
            <a:off x="6345936" y="3456432"/>
            <a:ext cx="1362456" cy="809244"/>
          </a:xfrm>
          <a:prstGeom prst="line">
            <a:avLst/>
          </a:prstGeom>
          <a:noFill/>
          <a:ln w="15240">
            <a:solidFill>
              <a:srgbClr val="4472C4"/>
            </a:solidFill>
            <a:prstDash val="solid"/>
            <a:headEnd type="none"/>
            <a:tailEnd type="arrow"/>
          </a:ln>
        </p:spPr>
        <p:txBody>
          <a:bodyPr/>
          <a:lstStyle/>
          <a:p>
            <a:endParaRPr lang="en-US"/>
          </a:p>
        </p:txBody>
      </p:sp>
      <p:sp>
        <p:nvSpPr>
          <p:cNvPr id="29" name="Shape 27"/>
          <p:cNvSpPr/>
          <p:nvPr/>
        </p:nvSpPr>
        <p:spPr>
          <a:xfrm>
            <a:off x="5349240" y="3621024"/>
            <a:ext cx="9144" cy="1133856"/>
          </a:xfrm>
          <a:prstGeom prst="line">
            <a:avLst/>
          </a:prstGeom>
          <a:noFill/>
          <a:ln w="15240">
            <a:solidFill>
              <a:srgbClr val="4472C4"/>
            </a:solidFill>
            <a:prstDash val="solid"/>
            <a:headEnd type="none"/>
            <a:tailEnd type="arrow"/>
          </a:ln>
        </p:spPr>
        <p:txBody>
          <a:bodyPr/>
          <a:lstStyle/>
          <a:p>
            <a:endParaRPr lang="en-US"/>
          </a:p>
        </p:txBody>
      </p:sp>
      <p:sp>
        <p:nvSpPr>
          <p:cNvPr id="30" name="Text 28"/>
          <p:cNvSpPr/>
          <p:nvPr/>
        </p:nvSpPr>
        <p:spPr>
          <a:xfrm>
            <a:off x="3017520" y="2231136"/>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Report</a:t>
            </a:r>
            <a:endParaRPr lang="en-US" sz="900" dirty="0"/>
          </a:p>
        </p:txBody>
      </p:sp>
      <p:sp>
        <p:nvSpPr>
          <p:cNvPr id="31" name="Text 29"/>
          <p:cNvSpPr/>
          <p:nvPr/>
        </p:nvSpPr>
        <p:spPr>
          <a:xfrm>
            <a:off x="3017520" y="2414016"/>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
        <p:nvSpPr>
          <p:cNvPr id="32" name="Text 30"/>
          <p:cNvSpPr/>
          <p:nvPr/>
        </p:nvSpPr>
        <p:spPr>
          <a:xfrm>
            <a:off x="2980944" y="3364992"/>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Re-Shipment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Request</a:t>
            </a:r>
            <a:endParaRPr lang="en-US" sz="900" dirty="0"/>
          </a:p>
        </p:txBody>
      </p:sp>
      <p:sp>
        <p:nvSpPr>
          <p:cNvPr id="33" name="Text 31"/>
          <p:cNvSpPr/>
          <p:nvPr/>
        </p:nvSpPr>
        <p:spPr>
          <a:xfrm>
            <a:off x="2999232" y="3648456"/>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
        <p:nvSpPr>
          <p:cNvPr id="34" name="Text 32"/>
          <p:cNvSpPr/>
          <p:nvPr/>
        </p:nvSpPr>
        <p:spPr>
          <a:xfrm>
            <a:off x="1828800" y="4480560"/>
            <a:ext cx="164592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Original 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Data</a:t>
            </a:r>
            <a:endParaRPr lang="en-US" sz="900" dirty="0"/>
          </a:p>
        </p:txBody>
      </p:sp>
      <p:sp>
        <p:nvSpPr>
          <p:cNvPr id="35" name="Text 33"/>
          <p:cNvSpPr/>
          <p:nvPr/>
        </p:nvSpPr>
        <p:spPr>
          <a:xfrm>
            <a:off x="6400800" y="2304288"/>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Notification</a:t>
            </a:r>
            <a:endParaRPr lang="en-US" sz="900" dirty="0"/>
          </a:p>
        </p:txBody>
      </p:sp>
      <p:sp>
        <p:nvSpPr>
          <p:cNvPr id="36" name="Text 34"/>
          <p:cNvSpPr/>
          <p:nvPr/>
        </p:nvSpPr>
        <p:spPr>
          <a:xfrm>
            <a:off x="6400800" y="3035808"/>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Re-Shipment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Trigger</a:t>
            </a:r>
            <a:endParaRPr lang="en-US" sz="900" dirty="0"/>
          </a:p>
        </p:txBody>
      </p:sp>
      <p:sp>
        <p:nvSpPr>
          <p:cNvPr id="37" name="Text 35"/>
          <p:cNvSpPr/>
          <p:nvPr/>
        </p:nvSpPr>
        <p:spPr>
          <a:xfrm>
            <a:off x="6400800" y="3712464"/>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Alert</a:t>
            </a:r>
            <a:endParaRPr lang="en-US" sz="900" dirty="0"/>
          </a:p>
        </p:txBody>
      </p:sp>
      <p:sp>
        <p:nvSpPr>
          <p:cNvPr id="38" name="Text 36"/>
          <p:cNvSpPr/>
          <p:nvPr/>
        </p:nvSpPr>
        <p:spPr>
          <a:xfrm>
            <a:off x="5440680" y="3913632"/>
            <a:ext cx="14630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Record</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(Persisted)</a:t>
            </a:r>
            <a:endParaRPr lang="en-US" sz="900" dirty="0"/>
          </a:p>
        </p:txBody>
      </p:sp>
      <p:sp>
        <p:nvSpPr>
          <p:cNvPr id="39" name="Text 37"/>
          <p:cNvSpPr/>
          <p:nvPr/>
        </p:nvSpPr>
        <p:spPr>
          <a:xfrm>
            <a:off x="621792" y="5907024"/>
            <a:ext cx="6858000" cy="914400"/>
          </a:xfrm>
          <a:prstGeom prst="rect">
            <a:avLst/>
          </a:prstGeom>
          <a:noFill/>
          <a:ln/>
        </p:spPr>
        <p:txBody>
          <a:bodyPr wrap="square" rtlCol="0" anchor="t"/>
          <a:lstStyle/>
          <a:p>
            <a:pPr marL="0" indent="0">
              <a:buNone/>
            </a:pPr>
            <a:r>
              <a:rPr lang="en-US" sz="1000" b="1" dirty="0">
                <a:solidFill>
                  <a:srgbClr val="1A1A2D"/>
                </a:solidFill>
                <a:latin typeface="Calibri" pitchFamily="34" charset="0"/>
                <a:ea typeface="Calibri" pitchFamily="34" charset="-122"/>
                <a:cs typeface="Calibri" pitchFamily="34" charset="-120"/>
              </a:rPr>
              <a:t>Objective:
</a:t>
            </a:r>
            <a:r>
              <a:rPr lang="en-US" sz="1000" dirty="0">
                <a:solidFill>
                  <a:srgbClr val="1A1A2D"/>
                </a:solidFill>
                <a:latin typeface="Calibri" pitchFamily="34" charset="0"/>
                <a:ea typeface="Calibri" pitchFamily="34" charset="-122"/>
                <a:cs typeface="Calibri" pitchFamily="34" charset="-120"/>
              </a:rPr>
              <a:t>Illustrates how the Delivery Exception Handling &amp; Re-Shipment feature (04.05) receives exception reports from Warehouse Staff and re-shipment requests from the Subscribed Retailer, reads original shipment data from the Shipment Records store, then outputs exception notifications to the retailer, triggers re-shipment creation via Create Shipments (04.01), and sends exception alerts to Notification Preferences &amp; Routing (01.07) — highlighting DF-In data flows within Sprint 3 scope.</a:t>
            </a:r>
            <a:endParaRPr lang="en-US" sz="1000" dirty="0"/>
          </a:p>
        </p:txBody>
      </p:sp>
      <p:sp>
        <p:nvSpPr>
          <p:cNvPr id="40" name="Text 31">
            <a:extLst>
              <a:ext uri="{FF2B5EF4-FFF2-40B4-BE49-F238E27FC236}">
                <a16:creationId xmlns:a16="http://schemas.microsoft.com/office/drawing/2014/main" id="{8B807C91-DA88-A010-273B-F4345805B55D}"/>
              </a:ext>
            </a:extLst>
          </p:cNvPr>
          <p:cNvSpPr/>
          <p:nvPr/>
        </p:nvSpPr>
        <p:spPr>
          <a:xfrm>
            <a:off x="2953512" y="4562083"/>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834640" y="484632"/>
            <a:ext cx="5029200" cy="521208"/>
          </a:xfrm>
          <a:prstGeom prst="rect">
            <a:avLst/>
          </a:prstGeom>
          <a:noFill/>
          <a:ln/>
        </p:spPr>
        <p:txBody>
          <a:bodyPr wrap="square" rtlCol="0" anchor="ctr"/>
          <a:lstStyle/>
          <a:p>
            <a:pPr marL="0" indent="0" algn="ctr">
              <a:buNone/>
            </a:pPr>
            <a:r>
              <a:rPr lang="en-US" sz="1600" dirty="0">
                <a:solidFill>
                  <a:srgbClr val="1A1A2D"/>
                </a:solidFill>
                <a:latin typeface="Calibri" pitchFamily="34" charset="0"/>
                <a:ea typeface="Calibri" pitchFamily="34" charset="-122"/>
                <a:cs typeface="Calibri" pitchFamily="34" charset="-120"/>
              </a:rPr>
              <a:t>Level 1 Physical DFD - BulkCart System</a:t>
            </a:r>
            <a:endParaRPr lang="en-US" sz="1600" dirty="0"/>
          </a:p>
          <a:p>
            <a:pPr marL="0" indent="0" algn="ctr">
              <a:buNone/>
            </a:pPr>
            <a:r>
              <a:rPr lang="en-US" sz="1600" dirty="0">
                <a:solidFill>
                  <a:srgbClr val="1A1A2D"/>
                </a:solidFill>
                <a:latin typeface="Calibri" pitchFamily="34" charset="0"/>
                <a:ea typeface="Calibri" pitchFamily="34" charset="-122"/>
                <a:cs typeface="Calibri" pitchFamily="34" charset="-120"/>
              </a:rPr>
              <a:t>04.05 Delivery Exception Handling &amp; Re-Shipment – DF-In</a:t>
            </a:r>
            <a:endParaRPr lang="en-US" sz="1600" dirty="0"/>
          </a:p>
        </p:txBody>
      </p:sp>
      <p:sp>
        <p:nvSpPr>
          <p:cNvPr id="3" name="Shape 1"/>
          <p:cNvSpPr/>
          <p:nvPr/>
        </p:nvSpPr>
        <p:spPr>
          <a:xfrm>
            <a:off x="8522208" y="832104"/>
            <a:ext cx="548640" cy="347472"/>
          </a:xfrm>
          <a:prstGeom prst="roundRect">
            <a:avLst>
              <a:gd name="adj" fmla="val 13158"/>
            </a:avLst>
          </a:prstGeom>
          <a:solidFill>
            <a:srgbClr val="C4D8E8"/>
          </a:solidFill>
          <a:ln w="9525">
            <a:solidFill>
              <a:srgbClr val="7EB2CC"/>
            </a:solidFill>
            <a:prstDash val="solid"/>
          </a:ln>
        </p:spPr>
        <p:txBody>
          <a:bodyPr/>
          <a:lstStyle/>
          <a:p>
            <a:endParaRPr lang="en-US"/>
          </a:p>
        </p:txBody>
      </p:sp>
      <p:sp>
        <p:nvSpPr>
          <p:cNvPr id="4" name="Text 2"/>
          <p:cNvSpPr/>
          <p:nvPr/>
        </p:nvSpPr>
        <p:spPr>
          <a:xfrm>
            <a:off x="9153144" y="92354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User Stories</a:t>
            </a:r>
            <a:endParaRPr lang="en-US" sz="1000" dirty="0"/>
          </a:p>
        </p:txBody>
      </p:sp>
      <p:sp>
        <p:nvSpPr>
          <p:cNvPr id="5" name="Shape 3"/>
          <p:cNvSpPr/>
          <p:nvPr/>
        </p:nvSpPr>
        <p:spPr>
          <a:xfrm>
            <a:off x="8567928" y="1252728"/>
            <a:ext cx="475488" cy="374904"/>
          </a:xfrm>
          <a:prstGeom prst="can">
            <a:avLst/>
          </a:prstGeom>
          <a:solidFill>
            <a:srgbClr val="9DC3E6"/>
          </a:solidFill>
          <a:ln w="9525">
            <a:solidFill>
              <a:srgbClr val="4472C4"/>
            </a:solidFill>
            <a:prstDash val="solid"/>
          </a:ln>
        </p:spPr>
        <p:txBody>
          <a:bodyPr/>
          <a:lstStyle/>
          <a:p>
            <a:endParaRPr lang="en-US"/>
          </a:p>
        </p:txBody>
      </p:sp>
      <p:sp>
        <p:nvSpPr>
          <p:cNvPr id="6" name="Text 4"/>
          <p:cNvSpPr/>
          <p:nvPr/>
        </p:nvSpPr>
        <p:spPr>
          <a:xfrm>
            <a:off x="9153144" y="133502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Data Stores</a:t>
            </a:r>
            <a:endParaRPr lang="en-US" sz="1000" dirty="0"/>
          </a:p>
        </p:txBody>
      </p:sp>
      <p:sp>
        <p:nvSpPr>
          <p:cNvPr id="7" name="Shape 5"/>
          <p:cNvSpPr/>
          <p:nvPr/>
        </p:nvSpPr>
        <p:spPr>
          <a:xfrm>
            <a:off x="4352544" y="2834640"/>
            <a:ext cx="1993392" cy="786384"/>
          </a:xfrm>
          <a:prstGeom prst="roundRect">
            <a:avLst>
              <a:gd name="adj" fmla="val 13953"/>
            </a:avLst>
          </a:prstGeom>
          <a:solidFill>
            <a:srgbClr val="C6E0B4"/>
          </a:solidFill>
          <a:ln w="15240">
            <a:solidFill>
              <a:srgbClr val="70AD47"/>
            </a:solidFill>
            <a:prstDash val="solid"/>
          </a:ln>
        </p:spPr>
        <p:txBody>
          <a:bodyPr/>
          <a:lstStyle/>
          <a:p>
            <a:endParaRPr lang="en-US"/>
          </a:p>
        </p:txBody>
      </p:sp>
      <p:sp>
        <p:nvSpPr>
          <p:cNvPr id="8" name="Text 6"/>
          <p:cNvSpPr/>
          <p:nvPr/>
        </p:nvSpPr>
        <p:spPr>
          <a:xfrm>
            <a:off x="4352544" y="2834640"/>
            <a:ext cx="1993392" cy="7863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04.05 Delivery Exception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Handling &amp; Re-Shipment</a:t>
            </a:r>
            <a:endParaRPr lang="en-US" sz="900" dirty="0"/>
          </a:p>
        </p:txBody>
      </p:sp>
      <p:sp>
        <p:nvSpPr>
          <p:cNvPr id="9" name="Shape 7"/>
          <p:cNvSpPr/>
          <p:nvPr/>
        </p:nvSpPr>
        <p:spPr>
          <a:xfrm>
            <a:off x="1014984" y="210312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0" name="Text 8"/>
          <p:cNvSpPr/>
          <p:nvPr/>
        </p:nvSpPr>
        <p:spPr>
          <a:xfrm>
            <a:off x="1014984" y="210312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Warehouse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Staff</a:t>
            </a:r>
            <a:endParaRPr lang="en-US" sz="900" dirty="0"/>
          </a:p>
        </p:txBody>
      </p:sp>
      <p:sp>
        <p:nvSpPr>
          <p:cNvPr id="11" name="Shape 9"/>
          <p:cNvSpPr/>
          <p:nvPr/>
        </p:nvSpPr>
        <p:spPr>
          <a:xfrm>
            <a:off x="1014984" y="356616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2" name="Text 10"/>
          <p:cNvSpPr/>
          <p:nvPr/>
        </p:nvSpPr>
        <p:spPr>
          <a:xfrm>
            <a:off x="1014984" y="356616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3" name="Shape 11"/>
          <p:cNvSpPr/>
          <p:nvPr/>
        </p:nvSpPr>
        <p:spPr>
          <a:xfrm>
            <a:off x="7708392" y="182880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4" name="Text 12"/>
          <p:cNvSpPr/>
          <p:nvPr/>
        </p:nvSpPr>
        <p:spPr>
          <a:xfrm>
            <a:off x="7708392" y="182880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5" name="Shape 13"/>
          <p:cNvSpPr/>
          <p:nvPr/>
        </p:nvSpPr>
        <p:spPr>
          <a:xfrm>
            <a:off x="7708392" y="283464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6" name="Text 14"/>
          <p:cNvSpPr/>
          <p:nvPr/>
        </p:nvSpPr>
        <p:spPr>
          <a:xfrm>
            <a:off x="7708392" y="283464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04.01 Create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Shipments</a:t>
            </a:r>
            <a:endParaRPr lang="en-US" sz="900" dirty="0"/>
          </a:p>
        </p:txBody>
      </p:sp>
      <p:sp>
        <p:nvSpPr>
          <p:cNvPr id="17" name="Shape 15"/>
          <p:cNvSpPr/>
          <p:nvPr/>
        </p:nvSpPr>
        <p:spPr>
          <a:xfrm>
            <a:off x="7708392" y="388620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8" name="Text 16"/>
          <p:cNvSpPr/>
          <p:nvPr/>
        </p:nvSpPr>
        <p:spPr>
          <a:xfrm>
            <a:off x="7708392" y="388620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01.07 Notification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Preferences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Routing</a:t>
            </a:r>
            <a:endParaRPr lang="en-US" sz="900" dirty="0"/>
          </a:p>
        </p:txBody>
      </p:sp>
      <p:sp>
        <p:nvSpPr>
          <p:cNvPr id="19" name="Shape 17"/>
          <p:cNvSpPr/>
          <p:nvPr/>
        </p:nvSpPr>
        <p:spPr>
          <a:xfrm>
            <a:off x="777240" y="4773168"/>
            <a:ext cx="2057400" cy="182880"/>
          </a:xfrm>
          <a:prstGeom prst="rect">
            <a:avLst/>
          </a:prstGeom>
          <a:solidFill>
            <a:srgbClr val="FFFFFF"/>
          </a:solidFill>
          <a:ln w="6350">
            <a:solidFill>
              <a:srgbClr val="AAAAAA"/>
            </a:solidFill>
            <a:prstDash val="solid"/>
          </a:ln>
        </p:spPr>
        <p:txBody>
          <a:bodyPr/>
          <a:lstStyle/>
          <a:p>
            <a:endParaRPr lang="en-US"/>
          </a:p>
        </p:txBody>
      </p:sp>
      <p:sp>
        <p:nvSpPr>
          <p:cNvPr id="20" name="Text 18"/>
          <p:cNvSpPr/>
          <p:nvPr/>
        </p:nvSpPr>
        <p:spPr>
          <a:xfrm>
            <a:off x="777240" y="4773168"/>
            <a:ext cx="2057400" cy="182880"/>
          </a:xfrm>
          <a:prstGeom prst="rect">
            <a:avLst/>
          </a:prstGeom>
          <a:noFill/>
          <a:ln/>
        </p:spPr>
        <p:txBody>
          <a:bodyPr wrap="square" rtlCol="0" anchor="ctr"/>
          <a:lstStyle/>
          <a:p>
            <a:pPr marL="0" indent="0" algn="ctr">
              <a:buNone/>
            </a:pPr>
            <a:r>
              <a:rPr lang="en-US" sz="1100" b="1" u="sng" dirty="0">
                <a:solidFill>
                  <a:srgbClr val="C00000"/>
                </a:solidFill>
                <a:latin typeface="Calibri" pitchFamily="34" charset="0"/>
                <a:ea typeface="Calibri" pitchFamily="34" charset="-122"/>
                <a:cs typeface="Calibri" pitchFamily="34" charset="-120"/>
              </a:rPr>
              <a:t>Shipment</a:t>
            </a:r>
            <a:endParaRPr lang="en-US" sz="1100" dirty="0"/>
          </a:p>
        </p:txBody>
      </p:sp>
      <p:sp>
        <p:nvSpPr>
          <p:cNvPr id="21" name="Shape 19"/>
          <p:cNvSpPr/>
          <p:nvPr/>
        </p:nvSpPr>
        <p:spPr>
          <a:xfrm>
            <a:off x="777240" y="4956048"/>
            <a:ext cx="2057400" cy="182880"/>
          </a:xfrm>
          <a:prstGeom prst="rect">
            <a:avLst/>
          </a:prstGeom>
          <a:solidFill>
            <a:srgbClr val="FFFFFF"/>
          </a:solidFill>
          <a:ln w="6350">
            <a:solidFill>
              <a:srgbClr val="CCCCCC"/>
            </a:solidFill>
            <a:prstDash val="solid"/>
          </a:ln>
        </p:spPr>
        <p:txBody>
          <a:bodyPr/>
          <a:lstStyle/>
          <a:p>
            <a:endParaRPr lang="en-US"/>
          </a:p>
        </p:txBody>
      </p:sp>
      <p:sp>
        <p:nvSpPr>
          <p:cNvPr id="22" name="Text 20"/>
          <p:cNvSpPr/>
          <p:nvPr/>
        </p:nvSpPr>
        <p:spPr>
          <a:xfrm>
            <a:off x="822960" y="4956048"/>
            <a:ext cx="196596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shipmentId (PK, unique)</a:t>
            </a:r>
            <a:endParaRPr lang="en-US" sz="900" dirty="0"/>
          </a:p>
        </p:txBody>
      </p:sp>
      <p:sp>
        <p:nvSpPr>
          <p:cNvPr id="23" name="Shape 21"/>
          <p:cNvSpPr/>
          <p:nvPr/>
        </p:nvSpPr>
        <p:spPr>
          <a:xfrm>
            <a:off x="777240" y="5138928"/>
            <a:ext cx="2057400" cy="182880"/>
          </a:xfrm>
          <a:prstGeom prst="rect">
            <a:avLst/>
          </a:prstGeom>
          <a:solidFill>
            <a:srgbClr val="FFFFFF"/>
          </a:solidFill>
          <a:ln w="6350">
            <a:solidFill>
              <a:srgbClr val="CCCCCC"/>
            </a:solidFill>
            <a:prstDash val="solid"/>
          </a:ln>
        </p:spPr>
        <p:txBody>
          <a:bodyPr/>
          <a:lstStyle/>
          <a:p>
            <a:endParaRPr lang="en-US"/>
          </a:p>
        </p:txBody>
      </p:sp>
      <p:sp>
        <p:nvSpPr>
          <p:cNvPr id="24" name="Text 22"/>
          <p:cNvSpPr/>
          <p:nvPr/>
        </p:nvSpPr>
        <p:spPr>
          <a:xfrm>
            <a:off x="822960" y="5138928"/>
            <a:ext cx="196596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orderId (FK → Orders)</a:t>
            </a:r>
            <a:endParaRPr lang="en-US" sz="900" dirty="0"/>
          </a:p>
        </p:txBody>
      </p:sp>
      <p:sp>
        <p:nvSpPr>
          <p:cNvPr id="25" name="Shape 23"/>
          <p:cNvSpPr/>
          <p:nvPr/>
        </p:nvSpPr>
        <p:spPr>
          <a:xfrm>
            <a:off x="777240" y="5321808"/>
            <a:ext cx="2057400" cy="182880"/>
          </a:xfrm>
          <a:prstGeom prst="rect">
            <a:avLst/>
          </a:prstGeom>
          <a:solidFill>
            <a:srgbClr val="FFFFFF"/>
          </a:solidFill>
          <a:ln w="6350">
            <a:solidFill>
              <a:srgbClr val="CCCCCC"/>
            </a:solidFill>
            <a:prstDash val="solid"/>
          </a:ln>
        </p:spPr>
        <p:txBody>
          <a:bodyPr/>
          <a:lstStyle/>
          <a:p>
            <a:endParaRPr lang="en-US"/>
          </a:p>
        </p:txBody>
      </p:sp>
      <p:sp>
        <p:nvSpPr>
          <p:cNvPr id="26" name="Text 24"/>
          <p:cNvSpPr/>
          <p:nvPr/>
        </p:nvSpPr>
        <p:spPr>
          <a:xfrm>
            <a:off x="822960" y="5321808"/>
            <a:ext cx="196596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carrierId (FK → Carriers)</a:t>
            </a:r>
            <a:endParaRPr lang="en-US" sz="900" dirty="0"/>
          </a:p>
        </p:txBody>
      </p:sp>
      <p:sp>
        <p:nvSpPr>
          <p:cNvPr id="27" name="Shape 25"/>
          <p:cNvSpPr/>
          <p:nvPr/>
        </p:nvSpPr>
        <p:spPr>
          <a:xfrm>
            <a:off x="777240" y="5504688"/>
            <a:ext cx="2057400" cy="182880"/>
          </a:xfrm>
          <a:prstGeom prst="rect">
            <a:avLst/>
          </a:prstGeom>
          <a:solidFill>
            <a:srgbClr val="FFFFFF"/>
          </a:solidFill>
          <a:ln w="6350">
            <a:solidFill>
              <a:srgbClr val="CCCCCC"/>
            </a:solidFill>
            <a:prstDash val="solid"/>
          </a:ln>
        </p:spPr>
        <p:txBody>
          <a:bodyPr/>
          <a:lstStyle/>
          <a:p>
            <a:endParaRPr lang="en-US"/>
          </a:p>
        </p:txBody>
      </p:sp>
      <p:sp>
        <p:nvSpPr>
          <p:cNvPr id="28" name="Text 26"/>
          <p:cNvSpPr/>
          <p:nvPr/>
        </p:nvSpPr>
        <p:spPr>
          <a:xfrm>
            <a:off x="822960" y="5504688"/>
            <a:ext cx="196596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warehouseId (FK → Users)</a:t>
            </a:r>
            <a:endParaRPr lang="en-US" sz="900" dirty="0"/>
          </a:p>
        </p:txBody>
      </p:sp>
      <p:sp>
        <p:nvSpPr>
          <p:cNvPr id="29" name="Shape 27"/>
          <p:cNvSpPr/>
          <p:nvPr/>
        </p:nvSpPr>
        <p:spPr>
          <a:xfrm>
            <a:off x="777240" y="5687568"/>
            <a:ext cx="2057400" cy="182880"/>
          </a:xfrm>
          <a:prstGeom prst="rect">
            <a:avLst/>
          </a:prstGeom>
          <a:solidFill>
            <a:srgbClr val="FFFFFF"/>
          </a:solidFill>
          <a:ln w="6350">
            <a:solidFill>
              <a:srgbClr val="CCCCCC"/>
            </a:solidFill>
            <a:prstDash val="solid"/>
          </a:ln>
        </p:spPr>
        <p:txBody>
          <a:bodyPr/>
          <a:lstStyle/>
          <a:p>
            <a:endParaRPr lang="en-US"/>
          </a:p>
        </p:txBody>
      </p:sp>
      <p:sp>
        <p:nvSpPr>
          <p:cNvPr id="30" name="Text 28"/>
          <p:cNvSpPr/>
          <p:nvPr/>
        </p:nvSpPr>
        <p:spPr>
          <a:xfrm>
            <a:off x="822960" y="5687568"/>
            <a:ext cx="196596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trackingNumber</a:t>
            </a:r>
            <a:endParaRPr lang="en-US" sz="900" dirty="0"/>
          </a:p>
        </p:txBody>
      </p:sp>
      <p:sp>
        <p:nvSpPr>
          <p:cNvPr id="31" name="Shape 29"/>
          <p:cNvSpPr/>
          <p:nvPr/>
        </p:nvSpPr>
        <p:spPr>
          <a:xfrm>
            <a:off x="777240" y="5870448"/>
            <a:ext cx="2057400" cy="182880"/>
          </a:xfrm>
          <a:prstGeom prst="rect">
            <a:avLst/>
          </a:prstGeom>
          <a:solidFill>
            <a:srgbClr val="FFFFFF"/>
          </a:solidFill>
          <a:ln w="6350">
            <a:solidFill>
              <a:srgbClr val="CCCCCC"/>
            </a:solidFill>
            <a:prstDash val="solid"/>
          </a:ln>
        </p:spPr>
        <p:txBody>
          <a:bodyPr/>
          <a:lstStyle/>
          <a:p>
            <a:endParaRPr lang="en-US"/>
          </a:p>
        </p:txBody>
      </p:sp>
      <p:sp>
        <p:nvSpPr>
          <p:cNvPr id="32" name="Text 30"/>
          <p:cNvSpPr/>
          <p:nvPr/>
        </p:nvSpPr>
        <p:spPr>
          <a:xfrm>
            <a:off x="822960" y="5870448"/>
            <a:ext cx="196596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status (FK → ShipStatus_Ref)</a:t>
            </a:r>
            <a:endParaRPr lang="en-US" sz="900" dirty="0"/>
          </a:p>
        </p:txBody>
      </p:sp>
      <p:sp>
        <p:nvSpPr>
          <p:cNvPr id="33" name="Shape 31"/>
          <p:cNvSpPr/>
          <p:nvPr/>
        </p:nvSpPr>
        <p:spPr>
          <a:xfrm>
            <a:off x="777240" y="6053328"/>
            <a:ext cx="2057400" cy="182880"/>
          </a:xfrm>
          <a:prstGeom prst="rect">
            <a:avLst/>
          </a:prstGeom>
          <a:solidFill>
            <a:srgbClr val="FFFFFF"/>
          </a:solidFill>
          <a:ln w="6350">
            <a:solidFill>
              <a:srgbClr val="CCCCCC"/>
            </a:solidFill>
            <a:prstDash val="solid"/>
          </a:ln>
        </p:spPr>
        <p:txBody>
          <a:bodyPr/>
          <a:lstStyle/>
          <a:p>
            <a:endParaRPr lang="en-US"/>
          </a:p>
        </p:txBody>
      </p:sp>
      <p:sp>
        <p:nvSpPr>
          <p:cNvPr id="34" name="Text 32"/>
          <p:cNvSpPr/>
          <p:nvPr/>
        </p:nvSpPr>
        <p:spPr>
          <a:xfrm>
            <a:off x="822960" y="6053328"/>
            <a:ext cx="196596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estimatedDelivery</a:t>
            </a:r>
            <a:endParaRPr lang="en-US" sz="900" dirty="0"/>
          </a:p>
        </p:txBody>
      </p:sp>
      <p:sp>
        <p:nvSpPr>
          <p:cNvPr id="35" name="Shape 33"/>
          <p:cNvSpPr/>
          <p:nvPr/>
        </p:nvSpPr>
        <p:spPr>
          <a:xfrm>
            <a:off x="777240" y="6236208"/>
            <a:ext cx="2057400" cy="182880"/>
          </a:xfrm>
          <a:prstGeom prst="rect">
            <a:avLst/>
          </a:prstGeom>
          <a:solidFill>
            <a:srgbClr val="FFFFFF"/>
          </a:solidFill>
          <a:ln w="6350">
            <a:solidFill>
              <a:srgbClr val="CCCCCC"/>
            </a:solidFill>
            <a:prstDash val="solid"/>
          </a:ln>
        </p:spPr>
        <p:txBody>
          <a:bodyPr/>
          <a:lstStyle/>
          <a:p>
            <a:endParaRPr lang="en-US"/>
          </a:p>
        </p:txBody>
      </p:sp>
      <p:sp>
        <p:nvSpPr>
          <p:cNvPr id="36" name="Text 34"/>
          <p:cNvSpPr/>
          <p:nvPr/>
        </p:nvSpPr>
        <p:spPr>
          <a:xfrm>
            <a:off x="822960" y="6236208"/>
            <a:ext cx="196596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createdAt</a:t>
            </a:r>
            <a:endParaRPr lang="en-US" sz="900" dirty="0"/>
          </a:p>
        </p:txBody>
      </p:sp>
      <p:sp>
        <p:nvSpPr>
          <p:cNvPr id="37" name="Shape 35"/>
          <p:cNvSpPr/>
          <p:nvPr/>
        </p:nvSpPr>
        <p:spPr>
          <a:xfrm>
            <a:off x="4206240" y="4251960"/>
            <a:ext cx="2331720" cy="182880"/>
          </a:xfrm>
          <a:prstGeom prst="rect">
            <a:avLst/>
          </a:prstGeom>
          <a:solidFill>
            <a:srgbClr val="FFFFFF"/>
          </a:solidFill>
          <a:ln w="6350">
            <a:solidFill>
              <a:srgbClr val="AAAAAA"/>
            </a:solidFill>
            <a:prstDash val="solid"/>
          </a:ln>
        </p:spPr>
        <p:txBody>
          <a:bodyPr/>
          <a:lstStyle/>
          <a:p>
            <a:endParaRPr lang="en-US"/>
          </a:p>
        </p:txBody>
      </p:sp>
      <p:sp>
        <p:nvSpPr>
          <p:cNvPr id="38" name="Text 36"/>
          <p:cNvSpPr/>
          <p:nvPr/>
        </p:nvSpPr>
        <p:spPr>
          <a:xfrm>
            <a:off x="4206240" y="4251960"/>
            <a:ext cx="2331720" cy="182880"/>
          </a:xfrm>
          <a:prstGeom prst="rect">
            <a:avLst/>
          </a:prstGeom>
          <a:noFill/>
          <a:ln/>
        </p:spPr>
        <p:txBody>
          <a:bodyPr wrap="square" rtlCol="0" anchor="ctr"/>
          <a:lstStyle/>
          <a:p>
            <a:pPr marL="0" indent="0" algn="ctr">
              <a:buNone/>
            </a:pPr>
            <a:r>
              <a:rPr lang="en-US" sz="1100" b="1" u="sng" dirty="0">
                <a:solidFill>
                  <a:srgbClr val="C00000"/>
                </a:solidFill>
                <a:latin typeface="Calibri" pitchFamily="34" charset="0"/>
                <a:ea typeface="Calibri" pitchFamily="34" charset="-122"/>
                <a:cs typeface="Calibri" pitchFamily="34" charset="-120"/>
              </a:rPr>
              <a:t>DeliveryException</a:t>
            </a:r>
            <a:endParaRPr lang="en-US" sz="1100" dirty="0"/>
          </a:p>
        </p:txBody>
      </p:sp>
      <p:sp>
        <p:nvSpPr>
          <p:cNvPr id="39" name="Shape 37"/>
          <p:cNvSpPr/>
          <p:nvPr/>
        </p:nvSpPr>
        <p:spPr>
          <a:xfrm>
            <a:off x="4206240" y="4434840"/>
            <a:ext cx="2331720" cy="182880"/>
          </a:xfrm>
          <a:prstGeom prst="rect">
            <a:avLst/>
          </a:prstGeom>
          <a:solidFill>
            <a:srgbClr val="FFFFFF"/>
          </a:solidFill>
          <a:ln w="6350">
            <a:solidFill>
              <a:srgbClr val="CCCCCC"/>
            </a:solidFill>
            <a:prstDash val="solid"/>
          </a:ln>
        </p:spPr>
        <p:txBody>
          <a:bodyPr/>
          <a:lstStyle/>
          <a:p>
            <a:endParaRPr lang="en-US"/>
          </a:p>
        </p:txBody>
      </p:sp>
      <p:sp>
        <p:nvSpPr>
          <p:cNvPr id="40" name="Text 38"/>
          <p:cNvSpPr/>
          <p:nvPr/>
        </p:nvSpPr>
        <p:spPr>
          <a:xfrm>
            <a:off x="4251960" y="4434840"/>
            <a:ext cx="224028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exceptionId (PK)</a:t>
            </a:r>
            <a:endParaRPr lang="en-US" sz="900" dirty="0"/>
          </a:p>
        </p:txBody>
      </p:sp>
      <p:sp>
        <p:nvSpPr>
          <p:cNvPr id="41" name="Shape 39"/>
          <p:cNvSpPr/>
          <p:nvPr/>
        </p:nvSpPr>
        <p:spPr>
          <a:xfrm>
            <a:off x="4206240" y="4617720"/>
            <a:ext cx="2331720" cy="182880"/>
          </a:xfrm>
          <a:prstGeom prst="rect">
            <a:avLst/>
          </a:prstGeom>
          <a:solidFill>
            <a:srgbClr val="FFFFFF"/>
          </a:solidFill>
          <a:ln w="6350">
            <a:solidFill>
              <a:srgbClr val="CCCCCC"/>
            </a:solidFill>
            <a:prstDash val="solid"/>
          </a:ln>
        </p:spPr>
        <p:txBody>
          <a:bodyPr/>
          <a:lstStyle/>
          <a:p>
            <a:endParaRPr lang="en-US"/>
          </a:p>
        </p:txBody>
      </p:sp>
      <p:sp>
        <p:nvSpPr>
          <p:cNvPr id="42" name="Text 40"/>
          <p:cNvSpPr/>
          <p:nvPr/>
        </p:nvSpPr>
        <p:spPr>
          <a:xfrm>
            <a:off x="4251960" y="4617720"/>
            <a:ext cx="224028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shipmentId (FK → Shipments)</a:t>
            </a:r>
            <a:endParaRPr lang="en-US" sz="900" dirty="0"/>
          </a:p>
        </p:txBody>
      </p:sp>
      <p:sp>
        <p:nvSpPr>
          <p:cNvPr id="43" name="Shape 41"/>
          <p:cNvSpPr/>
          <p:nvPr/>
        </p:nvSpPr>
        <p:spPr>
          <a:xfrm>
            <a:off x="4206240" y="4800600"/>
            <a:ext cx="2331720" cy="182880"/>
          </a:xfrm>
          <a:prstGeom prst="rect">
            <a:avLst/>
          </a:prstGeom>
          <a:solidFill>
            <a:srgbClr val="FFFFFF"/>
          </a:solidFill>
          <a:ln w="6350">
            <a:solidFill>
              <a:srgbClr val="CCCCCC"/>
            </a:solidFill>
            <a:prstDash val="solid"/>
          </a:ln>
        </p:spPr>
        <p:txBody>
          <a:bodyPr/>
          <a:lstStyle/>
          <a:p>
            <a:endParaRPr lang="en-US"/>
          </a:p>
        </p:txBody>
      </p:sp>
      <p:sp>
        <p:nvSpPr>
          <p:cNvPr id="44" name="Text 42"/>
          <p:cNvSpPr/>
          <p:nvPr/>
        </p:nvSpPr>
        <p:spPr>
          <a:xfrm>
            <a:off x="4251960" y="4800600"/>
            <a:ext cx="224028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type (FK → ExcepType_Ref)</a:t>
            </a:r>
            <a:endParaRPr lang="en-US" sz="900" dirty="0"/>
          </a:p>
        </p:txBody>
      </p:sp>
      <p:sp>
        <p:nvSpPr>
          <p:cNvPr id="45" name="Shape 43"/>
          <p:cNvSpPr/>
          <p:nvPr/>
        </p:nvSpPr>
        <p:spPr>
          <a:xfrm>
            <a:off x="4206240" y="4983480"/>
            <a:ext cx="2331720" cy="182880"/>
          </a:xfrm>
          <a:prstGeom prst="rect">
            <a:avLst/>
          </a:prstGeom>
          <a:solidFill>
            <a:srgbClr val="FFFFFF"/>
          </a:solidFill>
          <a:ln w="6350">
            <a:solidFill>
              <a:srgbClr val="CCCCCC"/>
            </a:solidFill>
            <a:prstDash val="solid"/>
          </a:ln>
        </p:spPr>
        <p:txBody>
          <a:bodyPr/>
          <a:lstStyle/>
          <a:p>
            <a:endParaRPr lang="en-US"/>
          </a:p>
        </p:txBody>
      </p:sp>
      <p:sp>
        <p:nvSpPr>
          <p:cNvPr id="46" name="Text 44"/>
          <p:cNvSpPr/>
          <p:nvPr/>
        </p:nvSpPr>
        <p:spPr>
          <a:xfrm>
            <a:off x="4251960" y="4983480"/>
            <a:ext cx="224028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description</a:t>
            </a:r>
            <a:endParaRPr lang="en-US" sz="900" dirty="0"/>
          </a:p>
        </p:txBody>
      </p:sp>
      <p:sp>
        <p:nvSpPr>
          <p:cNvPr id="47" name="Shape 45"/>
          <p:cNvSpPr/>
          <p:nvPr/>
        </p:nvSpPr>
        <p:spPr>
          <a:xfrm>
            <a:off x="4206240" y="5166360"/>
            <a:ext cx="2331720" cy="182880"/>
          </a:xfrm>
          <a:prstGeom prst="rect">
            <a:avLst/>
          </a:prstGeom>
          <a:solidFill>
            <a:srgbClr val="FFFFFF"/>
          </a:solidFill>
          <a:ln w="6350">
            <a:solidFill>
              <a:srgbClr val="CCCCCC"/>
            </a:solidFill>
            <a:prstDash val="solid"/>
          </a:ln>
        </p:spPr>
        <p:txBody>
          <a:bodyPr/>
          <a:lstStyle/>
          <a:p>
            <a:endParaRPr lang="en-US"/>
          </a:p>
        </p:txBody>
      </p:sp>
      <p:sp>
        <p:nvSpPr>
          <p:cNvPr id="48" name="Text 46"/>
          <p:cNvSpPr/>
          <p:nvPr/>
        </p:nvSpPr>
        <p:spPr>
          <a:xfrm>
            <a:off x="4251960" y="5166360"/>
            <a:ext cx="224028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referenceNo</a:t>
            </a:r>
            <a:endParaRPr lang="en-US" sz="900" dirty="0"/>
          </a:p>
        </p:txBody>
      </p:sp>
      <p:sp>
        <p:nvSpPr>
          <p:cNvPr id="49" name="Shape 47"/>
          <p:cNvSpPr/>
          <p:nvPr/>
        </p:nvSpPr>
        <p:spPr>
          <a:xfrm>
            <a:off x="4206240" y="5349240"/>
            <a:ext cx="2331720" cy="182880"/>
          </a:xfrm>
          <a:prstGeom prst="rect">
            <a:avLst/>
          </a:prstGeom>
          <a:solidFill>
            <a:srgbClr val="FFFFFF"/>
          </a:solidFill>
          <a:ln w="6350">
            <a:solidFill>
              <a:srgbClr val="CCCCCC"/>
            </a:solidFill>
            <a:prstDash val="solid"/>
          </a:ln>
        </p:spPr>
        <p:txBody>
          <a:bodyPr/>
          <a:lstStyle/>
          <a:p>
            <a:endParaRPr lang="en-US"/>
          </a:p>
        </p:txBody>
      </p:sp>
      <p:sp>
        <p:nvSpPr>
          <p:cNvPr id="50" name="Text 48"/>
          <p:cNvSpPr/>
          <p:nvPr/>
        </p:nvSpPr>
        <p:spPr>
          <a:xfrm>
            <a:off x="4251960" y="5349240"/>
            <a:ext cx="224028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reShipmentId (FK → Shipments)</a:t>
            </a:r>
            <a:endParaRPr lang="en-US" sz="900" dirty="0"/>
          </a:p>
        </p:txBody>
      </p:sp>
      <p:sp>
        <p:nvSpPr>
          <p:cNvPr id="51" name="Shape 49"/>
          <p:cNvSpPr/>
          <p:nvPr/>
        </p:nvSpPr>
        <p:spPr>
          <a:xfrm>
            <a:off x="4206240" y="5532120"/>
            <a:ext cx="2331720" cy="182880"/>
          </a:xfrm>
          <a:prstGeom prst="rect">
            <a:avLst/>
          </a:prstGeom>
          <a:solidFill>
            <a:srgbClr val="FFFFFF"/>
          </a:solidFill>
          <a:ln w="6350">
            <a:solidFill>
              <a:srgbClr val="CCCCCC"/>
            </a:solidFill>
            <a:prstDash val="solid"/>
          </a:ln>
        </p:spPr>
        <p:txBody>
          <a:bodyPr/>
          <a:lstStyle/>
          <a:p>
            <a:endParaRPr lang="en-US"/>
          </a:p>
        </p:txBody>
      </p:sp>
      <p:sp>
        <p:nvSpPr>
          <p:cNvPr id="52" name="Text 50"/>
          <p:cNvSpPr/>
          <p:nvPr/>
        </p:nvSpPr>
        <p:spPr>
          <a:xfrm>
            <a:off x="4251960" y="5532120"/>
            <a:ext cx="224028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resolvedAt</a:t>
            </a:r>
            <a:endParaRPr lang="en-US" sz="900" dirty="0"/>
          </a:p>
        </p:txBody>
      </p:sp>
      <p:sp>
        <p:nvSpPr>
          <p:cNvPr id="53" name="Shape 51"/>
          <p:cNvSpPr/>
          <p:nvPr/>
        </p:nvSpPr>
        <p:spPr>
          <a:xfrm>
            <a:off x="4206240" y="5715000"/>
            <a:ext cx="2331720" cy="182880"/>
          </a:xfrm>
          <a:prstGeom prst="rect">
            <a:avLst/>
          </a:prstGeom>
          <a:solidFill>
            <a:srgbClr val="FFFFFF"/>
          </a:solidFill>
          <a:ln w="6350">
            <a:solidFill>
              <a:srgbClr val="CCCCCC"/>
            </a:solidFill>
            <a:prstDash val="solid"/>
          </a:ln>
        </p:spPr>
        <p:txBody>
          <a:bodyPr/>
          <a:lstStyle/>
          <a:p>
            <a:endParaRPr lang="en-US"/>
          </a:p>
        </p:txBody>
      </p:sp>
      <p:sp>
        <p:nvSpPr>
          <p:cNvPr id="54" name="Text 52"/>
          <p:cNvSpPr/>
          <p:nvPr/>
        </p:nvSpPr>
        <p:spPr>
          <a:xfrm>
            <a:off x="4251960" y="5715000"/>
            <a:ext cx="224028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createdAt</a:t>
            </a:r>
            <a:endParaRPr lang="en-US" sz="900" dirty="0"/>
          </a:p>
        </p:txBody>
      </p:sp>
      <p:sp>
        <p:nvSpPr>
          <p:cNvPr id="55" name="Shape 53"/>
          <p:cNvSpPr/>
          <p:nvPr/>
        </p:nvSpPr>
        <p:spPr>
          <a:xfrm>
            <a:off x="2980944" y="2482596"/>
            <a:ext cx="1371600" cy="516636"/>
          </a:xfrm>
          <a:prstGeom prst="line">
            <a:avLst/>
          </a:prstGeom>
          <a:noFill/>
          <a:ln w="15240">
            <a:solidFill>
              <a:srgbClr val="4472C4"/>
            </a:solidFill>
            <a:prstDash val="solid"/>
            <a:headEnd type="none"/>
            <a:tailEnd type="arrow"/>
          </a:ln>
        </p:spPr>
        <p:txBody>
          <a:bodyPr/>
          <a:lstStyle/>
          <a:p>
            <a:endParaRPr lang="en-US"/>
          </a:p>
        </p:txBody>
      </p:sp>
      <p:sp>
        <p:nvSpPr>
          <p:cNvPr id="56" name="Shape 54"/>
          <p:cNvSpPr/>
          <p:nvPr/>
        </p:nvSpPr>
        <p:spPr>
          <a:xfrm flipV="1">
            <a:off x="2980944" y="3364992"/>
            <a:ext cx="1371600" cy="580644"/>
          </a:xfrm>
          <a:prstGeom prst="line">
            <a:avLst/>
          </a:prstGeom>
          <a:noFill/>
          <a:ln w="15240">
            <a:solidFill>
              <a:srgbClr val="4472C4"/>
            </a:solidFill>
            <a:prstDash val="solid"/>
            <a:headEnd type="none"/>
            <a:tailEnd type="arrow"/>
          </a:ln>
        </p:spPr>
        <p:txBody>
          <a:bodyPr/>
          <a:lstStyle/>
          <a:p>
            <a:endParaRPr lang="en-US"/>
          </a:p>
        </p:txBody>
      </p:sp>
      <p:sp>
        <p:nvSpPr>
          <p:cNvPr id="57" name="Shape 55"/>
          <p:cNvSpPr/>
          <p:nvPr/>
        </p:nvSpPr>
        <p:spPr>
          <a:xfrm flipV="1">
            <a:off x="2706624" y="3493008"/>
            <a:ext cx="1645920" cy="1280160"/>
          </a:xfrm>
          <a:prstGeom prst="line">
            <a:avLst/>
          </a:prstGeom>
          <a:noFill/>
          <a:ln w="15240">
            <a:solidFill>
              <a:srgbClr val="4472C4"/>
            </a:solidFill>
            <a:prstDash val="solid"/>
            <a:headEnd type="none"/>
            <a:tailEnd type="arrow"/>
          </a:ln>
        </p:spPr>
        <p:txBody>
          <a:bodyPr/>
          <a:lstStyle/>
          <a:p>
            <a:endParaRPr lang="en-US"/>
          </a:p>
        </p:txBody>
      </p:sp>
      <p:sp>
        <p:nvSpPr>
          <p:cNvPr id="58" name="Shape 56"/>
          <p:cNvSpPr/>
          <p:nvPr/>
        </p:nvSpPr>
        <p:spPr>
          <a:xfrm flipV="1">
            <a:off x="6345936" y="2208276"/>
            <a:ext cx="1362456" cy="763524"/>
          </a:xfrm>
          <a:prstGeom prst="line">
            <a:avLst/>
          </a:prstGeom>
          <a:noFill/>
          <a:ln w="15240">
            <a:solidFill>
              <a:srgbClr val="4472C4"/>
            </a:solidFill>
            <a:prstDash val="solid"/>
            <a:headEnd type="none"/>
            <a:tailEnd type="arrow"/>
          </a:ln>
        </p:spPr>
        <p:txBody>
          <a:bodyPr/>
          <a:lstStyle/>
          <a:p>
            <a:endParaRPr lang="en-US"/>
          </a:p>
        </p:txBody>
      </p:sp>
      <p:sp>
        <p:nvSpPr>
          <p:cNvPr id="59" name="Shape 57"/>
          <p:cNvSpPr/>
          <p:nvPr/>
        </p:nvSpPr>
        <p:spPr>
          <a:xfrm flipV="1">
            <a:off x="6345936" y="3214116"/>
            <a:ext cx="1362456" cy="13716"/>
          </a:xfrm>
          <a:prstGeom prst="line">
            <a:avLst/>
          </a:prstGeom>
          <a:noFill/>
          <a:ln w="15240">
            <a:solidFill>
              <a:srgbClr val="4472C4"/>
            </a:solidFill>
            <a:prstDash val="solid"/>
            <a:headEnd type="none"/>
            <a:tailEnd type="arrow"/>
          </a:ln>
        </p:spPr>
        <p:txBody>
          <a:bodyPr/>
          <a:lstStyle/>
          <a:p>
            <a:endParaRPr lang="en-US"/>
          </a:p>
        </p:txBody>
      </p:sp>
      <p:sp>
        <p:nvSpPr>
          <p:cNvPr id="60" name="Shape 58"/>
          <p:cNvSpPr/>
          <p:nvPr/>
        </p:nvSpPr>
        <p:spPr>
          <a:xfrm>
            <a:off x="6345936" y="3456432"/>
            <a:ext cx="1362456" cy="809244"/>
          </a:xfrm>
          <a:prstGeom prst="line">
            <a:avLst/>
          </a:prstGeom>
          <a:noFill/>
          <a:ln w="15240">
            <a:solidFill>
              <a:srgbClr val="4472C4"/>
            </a:solidFill>
            <a:prstDash val="solid"/>
            <a:headEnd type="none"/>
            <a:tailEnd type="arrow"/>
          </a:ln>
        </p:spPr>
        <p:txBody>
          <a:bodyPr/>
          <a:lstStyle/>
          <a:p>
            <a:endParaRPr lang="en-US"/>
          </a:p>
        </p:txBody>
      </p:sp>
      <p:sp>
        <p:nvSpPr>
          <p:cNvPr id="61" name="Shape 59"/>
          <p:cNvSpPr/>
          <p:nvPr/>
        </p:nvSpPr>
        <p:spPr>
          <a:xfrm>
            <a:off x="5349240" y="3621024"/>
            <a:ext cx="9144" cy="630936"/>
          </a:xfrm>
          <a:prstGeom prst="line">
            <a:avLst/>
          </a:prstGeom>
          <a:noFill/>
          <a:ln w="15240">
            <a:solidFill>
              <a:srgbClr val="4472C4"/>
            </a:solidFill>
            <a:prstDash val="solid"/>
            <a:headEnd type="none"/>
            <a:tailEnd type="arrow"/>
          </a:ln>
        </p:spPr>
        <p:txBody>
          <a:bodyPr/>
          <a:lstStyle/>
          <a:p>
            <a:endParaRPr lang="en-US"/>
          </a:p>
        </p:txBody>
      </p:sp>
      <p:sp>
        <p:nvSpPr>
          <p:cNvPr id="62" name="Text 60"/>
          <p:cNvSpPr/>
          <p:nvPr/>
        </p:nvSpPr>
        <p:spPr>
          <a:xfrm>
            <a:off x="3017520" y="2231136"/>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Report</a:t>
            </a:r>
            <a:endParaRPr lang="en-US" sz="900" dirty="0"/>
          </a:p>
        </p:txBody>
      </p:sp>
      <p:sp>
        <p:nvSpPr>
          <p:cNvPr id="63" name="Text 61"/>
          <p:cNvSpPr/>
          <p:nvPr/>
        </p:nvSpPr>
        <p:spPr>
          <a:xfrm>
            <a:off x="3017520" y="2414016"/>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
        <p:nvSpPr>
          <p:cNvPr id="64" name="Text 62"/>
          <p:cNvSpPr/>
          <p:nvPr/>
        </p:nvSpPr>
        <p:spPr>
          <a:xfrm>
            <a:off x="3017520" y="3456432"/>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Re-Shipment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Request</a:t>
            </a:r>
            <a:endParaRPr lang="en-US" sz="900" dirty="0"/>
          </a:p>
        </p:txBody>
      </p:sp>
      <p:sp>
        <p:nvSpPr>
          <p:cNvPr id="65" name="Text 63"/>
          <p:cNvSpPr/>
          <p:nvPr/>
        </p:nvSpPr>
        <p:spPr>
          <a:xfrm>
            <a:off x="3035808" y="3831336"/>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
        <p:nvSpPr>
          <p:cNvPr id="66" name="Text 64"/>
          <p:cNvSpPr/>
          <p:nvPr/>
        </p:nvSpPr>
        <p:spPr>
          <a:xfrm>
            <a:off x="1645920" y="4453128"/>
            <a:ext cx="164592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Original 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Data</a:t>
            </a:r>
            <a:endParaRPr lang="en-US" sz="900" dirty="0"/>
          </a:p>
        </p:txBody>
      </p:sp>
      <p:sp>
        <p:nvSpPr>
          <p:cNvPr id="67" name="Text 65"/>
          <p:cNvSpPr/>
          <p:nvPr/>
        </p:nvSpPr>
        <p:spPr>
          <a:xfrm>
            <a:off x="6400800" y="2304288"/>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Notification</a:t>
            </a:r>
            <a:endParaRPr lang="en-US" sz="900" dirty="0"/>
          </a:p>
        </p:txBody>
      </p:sp>
      <p:sp>
        <p:nvSpPr>
          <p:cNvPr id="68" name="Text 66"/>
          <p:cNvSpPr/>
          <p:nvPr/>
        </p:nvSpPr>
        <p:spPr>
          <a:xfrm>
            <a:off x="6400800" y="3035808"/>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Re-Shipment</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Trigger</a:t>
            </a:r>
            <a:endParaRPr lang="en-US" sz="900" dirty="0"/>
          </a:p>
        </p:txBody>
      </p:sp>
      <p:sp>
        <p:nvSpPr>
          <p:cNvPr id="69" name="Text 67"/>
          <p:cNvSpPr/>
          <p:nvPr/>
        </p:nvSpPr>
        <p:spPr>
          <a:xfrm>
            <a:off x="6400800" y="3712464"/>
            <a:ext cx="12344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Alert</a:t>
            </a:r>
            <a:endParaRPr lang="en-US" sz="900" dirty="0"/>
          </a:p>
        </p:txBody>
      </p:sp>
      <p:sp>
        <p:nvSpPr>
          <p:cNvPr id="70" name="Text 68"/>
          <p:cNvSpPr/>
          <p:nvPr/>
        </p:nvSpPr>
        <p:spPr>
          <a:xfrm>
            <a:off x="5440680" y="3913632"/>
            <a:ext cx="146304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Exception Record</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(Persisted)</a:t>
            </a:r>
            <a:endParaRPr lang="en-US" sz="900" dirty="0"/>
          </a:p>
        </p:txBody>
      </p:sp>
      <p:sp>
        <p:nvSpPr>
          <p:cNvPr id="71" name="Text 63">
            <a:extLst>
              <a:ext uri="{FF2B5EF4-FFF2-40B4-BE49-F238E27FC236}">
                <a16:creationId xmlns:a16="http://schemas.microsoft.com/office/drawing/2014/main" id="{1215241E-EBFE-7D28-2879-879D4E5C7949}"/>
              </a:ext>
            </a:extLst>
          </p:cNvPr>
          <p:cNvSpPr/>
          <p:nvPr/>
        </p:nvSpPr>
        <p:spPr>
          <a:xfrm>
            <a:off x="3044952" y="4396332"/>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834640" y="484632"/>
            <a:ext cx="5029200" cy="521208"/>
          </a:xfrm>
          <a:prstGeom prst="rect">
            <a:avLst/>
          </a:prstGeom>
          <a:noFill/>
          <a:ln/>
        </p:spPr>
        <p:txBody>
          <a:bodyPr wrap="square" rtlCol="0" anchor="ctr"/>
          <a:lstStyle/>
          <a:p>
            <a:pPr marL="0" indent="0" algn="ctr">
              <a:buNone/>
            </a:pPr>
            <a:r>
              <a:rPr lang="en-US" sz="1600" dirty="0">
                <a:solidFill>
                  <a:srgbClr val="1A1A2D"/>
                </a:solidFill>
                <a:latin typeface="Calibri" pitchFamily="34" charset="0"/>
                <a:ea typeface="Calibri" pitchFamily="34" charset="-122"/>
                <a:cs typeface="Calibri" pitchFamily="34" charset="-120"/>
              </a:rPr>
              <a:t>Level 1 Logical DFD - BulkCart System</a:t>
            </a:r>
            <a:endParaRPr lang="en-US" sz="1600" dirty="0"/>
          </a:p>
          <a:p>
            <a:pPr marL="0" indent="0" algn="ctr">
              <a:buNone/>
            </a:pPr>
            <a:r>
              <a:rPr lang="en-US" sz="1600" dirty="0">
                <a:solidFill>
                  <a:srgbClr val="1A1A2D"/>
                </a:solidFill>
                <a:latin typeface="Calibri" pitchFamily="34" charset="0"/>
                <a:ea typeface="Calibri" pitchFamily="34" charset="-122"/>
                <a:cs typeface="Calibri" pitchFamily="34" charset="-120"/>
              </a:rPr>
              <a:t>05.01 Generate Invoices – DF-Out</a:t>
            </a:r>
            <a:endParaRPr lang="en-US" sz="1600" dirty="0"/>
          </a:p>
        </p:txBody>
      </p:sp>
      <p:sp>
        <p:nvSpPr>
          <p:cNvPr id="3" name="Shape 1"/>
          <p:cNvSpPr/>
          <p:nvPr/>
        </p:nvSpPr>
        <p:spPr>
          <a:xfrm>
            <a:off x="8522208" y="832104"/>
            <a:ext cx="548640" cy="347472"/>
          </a:xfrm>
          <a:prstGeom prst="roundRect">
            <a:avLst>
              <a:gd name="adj" fmla="val 13158"/>
            </a:avLst>
          </a:prstGeom>
          <a:solidFill>
            <a:srgbClr val="C4D8E8"/>
          </a:solidFill>
          <a:ln w="9525">
            <a:solidFill>
              <a:srgbClr val="7EB2CC"/>
            </a:solidFill>
            <a:prstDash val="solid"/>
          </a:ln>
        </p:spPr>
        <p:txBody>
          <a:bodyPr/>
          <a:lstStyle/>
          <a:p>
            <a:endParaRPr lang="en-US"/>
          </a:p>
        </p:txBody>
      </p:sp>
      <p:sp>
        <p:nvSpPr>
          <p:cNvPr id="4" name="Text 2"/>
          <p:cNvSpPr/>
          <p:nvPr/>
        </p:nvSpPr>
        <p:spPr>
          <a:xfrm>
            <a:off x="9153144" y="92354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User Stories</a:t>
            </a:r>
            <a:endParaRPr lang="en-US" sz="1000" dirty="0"/>
          </a:p>
        </p:txBody>
      </p:sp>
      <p:sp>
        <p:nvSpPr>
          <p:cNvPr id="5" name="Shape 3"/>
          <p:cNvSpPr/>
          <p:nvPr/>
        </p:nvSpPr>
        <p:spPr>
          <a:xfrm>
            <a:off x="8567928" y="1252728"/>
            <a:ext cx="475488" cy="374904"/>
          </a:xfrm>
          <a:prstGeom prst="can">
            <a:avLst/>
          </a:prstGeom>
          <a:solidFill>
            <a:srgbClr val="9DC3E6"/>
          </a:solidFill>
          <a:ln w="9525">
            <a:solidFill>
              <a:srgbClr val="4472C4"/>
            </a:solidFill>
            <a:prstDash val="solid"/>
          </a:ln>
        </p:spPr>
        <p:txBody>
          <a:bodyPr/>
          <a:lstStyle/>
          <a:p>
            <a:endParaRPr lang="en-US"/>
          </a:p>
        </p:txBody>
      </p:sp>
      <p:sp>
        <p:nvSpPr>
          <p:cNvPr id="6" name="Text 4"/>
          <p:cNvSpPr/>
          <p:nvPr/>
        </p:nvSpPr>
        <p:spPr>
          <a:xfrm>
            <a:off x="9153144" y="133502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Data Stores</a:t>
            </a:r>
            <a:endParaRPr lang="en-US" sz="1000" dirty="0"/>
          </a:p>
        </p:txBody>
      </p:sp>
      <p:sp>
        <p:nvSpPr>
          <p:cNvPr id="7" name="Shape 5"/>
          <p:cNvSpPr/>
          <p:nvPr/>
        </p:nvSpPr>
        <p:spPr>
          <a:xfrm>
            <a:off x="4352544" y="2752344"/>
            <a:ext cx="1993392" cy="786384"/>
          </a:xfrm>
          <a:prstGeom prst="roundRect">
            <a:avLst>
              <a:gd name="adj" fmla="val 13953"/>
            </a:avLst>
          </a:prstGeom>
          <a:solidFill>
            <a:srgbClr val="C6E0B4"/>
          </a:solidFill>
          <a:ln w="15240">
            <a:solidFill>
              <a:srgbClr val="70AD47"/>
            </a:solidFill>
            <a:prstDash val="solid"/>
          </a:ln>
        </p:spPr>
        <p:txBody>
          <a:bodyPr/>
          <a:lstStyle/>
          <a:p>
            <a:endParaRPr lang="en-US"/>
          </a:p>
        </p:txBody>
      </p:sp>
      <p:sp>
        <p:nvSpPr>
          <p:cNvPr id="8" name="Text 6"/>
          <p:cNvSpPr/>
          <p:nvPr/>
        </p:nvSpPr>
        <p:spPr>
          <a:xfrm>
            <a:off x="4352544" y="2752344"/>
            <a:ext cx="1993392" cy="7863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05.01 Generate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Invoices</a:t>
            </a:r>
            <a:endParaRPr lang="en-US" sz="900" dirty="0"/>
          </a:p>
        </p:txBody>
      </p:sp>
      <p:sp>
        <p:nvSpPr>
          <p:cNvPr id="9" name="Shape 7"/>
          <p:cNvSpPr/>
          <p:nvPr/>
        </p:nvSpPr>
        <p:spPr>
          <a:xfrm>
            <a:off x="1014984" y="269748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0" name="Text 8"/>
          <p:cNvSpPr/>
          <p:nvPr/>
        </p:nvSpPr>
        <p:spPr>
          <a:xfrm>
            <a:off x="1014984" y="269748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1" name="Shape 9"/>
          <p:cNvSpPr/>
          <p:nvPr/>
        </p:nvSpPr>
        <p:spPr>
          <a:xfrm>
            <a:off x="3364992" y="4636008"/>
            <a:ext cx="1673352" cy="1216152"/>
          </a:xfrm>
          <a:prstGeom prst="can">
            <a:avLst/>
          </a:prstGeom>
          <a:solidFill>
            <a:srgbClr val="9DC3E6"/>
          </a:solidFill>
          <a:ln w="9525">
            <a:solidFill>
              <a:srgbClr val="4472C4"/>
            </a:solidFill>
            <a:prstDash val="solid"/>
          </a:ln>
        </p:spPr>
        <p:txBody>
          <a:bodyPr/>
          <a:lstStyle/>
          <a:p>
            <a:endParaRPr lang="en-US"/>
          </a:p>
        </p:txBody>
      </p:sp>
      <p:sp>
        <p:nvSpPr>
          <p:cNvPr id="12" name="Text 10"/>
          <p:cNvSpPr/>
          <p:nvPr/>
        </p:nvSpPr>
        <p:spPr>
          <a:xfrm>
            <a:off x="3364992" y="4976531"/>
            <a:ext cx="1673352" cy="6688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D5 Order</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Records</a:t>
            </a:r>
            <a:endParaRPr lang="en-US" sz="900" dirty="0"/>
          </a:p>
        </p:txBody>
      </p:sp>
      <p:sp>
        <p:nvSpPr>
          <p:cNvPr id="13" name="Shape 11"/>
          <p:cNvSpPr/>
          <p:nvPr/>
        </p:nvSpPr>
        <p:spPr>
          <a:xfrm>
            <a:off x="7708392" y="1746504"/>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4" name="Text 12"/>
          <p:cNvSpPr/>
          <p:nvPr/>
        </p:nvSpPr>
        <p:spPr>
          <a:xfrm>
            <a:off x="7708392" y="1746504"/>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5" name="Shape 13"/>
          <p:cNvSpPr/>
          <p:nvPr/>
        </p:nvSpPr>
        <p:spPr>
          <a:xfrm>
            <a:off x="7708392" y="2752344"/>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6" name="Text 14"/>
          <p:cNvSpPr/>
          <p:nvPr/>
        </p:nvSpPr>
        <p:spPr>
          <a:xfrm>
            <a:off x="7708392" y="2752344"/>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05.06 Aging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Dunning</a:t>
            </a:r>
            <a:endParaRPr lang="en-US" sz="900" dirty="0"/>
          </a:p>
        </p:txBody>
      </p:sp>
      <p:sp>
        <p:nvSpPr>
          <p:cNvPr id="17" name="Shape 15"/>
          <p:cNvSpPr/>
          <p:nvPr/>
        </p:nvSpPr>
        <p:spPr>
          <a:xfrm>
            <a:off x="7708392" y="3776472"/>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8" name="Text 16"/>
          <p:cNvSpPr/>
          <p:nvPr/>
        </p:nvSpPr>
        <p:spPr>
          <a:xfrm>
            <a:off x="7708392" y="3776472"/>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01.07 Notification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Preferences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Routing</a:t>
            </a:r>
            <a:endParaRPr lang="en-US" sz="900" dirty="0"/>
          </a:p>
        </p:txBody>
      </p:sp>
      <p:sp>
        <p:nvSpPr>
          <p:cNvPr id="19" name="Shape 17"/>
          <p:cNvSpPr/>
          <p:nvPr/>
        </p:nvSpPr>
        <p:spPr>
          <a:xfrm>
            <a:off x="5779008" y="4636008"/>
            <a:ext cx="1673352" cy="1216152"/>
          </a:xfrm>
          <a:prstGeom prst="can">
            <a:avLst/>
          </a:prstGeom>
          <a:solidFill>
            <a:srgbClr val="9DC3E6"/>
          </a:solidFill>
          <a:ln w="9525">
            <a:solidFill>
              <a:srgbClr val="4472C4"/>
            </a:solidFill>
            <a:prstDash val="solid"/>
          </a:ln>
        </p:spPr>
        <p:txBody>
          <a:bodyPr/>
          <a:lstStyle/>
          <a:p>
            <a:endParaRPr lang="en-US"/>
          </a:p>
        </p:txBody>
      </p:sp>
      <p:sp>
        <p:nvSpPr>
          <p:cNvPr id="20" name="Text 18"/>
          <p:cNvSpPr/>
          <p:nvPr/>
        </p:nvSpPr>
        <p:spPr>
          <a:xfrm>
            <a:off x="5779008" y="4976531"/>
            <a:ext cx="1673352" cy="6688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D6 Invoice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Records</a:t>
            </a:r>
            <a:endParaRPr lang="en-US" sz="900" dirty="0"/>
          </a:p>
        </p:txBody>
      </p:sp>
      <p:sp>
        <p:nvSpPr>
          <p:cNvPr id="21" name="Shape 19"/>
          <p:cNvSpPr/>
          <p:nvPr/>
        </p:nvSpPr>
        <p:spPr>
          <a:xfrm>
            <a:off x="2980944" y="3086100"/>
            <a:ext cx="1371600" cy="9144"/>
          </a:xfrm>
          <a:prstGeom prst="line">
            <a:avLst/>
          </a:prstGeom>
          <a:noFill/>
          <a:ln w="15240">
            <a:solidFill>
              <a:srgbClr val="4472C4"/>
            </a:solidFill>
            <a:prstDash val="solid"/>
            <a:headEnd type="none"/>
            <a:tailEnd type="arrow"/>
          </a:ln>
        </p:spPr>
        <p:txBody>
          <a:bodyPr/>
          <a:lstStyle/>
          <a:p>
            <a:endParaRPr lang="en-US"/>
          </a:p>
        </p:txBody>
      </p:sp>
      <p:sp>
        <p:nvSpPr>
          <p:cNvPr id="22" name="Shape 20"/>
          <p:cNvSpPr/>
          <p:nvPr/>
        </p:nvSpPr>
        <p:spPr>
          <a:xfrm flipV="1">
            <a:off x="5038344" y="3538728"/>
            <a:ext cx="310896" cy="1097280"/>
          </a:xfrm>
          <a:prstGeom prst="line">
            <a:avLst/>
          </a:prstGeom>
          <a:noFill/>
          <a:ln w="15240">
            <a:solidFill>
              <a:srgbClr val="4472C4"/>
            </a:solidFill>
            <a:prstDash val="solid"/>
            <a:headEnd type="none"/>
            <a:tailEnd type="arrow"/>
          </a:ln>
        </p:spPr>
        <p:txBody>
          <a:bodyPr/>
          <a:lstStyle/>
          <a:p>
            <a:endParaRPr lang="en-US"/>
          </a:p>
        </p:txBody>
      </p:sp>
      <p:sp>
        <p:nvSpPr>
          <p:cNvPr id="23" name="Shape 21"/>
          <p:cNvSpPr/>
          <p:nvPr/>
        </p:nvSpPr>
        <p:spPr>
          <a:xfrm flipV="1">
            <a:off x="6345936" y="2125980"/>
            <a:ext cx="1362456" cy="754380"/>
          </a:xfrm>
          <a:prstGeom prst="line">
            <a:avLst/>
          </a:prstGeom>
          <a:noFill/>
          <a:ln w="15240">
            <a:solidFill>
              <a:srgbClr val="4472C4"/>
            </a:solidFill>
            <a:prstDash val="solid"/>
            <a:headEnd type="none"/>
            <a:tailEnd type="arrow"/>
          </a:ln>
        </p:spPr>
        <p:txBody>
          <a:bodyPr/>
          <a:lstStyle/>
          <a:p>
            <a:endParaRPr lang="en-US"/>
          </a:p>
        </p:txBody>
      </p:sp>
      <p:sp>
        <p:nvSpPr>
          <p:cNvPr id="24" name="Shape 22"/>
          <p:cNvSpPr/>
          <p:nvPr/>
        </p:nvSpPr>
        <p:spPr>
          <a:xfrm>
            <a:off x="6345936" y="3145536"/>
            <a:ext cx="1362456" cy="9144"/>
          </a:xfrm>
          <a:prstGeom prst="line">
            <a:avLst/>
          </a:prstGeom>
          <a:noFill/>
          <a:ln w="15240">
            <a:solidFill>
              <a:srgbClr val="4472C4"/>
            </a:solidFill>
            <a:prstDash val="solid"/>
            <a:headEnd type="none"/>
            <a:tailEnd type="arrow"/>
          </a:ln>
        </p:spPr>
        <p:txBody>
          <a:bodyPr/>
          <a:lstStyle/>
          <a:p>
            <a:endParaRPr lang="en-US"/>
          </a:p>
        </p:txBody>
      </p:sp>
      <p:sp>
        <p:nvSpPr>
          <p:cNvPr id="25" name="Shape 23"/>
          <p:cNvSpPr/>
          <p:nvPr/>
        </p:nvSpPr>
        <p:spPr>
          <a:xfrm>
            <a:off x="6345936" y="3401568"/>
            <a:ext cx="1362456" cy="763524"/>
          </a:xfrm>
          <a:prstGeom prst="line">
            <a:avLst/>
          </a:prstGeom>
          <a:noFill/>
          <a:ln w="15240">
            <a:solidFill>
              <a:srgbClr val="4472C4"/>
            </a:solidFill>
            <a:prstDash val="solid"/>
            <a:headEnd type="none"/>
            <a:tailEnd type="arrow"/>
          </a:ln>
        </p:spPr>
        <p:txBody>
          <a:bodyPr/>
          <a:lstStyle/>
          <a:p>
            <a:endParaRPr lang="en-US"/>
          </a:p>
        </p:txBody>
      </p:sp>
      <p:sp>
        <p:nvSpPr>
          <p:cNvPr id="26" name="Shape 24"/>
          <p:cNvSpPr/>
          <p:nvPr/>
        </p:nvSpPr>
        <p:spPr>
          <a:xfrm>
            <a:off x="5779008" y="3538728"/>
            <a:ext cx="841248" cy="1097280"/>
          </a:xfrm>
          <a:prstGeom prst="line">
            <a:avLst/>
          </a:prstGeom>
          <a:noFill/>
          <a:ln w="15240">
            <a:solidFill>
              <a:srgbClr val="4472C4"/>
            </a:solidFill>
            <a:prstDash val="solid"/>
            <a:headEnd type="none"/>
            <a:tailEnd type="arrow"/>
          </a:ln>
        </p:spPr>
        <p:txBody>
          <a:bodyPr/>
          <a:lstStyle/>
          <a:p>
            <a:endParaRPr lang="en-US"/>
          </a:p>
        </p:txBody>
      </p:sp>
      <p:sp>
        <p:nvSpPr>
          <p:cNvPr id="27" name="Text 25"/>
          <p:cNvSpPr/>
          <p:nvPr/>
        </p:nvSpPr>
        <p:spPr>
          <a:xfrm>
            <a:off x="3048944" y="2750283"/>
            <a:ext cx="128016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Order Completion</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Trigger</a:t>
            </a:r>
            <a:endParaRPr lang="en-US" sz="900" dirty="0"/>
          </a:p>
        </p:txBody>
      </p:sp>
      <p:sp>
        <p:nvSpPr>
          <p:cNvPr id="28" name="Text 26"/>
          <p:cNvSpPr/>
          <p:nvPr/>
        </p:nvSpPr>
        <p:spPr>
          <a:xfrm>
            <a:off x="3794760" y="4123944"/>
            <a:ext cx="1078992"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Order &amp; Line</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Item Data</a:t>
            </a:r>
            <a:endParaRPr lang="en-US" sz="900" dirty="0"/>
          </a:p>
        </p:txBody>
      </p:sp>
      <p:sp>
        <p:nvSpPr>
          <p:cNvPr id="29" name="Text 27"/>
          <p:cNvSpPr/>
          <p:nvPr/>
        </p:nvSpPr>
        <p:spPr>
          <a:xfrm>
            <a:off x="6492240" y="2057400"/>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30" name="Text 28"/>
          <p:cNvSpPr/>
          <p:nvPr/>
        </p:nvSpPr>
        <p:spPr>
          <a:xfrm>
            <a:off x="6492240" y="2221992"/>
            <a:ext cx="118872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Document</a:t>
            </a:r>
            <a:endParaRPr lang="en-US" sz="900" dirty="0"/>
          </a:p>
        </p:txBody>
      </p:sp>
      <p:sp>
        <p:nvSpPr>
          <p:cNvPr id="31" name="Text 29"/>
          <p:cNvSpPr/>
          <p:nvPr/>
        </p:nvSpPr>
        <p:spPr>
          <a:xfrm>
            <a:off x="6991490" y="3184352"/>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32" name="Text 30"/>
          <p:cNvSpPr/>
          <p:nvPr/>
        </p:nvSpPr>
        <p:spPr>
          <a:xfrm>
            <a:off x="6858000" y="2926080"/>
            <a:ext cx="109728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Record</a:t>
            </a:r>
            <a:endParaRPr lang="en-US" sz="900" dirty="0"/>
          </a:p>
        </p:txBody>
      </p:sp>
      <p:sp>
        <p:nvSpPr>
          <p:cNvPr id="33" name="Text 31"/>
          <p:cNvSpPr/>
          <p:nvPr/>
        </p:nvSpPr>
        <p:spPr>
          <a:xfrm>
            <a:off x="6583680" y="3776472"/>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34" name="Text 32"/>
          <p:cNvSpPr/>
          <p:nvPr/>
        </p:nvSpPr>
        <p:spPr>
          <a:xfrm>
            <a:off x="6428232" y="3911346"/>
            <a:ext cx="128016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Notification</a:t>
            </a:r>
            <a:endParaRPr lang="en-US" sz="900" dirty="0"/>
          </a:p>
        </p:txBody>
      </p:sp>
      <p:sp>
        <p:nvSpPr>
          <p:cNvPr id="35" name="Text 33"/>
          <p:cNvSpPr/>
          <p:nvPr/>
        </p:nvSpPr>
        <p:spPr>
          <a:xfrm>
            <a:off x="5532120" y="4189049"/>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Record</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(Persisted)</a:t>
            </a:r>
            <a:endParaRPr lang="en-US" sz="900" dirty="0"/>
          </a:p>
        </p:txBody>
      </p:sp>
      <p:sp>
        <p:nvSpPr>
          <p:cNvPr id="36" name="Text 34"/>
          <p:cNvSpPr/>
          <p:nvPr/>
        </p:nvSpPr>
        <p:spPr>
          <a:xfrm>
            <a:off x="621792" y="5907024"/>
            <a:ext cx="6858000" cy="914400"/>
          </a:xfrm>
          <a:prstGeom prst="rect">
            <a:avLst/>
          </a:prstGeom>
          <a:noFill/>
          <a:ln/>
        </p:spPr>
        <p:txBody>
          <a:bodyPr wrap="square" rtlCol="0" anchor="t"/>
          <a:lstStyle/>
          <a:p>
            <a:pPr marL="0" indent="0">
              <a:buNone/>
            </a:pPr>
            <a:r>
              <a:rPr lang="en-US" sz="1000" b="1" dirty="0">
                <a:solidFill>
                  <a:srgbClr val="1A1A2D"/>
                </a:solidFill>
                <a:latin typeface="Calibri" pitchFamily="34" charset="0"/>
                <a:ea typeface="Calibri" pitchFamily="34" charset="-122"/>
                <a:cs typeface="Calibri" pitchFamily="34" charset="-120"/>
              </a:rPr>
              <a:t>Objective:
</a:t>
            </a:r>
            <a:r>
              <a:rPr lang="en-US" sz="1000" dirty="0">
                <a:solidFill>
                  <a:srgbClr val="1A1A2D"/>
                </a:solidFill>
                <a:latin typeface="Calibri" pitchFamily="34" charset="0"/>
                <a:ea typeface="Calibri" pitchFamily="34" charset="-122"/>
                <a:cs typeface="Calibri" pitchFamily="34" charset="-120"/>
              </a:rPr>
              <a:t>Depicts how the Generate Invoices feature (05.01) receives an order completion trigger from the Subscribed Retailer and fetches order and line item data from the Order Records store, then outputs the invoice document to the retailer, pushes the invoice record to Aging &amp; Dunning (05.06), and routes invoice notifications to Notification Preferences &amp; Routing (01.07) — highlighting DF-Out data flows within Sprint 3 scope.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834640" y="484632"/>
            <a:ext cx="5029200" cy="521208"/>
          </a:xfrm>
          <a:prstGeom prst="rect">
            <a:avLst/>
          </a:prstGeom>
          <a:noFill/>
          <a:ln/>
        </p:spPr>
        <p:txBody>
          <a:bodyPr wrap="square" rtlCol="0" anchor="ctr"/>
          <a:lstStyle/>
          <a:p>
            <a:pPr marL="0" indent="0" algn="ctr">
              <a:buNone/>
            </a:pPr>
            <a:r>
              <a:rPr lang="en-US" sz="1600" dirty="0">
                <a:solidFill>
                  <a:srgbClr val="1A1A2D"/>
                </a:solidFill>
                <a:latin typeface="Calibri" pitchFamily="34" charset="0"/>
                <a:ea typeface="Calibri" pitchFamily="34" charset="-122"/>
                <a:cs typeface="Calibri" pitchFamily="34" charset="-120"/>
              </a:rPr>
              <a:t>Level 1 Physical DFD - BulkCart System</a:t>
            </a:r>
            <a:endParaRPr lang="en-US" sz="1600" dirty="0"/>
          </a:p>
          <a:p>
            <a:pPr marL="0" indent="0" algn="ctr">
              <a:buNone/>
            </a:pPr>
            <a:r>
              <a:rPr lang="en-US" sz="1600" dirty="0">
                <a:solidFill>
                  <a:srgbClr val="1A1A2D"/>
                </a:solidFill>
                <a:latin typeface="Calibri" pitchFamily="34" charset="0"/>
                <a:ea typeface="Calibri" pitchFamily="34" charset="-122"/>
                <a:cs typeface="Calibri" pitchFamily="34" charset="-120"/>
              </a:rPr>
              <a:t>05.01 Generate Invoices – DF-Out</a:t>
            </a:r>
            <a:endParaRPr lang="en-US" sz="1600" dirty="0"/>
          </a:p>
        </p:txBody>
      </p:sp>
      <p:sp>
        <p:nvSpPr>
          <p:cNvPr id="3" name="Shape 1"/>
          <p:cNvSpPr/>
          <p:nvPr/>
        </p:nvSpPr>
        <p:spPr>
          <a:xfrm>
            <a:off x="8522208" y="832104"/>
            <a:ext cx="548640" cy="347472"/>
          </a:xfrm>
          <a:prstGeom prst="roundRect">
            <a:avLst>
              <a:gd name="adj" fmla="val 13158"/>
            </a:avLst>
          </a:prstGeom>
          <a:solidFill>
            <a:srgbClr val="C4D8E8"/>
          </a:solidFill>
          <a:ln w="9525">
            <a:solidFill>
              <a:srgbClr val="7EB2CC"/>
            </a:solidFill>
            <a:prstDash val="solid"/>
          </a:ln>
        </p:spPr>
        <p:txBody>
          <a:bodyPr/>
          <a:lstStyle/>
          <a:p>
            <a:endParaRPr lang="en-US"/>
          </a:p>
        </p:txBody>
      </p:sp>
      <p:sp>
        <p:nvSpPr>
          <p:cNvPr id="4" name="Text 2"/>
          <p:cNvSpPr/>
          <p:nvPr/>
        </p:nvSpPr>
        <p:spPr>
          <a:xfrm>
            <a:off x="9153144" y="92354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User Stories</a:t>
            </a:r>
            <a:endParaRPr lang="en-US" sz="1000" dirty="0"/>
          </a:p>
        </p:txBody>
      </p:sp>
      <p:sp>
        <p:nvSpPr>
          <p:cNvPr id="5" name="Shape 3"/>
          <p:cNvSpPr/>
          <p:nvPr/>
        </p:nvSpPr>
        <p:spPr>
          <a:xfrm>
            <a:off x="8567928" y="1252728"/>
            <a:ext cx="475488" cy="374904"/>
          </a:xfrm>
          <a:prstGeom prst="can">
            <a:avLst/>
          </a:prstGeom>
          <a:solidFill>
            <a:srgbClr val="9DC3E6"/>
          </a:solidFill>
          <a:ln w="9525">
            <a:solidFill>
              <a:srgbClr val="4472C4"/>
            </a:solidFill>
            <a:prstDash val="solid"/>
          </a:ln>
        </p:spPr>
        <p:txBody>
          <a:bodyPr/>
          <a:lstStyle/>
          <a:p>
            <a:endParaRPr lang="en-US"/>
          </a:p>
        </p:txBody>
      </p:sp>
      <p:sp>
        <p:nvSpPr>
          <p:cNvPr id="6" name="Text 4"/>
          <p:cNvSpPr/>
          <p:nvPr/>
        </p:nvSpPr>
        <p:spPr>
          <a:xfrm>
            <a:off x="9153144" y="1335024"/>
            <a:ext cx="822960" cy="173736"/>
          </a:xfrm>
          <a:prstGeom prst="rect">
            <a:avLst/>
          </a:prstGeom>
          <a:noFill/>
          <a:ln/>
        </p:spPr>
        <p:txBody>
          <a:bodyPr wrap="square" rtlCol="0" anchor="ctr"/>
          <a:lstStyle/>
          <a:p>
            <a:pPr marL="0" indent="0">
              <a:buNone/>
            </a:pPr>
            <a:r>
              <a:rPr lang="en-US" sz="1000" dirty="0">
                <a:solidFill>
                  <a:srgbClr val="1A1A2D"/>
                </a:solidFill>
                <a:latin typeface="Calibri" pitchFamily="34" charset="0"/>
                <a:ea typeface="Calibri" pitchFamily="34" charset="-122"/>
                <a:cs typeface="Calibri" pitchFamily="34" charset="-120"/>
              </a:rPr>
              <a:t>Data Stores</a:t>
            </a:r>
            <a:endParaRPr lang="en-US" sz="1000" dirty="0"/>
          </a:p>
        </p:txBody>
      </p:sp>
      <p:sp>
        <p:nvSpPr>
          <p:cNvPr id="7" name="Shape 5"/>
          <p:cNvSpPr/>
          <p:nvPr/>
        </p:nvSpPr>
        <p:spPr>
          <a:xfrm>
            <a:off x="4352544" y="2752344"/>
            <a:ext cx="1993392" cy="786384"/>
          </a:xfrm>
          <a:prstGeom prst="roundRect">
            <a:avLst>
              <a:gd name="adj" fmla="val 13953"/>
            </a:avLst>
          </a:prstGeom>
          <a:solidFill>
            <a:srgbClr val="C6E0B4"/>
          </a:solidFill>
          <a:ln w="15240">
            <a:solidFill>
              <a:srgbClr val="70AD47"/>
            </a:solidFill>
            <a:prstDash val="solid"/>
          </a:ln>
        </p:spPr>
        <p:txBody>
          <a:bodyPr/>
          <a:lstStyle/>
          <a:p>
            <a:endParaRPr lang="en-US"/>
          </a:p>
        </p:txBody>
      </p:sp>
      <p:sp>
        <p:nvSpPr>
          <p:cNvPr id="8" name="Text 6"/>
          <p:cNvSpPr/>
          <p:nvPr/>
        </p:nvSpPr>
        <p:spPr>
          <a:xfrm>
            <a:off x="4352544" y="2752344"/>
            <a:ext cx="1993392" cy="786384"/>
          </a:xfrm>
          <a:prstGeom prst="rect">
            <a:avLst/>
          </a:prstGeom>
          <a:noFill/>
          <a:ln/>
        </p:spPr>
        <p:txBody>
          <a:bodyPr wrap="square" lIns="25400" tIns="25400" rIns="25400" bIns="254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05.01 Generate</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Invoices</a:t>
            </a:r>
            <a:endParaRPr lang="en-US" sz="900" dirty="0"/>
          </a:p>
        </p:txBody>
      </p:sp>
      <p:sp>
        <p:nvSpPr>
          <p:cNvPr id="9" name="Shape 7"/>
          <p:cNvSpPr/>
          <p:nvPr/>
        </p:nvSpPr>
        <p:spPr>
          <a:xfrm>
            <a:off x="1014984" y="2697480"/>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0" name="Text 8"/>
          <p:cNvSpPr/>
          <p:nvPr/>
        </p:nvSpPr>
        <p:spPr>
          <a:xfrm>
            <a:off x="1014984" y="2697480"/>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1" name="Shape 9"/>
          <p:cNvSpPr/>
          <p:nvPr/>
        </p:nvSpPr>
        <p:spPr>
          <a:xfrm>
            <a:off x="7708392" y="1746504"/>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2" name="Text 10"/>
          <p:cNvSpPr/>
          <p:nvPr/>
        </p:nvSpPr>
        <p:spPr>
          <a:xfrm>
            <a:off x="7708392" y="1746504"/>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Subscribed</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Retailer</a:t>
            </a:r>
            <a:endParaRPr lang="en-US" sz="900" dirty="0"/>
          </a:p>
        </p:txBody>
      </p:sp>
      <p:sp>
        <p:nvSpPr>
          <p:cNvPr id="13" name="Shape 11"/>
          <p:cNvSpPr/>
          <p:nvPr/>
        </p:nvSpPr>
        <p:spPr>
          <a:xfrm>
            <a:off x="7708392" y="2752344"/>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4" name="Text 12"/>
          <p:cNvSpPr/>
          <p:nvPr/>
        </p:nvSpPr>
        <p:spPr>
          <a:xfrm>
            <a:off x="7708392" y="2752344"/>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05.06 Aging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Dunning</a:t>
            </a:r>
            <a:endParaRPr lang="en-US" sz="900" dirty="0"/>
          </a:p>
        </p:txBody>
      </p:sp>
      <p:sp>
        <p:nvSpPr>
          <p:cNvPr id="15" name="Shape 13"/>
          <p:cNvSpPr/>
          <p:nvPr/>
        </p:nvSpPr>
        <p:spPr>
          <a:xfrm>
            <a:off x="7708392" y="3776472"/>
            <a:ext cx="1965960" cy="758952"/>
          </a:xfrm>
          <a:prstGeom prst="roundRect">
            <a:avLst>
              <a:gd name="adj" fmla="val 7229"/>
            </a:avLst>
          </a:prstGeom>
          <a:solidFill>
            <a:srgbClr val="C4D8E8"/>
          </a:solidFill>
          <a:ln w="9525">
            <a:solidFill>
              <a:srgbClr val="7EB2CC"/>
            </a:solidFill>
            <a:prstDash val="solid"/>
          </a:ln>
        </p:spPr>
        <p:txBody>
          <a:bodyPr/>
          <a:lstStyle/>
          <a:p>
            <a:endParaRPr lang="en-US"/>
          </a:p>
        </p:txBody>
      </p:sp>
      <p:sp>
        <p:nvSpPr>
          <p:cNvPr id="16" name="Text 14"/>
          <p:cNvSpPr/>
          <p:nvPr/>
        </p:nvSpPr>
        <p:spPr>
          <a:xfrm>
            <a:off x="7708392" y="3776472"/>
            <a:ext cx="1965960" cy="758952"/>
          </a:xfrm>
          <a:prstGeom prst="rect">
            <a:avLst/>
          </a:prstGeom>
          <a:noFill/>
          <a:ln/>
        </p:spPr>
        <p:txBody>
          <a:bodyPr wrap="square" lIns="38100" tIns="38100" rIns="38100" bIns="38100" rtlCol="0" anchor="ctr"/>
          <a:lstStyle/>
          <a:p>
            <a:pPr marL="0" indent="0" algn="ctr">
              <a:buNone/>
            </a:pPr>
            <a:r>
              <a:rPr lang="en-US" sz="900" dirty="0">
                <a:solidFill>
                  <a:srgbClr val="1A1A2D"/>
                </a:solidFill>
                <a:latin typeface="Calibri" pitchFamily="34" charset="0"/>
                <a:ea typeface="Calibri" pitchFamily="34" charset="-122"/>
                <a:cs typeface="Calibri" pitchFamily="34" charset="-120"/>
              </a:rPr>
              <a:t>01.07 Notification</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Preferences &amp;</a:t>
            </a:r>
            <a:endParaRPr lang="en-US" sz="900" dirty="0"/>
          </a:p>
          <a:p>
            <a:pPr marL="0" indent="0" algn="ctr">
              <a:buNone/>
            </a:pPr>
            <a:r>
              <a:rPr lang="en-US" sz="900" dirty="0">
                <a:solidFill>
                  <a:srgbClr val="1A1A2D"/>
                </a:solidFill>
                <a:latin typeface="Calibri" pitchFamily="34" charset="0"/>
                <a:ea typeface="Calibri" pitchFamily="34" charset="-122"/>
                <a:cs typeface="Calibri" pitchFamily="34" charset="-120"/>
              </a:rPr>
              <a:t>Routing</a:t>
            </a:r>
            <a:endParaRPr lang="en-US" sz="900" dirty="0"/>
          </a:p>
        </p:txBody>
      </p:sp>
      <p:sp>
        <p:nvSpPr>
          <p:cNvPr id="17" name="Shape 15"/>
          <p:cNvSpPr/>
          <p:nvPr/>
        </p:nvSpPr>
        <p:spPr>
          <a:xfrm>
            <a:off x="3017520" y="4480560"/>
            <a:ext cx="1920240" cy="182880"/>
          </a:xfrm>
          <a:prstGeom prst="rect">
            <a:avLst/>
          </a:prstGeom>
          <a:solidFill>
            <a:srgbClr val="FFFFFF"/>
          </a:solidFill>
          <a:ln w="6350">
            <a:solidFill>
              <a:srgbClr val="AAAAAA"/>
            </a:solidFill>
            <a:prstDash val="solid"/>
          </a:ln>
        </p:spPr>
        <p:txBody>
          <a:bodyPr/>
          <a:lstStyle/>
          <a:p>
            <a:endParaRPr lang="en-US"/>
          </a:p>
        </p:txBody>
      </p:sp>
      <p:sp>
        <p:nvSpPr>
          <p:cNvPr id="18" name="Text 16"/>
          <p:cNvSpPr/>
          <p:nvPr/>
        </p:nvSpPr>
        <p:spPr>
          <a:xfrm>
            <a:off x="3017520" y="4480560"/>
            <a:ext cx="1920240" cy="182880"/>
          </a:xfrm>
          <a:prstGeom prst="rect">
            <a:avLst/>
          </a:prstGeom>
          <a:noFill/>
          <a:ln/>
        </p:spPr>
        <p:txBody>
          <a:bodyPr wrap="square" rtlCol="0" anchor="ctr"/>
          <a:lstStyle/>
          <a:p>
            <a:pPr marL="0" indent="0" algn="ctr">
              <a:buNone/>
            </a:pPr>
            <a:r>
              <a:rPr lang="en-US" sz="1100" b="1" u="sng" dirty="0">
                <a:solidFill>
                  <a:srgbClr val="C00000"/>
                </a:solidFill>
                <a:latin typeface="Calibri" pitchFamily="34" charset="0"/>
                <a:ea typeface="Calibri" pitchFamily="34" charset="-122"/>
                <a:cs typeface="Calibri" pitchFamily="34" charset="-120"/>
              </a:rPr>
              <a:t>Order (Invoice)</a:t>
            </a:r>
            <a:endParaRPr lang="en-US" sz="1100" dirty="0"/>
          </a:p>
        </p:txBody>
      </p:sp>
      <p:sp>
        <p:nvSpPr>
          <p:cNvPr id="19" name="Shape 17"/>
          <p:cNvSpPr/>
          <p:nvPr/>
        </p:nvSpPr>
        <p:spPr>
          <a:xfrm>
            <a:off x="3017520" y="4663440"/>
            <a:ext cx="1920240" cy="182880"/>
          </a:xfrm>
          <a:prstGeom prst="rect">
            <a:avLst/>
          </a:prstGeom>
          <a:solidFill>
            <a:srgbClr val="FFFFFF"/>
          </a:solidFill>
          <a:ln w="6350">
            <a:solidFill>
              <a:srgbClr val="CCCCCC"/>
            </a:solidFill>
            <a:prstDash val="solid"/>
          </a:ln>
        </p:spPr>
        <p:txBody>
          <a:bodyPr/>
          <a:lstStyle/>
          <a:p>
            <a:endParaRPr lang="en-US"/>
          </a:p>
        </p:txBody>
      </p:sp>
      <p:sp>
        <p:nvSpPr>
          <p:cNvPr id="20" name="Text 18"/>
          <p:cNvSpPr/>
          <p:nvPr/>
        </p:nvSpPr>
        <p:spPr>
          <a:xfrm>
            <a:off x="3063240" y="4663440"/>
            <a:ext cx="182880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id (PK)</a:t>
            </a:r>
            <a:endParaRPr lang="en-US" sz="900" dirty="0"/>
          </a:p>
        </p:txBody>
      </p:sp>
      <p:sp>
        <p:nvSpPr>
          <p:cNvPr id="21" name="Shape 19"/>
          <p:cNvSpPr/>
          <p:nvPr/>
        </p:nvSpPr>
        <p:spPr>
          <a:xfrm>
            <a:off x="3017520" y="4846320"/>
            <a:ext cx="1920240" cy="182880"/>
          </a:xfrm>
          <a:prstGeom prst="rect">
            <a:avLst/>
          </a:prstGeom>
          <a:solidFill>
            <a:srgbClr val="FFFFFF"/>
          </a:solidFill>
          <a:ln w="6350">
            <a:solidFill>
              <a:srgbClr val="CCCCCC"/>
            </a:solidFill>
            <a:prstDash val="solid"/>
          </a:ln>
        </p:spPr>
        <p:txBody>
          <a:bodyPr/>
          <a:lstStyle/>
          <a:p>
            <a:endParaRPr lang="en-US"/>
          </a:p>
        </p:txBody>
      </p:sp>
      <p:sp>
        <p:nvSpPr>
          <p:cNvPr id="22" name="Text 20"/>
          <p:cNvSpPr/>
          <p:nvPr/>
        </p:nvSpPr>
        <p:spPr>
          <a:xfrm>
            <a:off x="3063240" y="4846320"/>
            <a:ext cx="182880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customerId (FK → User.id)</a:t>
            </a:r>
            <a:endParaRPr lang="en-US" sz="900" dirty="0"/>
          </a:p>
        </p:txBody>
      </p:sp>
      <p:sp>
        <p:nvSpPr>
          <p:cNvPr id="23" name="Shape 21"/>
          <p:cNvSpPr/>
          <p:nvPr/>
        </p:nvSpPr>
        <p:spPr>
          <a:xfrm>
            <a:off x="3017520" y="5029200"/>
            <a:ext cx="1920240" cy="182880"/>
          </a:xfrm>
          <a:prstGeom prst="rect">
            <a:avLst/>
          </a:prstGeom>
          <a:solidFill>
            <a:srgbClr val="FFFFFF"/>
          </a:solidFill>
          <a:ln w="6350">
            <a:solidFill>
              <a:srgbClr val="CCCCCC"/>
            </a:solidFill>
            <a:prstDash val="solid"/>
          </a:ln>
        </p:spPr>
        <p:txBody>
          <a:bodyPr/>
          <a:lstStyle/>
          <a:p>
            <a:endParaRPr lang="en-US"/>
          </a:p>
        </p:txBody>
      </p:sp>
      <p:sp>
        <p:nvSpPr>
          <p:cNvPr id="24" name="Text 22"/>
          <p:cNvSpPr/>
          <p:nvPr/>
        </p:nvSpPr>
        <p:spPr>
          <a:xfrm>
            <a:off x="3063240" y="5029200"/>
            <a:ext cx="182880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vendorId (FK → User.id)</a:t>
            </a:r>
            <a:endParaRPr lang="en-US" sz="900" dirty="0"/>
          </a:p>
        </p:txBody>
      </p:sp>
      <p:sp>
        <p:nvSpPr>
          <p:cNvPr id="25" name="Shape 23"/>
          <p:cNvSpPr/>
          <p:nvPr/>
        </p:nvSpPr>
        <p:spPr>
          <a:xfrm>
            <a:off x="3017520" y="5212080"/>
            <a:ext cx="1920240" cy="182880"/>
          </a:xfrm>
          <a:prstGeom prst="rect">
            <a:avLst/>
          </a:prstGeom>
          <a:solidFill>
            <a:srgbClr val="FFFFFF"/>
          </a:solidFill>
          <a:ln w="6350">
            <a:solidFill>
              <a:srgbClr val="CCCCCC"/>
            </a:solidFill>
            <a:prstDash val="solid"/>
          </a:ln>
        </p:spPr>
        <p:txBody>
          <a:bodyPr/>
          <a:lstStyle/>
          <a:p>
            <a:endParaRPr lang="en-US"/>
          </a:p>
        </p:txBody>
      </p:sp>
      <p:sp>
        <p:nvSpPr>
          <p:cNvPr id="26" name="Text 24"/>
          <p:cNvSpPr/>
          <p:nvPr/>
        </p:nvSpPr>
        <p:spPr>
          <a:xfrm>
            <a:off x="3063240" y="5212080"/>
            <a:ext cx="182880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total</a:t>
            </a:r>
            <a:endParaRPr lang="en-US" sz="900" dirty="0"/>
          </a:p>
        </p:txBody>
      </p:sp>
      <p:sp>
        <p:nvSpPr>
          <p:cNvPr id="27" name="Shape 25"/>
          <p:cNvSpPr/>
          <p:nvPr/>
        </p:nvSpPr>
        <p:spPr>
          <a:xfrm>
            <a:off x="3017520" y="5394960"/>
            <a:ext cx="1920240" cy="182880"/>
          </a:xfrm>
          <a:prstGeom prst="rect">
            <a:avLst/>
          </a:prstGeom>
          <a:solidFill>
            <a:srgbClr val="FFFFFF"/>
          </a:solidFill>
          <a:ln w="6350">
            <a:solidFill>
              <a:srgbClr val="CCCCCC"/>
            </a:solidFill>
            <a:prstDash val="solid"/>
          </a:ln>
        </p:spPr>
        <p:txBody>
          <a:bodyPr/>
          <a:lstStyle/>
          <a:p>
            <a:endParaRPr lang="en-US"/>
          </a:p>
        </p:txBody>
      </p:sp>
      <p:sp>
        <p:nvSpPr>
          <p:cNvPr id="28" name="Text 26"/>
          <p:cNvSpPr/>
          <p:nvPr/>
        </p:nvSpPr>
        <p:spPr>
          <a:xfrm>
            <a:off x="3063240" y="5394960"/>
            <a:ext cx="182880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paymentStatus</a:t>
            </a:r>
            <a:endParaRPr lang="en-US" sz="900" dirty="0"/>
          </a:p>
        </p:txBody>
      </p:sp>
      <p:sp>
        <p:nvSpPr>
          <p:cNvPr id="29" name="Shape 27"/>
          <p:cNvSpPr/>
          <p:nvPr/>
        </p:nvSpPr>
        <p:spPr>
          <a:xfrm>
            <a:off x="3017520" y="5577840"/>
            <a:ext cx="1920240" cy="182880"/>
          </a:xfrm>
          <a:prstGeom prst="rect">
            <a:avLst/>
          </a:prstGeom>
          <a:solidFill>
            <a:srgbClr val="FFFFFF"/>
          </a:solidFill>
          <a:ln w="6350">
            <a:solidFill>
              <a:srgbClr val="CCCCCC"/>
            </a:solidFill>
            <a:prstDash val="solid"/>
          </a:ln>
        </p:spPr>
        <p:txBody>
          <a:bodyPr/>
          <a:lstStyle/>
          <a:p>
            <a:endParaRPr lang="en-US"/>
          </a:p>
        </p:txBody>
      </p:sp>
      <p:sp>
        <p:nvSpPr>
          <p:cNvPr id="30" name="Text 28"/>
          <p:cNvSpPr/>
          <p:nvPr/>
        </p:nvSpPr>
        <p:spPr>
          <a:xfrm>
            <a:off x="3063240" y="5577840"/>
            <a:ext cx="182880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paymentReference</a:t>
            </a:r>
            <a:endParaRPr lang="en-US" sz="900" dirty="0"/>
          </a:p>
        </p:txBody>
      </p:sp>
      <p:sp>
        <p:nvSpPr>
          <p:cNvPr id="31" name="Shape 29"/>
          <p:cNvSpPr/>
          <p:nvPr/>
        </p:nvSpPr>
        <p:spPr>
          <a:xfrm>
            <a:off x="3017520" y="5760720"/>
            <a:ext cx="1920240" cy="182880"/>
          </a:xfrm>
          <a:prstGeom prst="rect">
            <a:avLst/>
          </a:prstGeom>
          <a:solidFill>
            <a:srgbClr val="FFFFFF"/>
          </a:solidFill>
          <a:ln w="6350">
            <a:solidFill>
              <a:srgbClr val="CCCCCC"/>
            </a:solidFill>
            <a:prstDash val="solid"/>
          </a:ln>
        </p:spPr>
        <p:txBody>
          <a:bodyPr/>
          <a:lstStyle/>
          <a:p>
            <a:endParaRPr lang="en-US"/>
          </a:p>
        </p:txBody>
      </p:sp>
      <p:sp>
        <p:nvSpPr>
          <p:cNvPr id="32" name="Text 30"/>
          <p:cNvSpPr/>
          <p:nvPr/>
        </p:nvSpPr>
        <p:spPr>
          <a:xfrm>
            <a:off x="3063240" y="5760720"/>
            <a:ext cx="182880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paymentMethod</a:t>
            </a:r>
            <a:endParaRPr lang="en-US" sz="900" dirty="0"/>
          </a:p>
        </p:txBody>
      </p:sp>
      <p:sp>
        <p:nvSpPr>
          <p:cNvPr id="33" name="Shape 31"/>
          <p:cNvSpPr/>
          <p:nvPr/>
        </p:nvSpPr>
        <p:spPr>
          <a:xfrm>
            <a:off x="5369589" y="4544568"/>
            <a:ext cx="2194560" cy="182880"/>
          </a:xfrm>
          <a:prstGeom prst="rect">
            <a:avLst/>
          </a:prstGeom>
          <a:solidFill>
            <a:srgbClr val="FFFFFF"/>
          </a:solidFill>
          <a:ln w="6350">
            <a:solidFill>
              <a:srgbClr val="AAAAAA"/>
            </a:solidFill>
            <a:prstDash val="solid"/>
          </a:ln>
        </p:spPr>
        <p:txBody>
          <a:bodyPr/>
          <a:lstStyle/>
          <a:p>
            <a:endParaRPr lang="en-US"/>
          </a:p>
        </p:txBody>
      </p:sp>
      <p:sp>
        <p:nvSpPr>
          <p:cNvPr id="34" name="Text 32"/>
          <p:cNvSpPr/>
          <p:nvPr/>
        </p:nvSpPr>
        <p:spPr>
          <a:xfrm>
            <a:off x="5369589" y="4544568"/>
            <a:ext cx="2194560" cy="182880"/>
          </a:xfrm>
          <a:prstGeom prst="rect">
            <a:avLst/>
          </a:prstGeom>
          <a:noFill/>
          <a:ln/>
        </p:spPr>
        <p:txBody>
          <a:bodyPr wrap="square" rtlCol="0" anchor="ctr"/>
          <a:lstStyle/>
          <a:p>
            <a:pPr marL="0" indent="0" algn="ctr">
              <a:buNone/>
            </a:pPr>
            <a:r>
              <a:rPr lang="en-US" sz="1100" b="1" u="sng" dirty="0">
                <a:solidFill>
                  <a:srgbClr val="C00000"/>
                </a:solidFill>
                <a:latin typeface="Calibri" pitchFamily="34" charset="0"/>
                <a:ea typeface="Calibri" pitchFamily="34" charset="-122"/>
                <a:cs typeface="Calibri" pitchFamily="34" charset="-120"/>
              </a:rPr>
              <a:t>Invoice</a:t>
            </a:r>
            <a:endParaRPr lang="en-US" sz="1100" dirty="0"/>
          </a:p>
        </p:txBody>
      </p:sp>
      <p:sp>
        <p:nvSpPr>
          <p:cNvPr id="35" name="Shape 33"/>
          <p:cNvSpPr/>
          <p:nvPr/>
        </p:nvSpPr>
        <p:spPr>
          <a:xfrm>
            <a:off x="5369589" y="4727448"/>
            <a:ext cx="2194560" cy="182880"/>
          </a:xfrm>
          <a:prstGeom prst="rect">
            <a:avLst/>
          </a:prstGeom>
          <a:solidFill>
            <a:srgbClr val="FFFFFF"/>
          </a:solidFill>
          <a:ln w="6350">
            <a:solidFill>
              <a:srgbClr val="CCCCCC"/>
            </a:solidFill>
            <a:prstDash val="solid"/>
          </a:ln>
        </p:spPr>
        <p:txBody>
          <a:bodyPr/>
          <a:lstStyle/>
          <a:p>
            <a:endParaRPr lang="en-US"/>
          </a:p>
        </p:txBody>
      </p:sp>
      <p:sp>
        <p:nvSpPr>
          <p:cNvPr id="36" name="Text 34"/>
          <p:cNvSpPr/>
          <p:nvPr/>
        </p:nvSpPr>
        <p:spPr>
          <a:xfrm>
            <a:off x="5415309" y="472744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invoiceId (PK, unique)</a:t>
            </a:r>
            <a:endParaRPr lang="en-US" sz="900" dirty="0"/>
          </a:p>
        </p:txBody>
      </p:sp>
      <p:sp>
        <p:nvSpPr>
          <p:cNvPr id="37" name="Shape 35"/>
          <p:cNvSpPr/>
          <p:nvPr/>
        </p:nvSpPr>
        <p:spPr>
          <a:xfrm>
            <a:off x="5369589" y="4910328"/>
            <a:ext cx="2194560" cy="182880"/>
          </a:xfrm>
          <a:prstGeom prst="rect">
            <a:avLst/>
          </a:prstGeom>
          <a:solidFill>
            <a:srgbClr val="FFFFFF"/>
          </a:solidFill>
          <a:ln w="6350">
            <a:solidFill>
              <a:srgbClr val="CCCCCC"/>
            </a:solidFill>
            <a:prstDash val="solid"/>
          </a:ln>
        </p:spPr>
        <p:txBody>
          <a:bodyPr/>
          <a:lstStyle/>
          <a:p>
            <a:endParaRPr lang="en-US"/>
          </a:p>
        </p:txBody>
      </p:sp>
      <p:sp>
        <p:nvSpPr>
          <p:cNvPr id="38" name="Text 36"/>
          <p:cNvSpPr/>
          <p:nvPr/>
        </p:nvSpPr>
        <p:spPr>
          <a:xfrm>
            <a:off x="5415309" y="4910328"/>
            <a:ext cx="210312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orderId (FK → Orders)</a:t>
            </a:r>
            <a:endParaRPr lang="en-US" sz="900" dirty="0"/>
          </a:p>
        </p:txBody>
      </p:sp>
      <p:sp>
        <p:nvSpPr>
          <p:cNvPr id="39" name="Shape 37"/>
          <p:cNvSpPr/>
          <p:nvPr/>
        </p:nvSpPr>
        <p:spPr>
          <a:xfrm>
            <a:off x="5369589" y="5093208"/>
            <a:ext cx="2194560" cy="182880"/>
          </a:xfrm>
          <a:prstGeom prst="rect">
            <a:avLst/>
          </a:prstGeom>
          <a:solidFill>
            <a:srgbClr val="FFFFFF"/>
          </a:solidFill>
          <a:ln w="6350">
            <a:solidFill>
              <a:srgbClr val="CCCCCC"/>
            </a:solidFill>
            <a:prstDash val="solid"/>
          </a:ln>
        </p:spPr>
        <p:txBody>
          <a:bodyPr/>
          <a:lstStyle/>
          <a:p>
            <a:endParaRPr lang="en-US"/>
          </a:p>
        </p:txBody>
      </p:sp>
      <p:sp>
        <p:nvSpPr>
          <p:cNvPr id="40" name="Text 38"/>
          <p:cNvSpPr/>
          <p:nvPr/>
        </p:nvSpPr>
        <p:spPr>
          <a:xfrm>
            <a:off x="5415309" y="5093208"/>
            <a:ext cx="210312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retailerId (FK → Users)</a:t>
            </a:r>
            <a:endParaRPr lang="en-US" sz="900" dirty="0"/>
          </a:p>
        </p:txBody>
      </p:sp>
      <p:sp>
        <p:nvSpPr>
          <p:cNvPr id="41" name="Shape 39"/>
          <p:cNvSpPr/>
          <p:nvPr/>
        </p:nvSpPr>
        <p:spPr>
          <a:xfrm>
            <a:off x="5369589" y="5276088"/>
            <a:ext cx="2194560" cy="182880"/>
          </a:xfrm>
          <a:prstGeom prst="rect">
            <a:avLst/>
          </a:prstGeom>
          <a:solidFill>
            <a:srgbClr val="FFFFFF"/>
          </a:solidFill>
          <a:ln w="6350">
            <a:solidFill>
              <a:srgbClr val="CCCCCC"/>
            </a:solidFill>
            <a:prstDash val="solid"/>
          </a:ln>
        </p:spPr>
        <p:txBody>
          <a:bodyPr/>
          <a:lstStyle/>
          <a:p>
            <a:endParaRPr lang="en-US"/>
          </a:p>
        </p:txBody>
      </p:sp>
      <p:sp>
        <p:nvSpPr>
          <p:cNvPr id="42" name="Text 40"/>
          <p:cNvSpPr/>
          <p:nvPr/>
        </p:nvSpPr>
        <p:spPr>
          <a:xfrm>
            <a:off x="5415309" y="527608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subtotal</a:t>
            </a:r>
            <a:endParaRPr lang="en-US" sz="900" dirty="0"/>
          </a:p>
        </p:txBody>
      </p:sp>
      <p:sp>
        <p:nvSpPr>
          <p:cNvPr id="43" name="Shape 41"/>
          <p:cNvSpPr/>
          <p:nvPr/>
        </p:nvSpPr>
        <p:spPr>
          <a:xfrm>
            <a:off x="5369589" y="5458968"/>
            <a:ext cx="2194560" cy="182880"/>
          </a:xfrm>
          <a:prstGeom prst="rect">
            <a:avLst/>
          </a:prstGeom>
          <a:solidFill>
            <a:srgbClr val="FFFFFF"/>
          </a:solidFill>
          <a:ln w="6350">
            <a:solidFill>
              <a:srgbClr val="CCCCCC"/>
            </a:solidFill>
            <a:prstDash val="solid"/>
          </a:ln>
        </p:spPr>
        <p:txBody>
          <a:bodyPr/>
          <a:lstStyle/>
          <a:p>
            <a:endParaRPr lang="en-US"/>
          </a:p>
        </p:txBody>
      </p:sp>
      <p:sp>
        <p:nvSpPr>
          <p:cNvPr id="44" name="Text 42"/>
          <p:cNvSpPr/>
          <p:nvPr/>
        </p:nvSpPr>
        <p:spPr>
          <a:xfrm>
            <a:off x="5415309" y="545896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tax</a:t>
            </a:r>
            <a:endParaRPr lang="en-US" sz="900" dirty="0"/>
          </a:p>
        </p:txBody>
      </p:sp>
      <p:sp>
        <p:nvSpPr>
          <p:cNvPr id="45" name="Shape 43"/>
          <p:cNvSpPr/>
          <p:nvPr/>
        </p:nvSpPr>
        <p:spPr>
          <a:xfrm>
            <a:off x="5369589" y="5641848"/>
            <a:ext cx="2194560" cy="182880"/>
          </a:xfrm>
          <a:prstGeom prst="rect">
            <a:avLst/>
          </a:prstGeom>
          <a:solidFill>
            <a:srgbClr val="FFFFFF"/>
          </a:solidFill>
          <a:ln w="6350">
            <a:solidFill>
              <a:srgbClr val="CCCCCC"/>
            </a:solidFill>
            <a:prstDash val="solid"/>
          </a:ln>
        </p:spPr>
        <p:txBody>
          <a:bodyPr/>
          <a:lstStyle/>
          <a:p>
            <a:endParaRPr lang="en-US"/>
          </a:p>
        </p:txBody>
      </p:sp>
      <p:sp>
        <p:nvSpPr>
          <p:cNvPr id="46" name="Text 44"/>
          <p:cNvSpPr/>
          <p:nvPr/>
        </p:nvSpPr>
        <p:spPr>
          <a:xfrm>
            <a:off x="5415309" y="564184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total</a:t>
            </a:r>
            <a:endParaRPr lang="en-US" sz="900" dirty="0"/>
          </a:p>
        </p:txBody>
      </p:sp>
      <p:sp>
        <p:nvSpPr>
          <p:cNvPr id="47" name="Shape 45"/>
          <p:cNvSpPr/>
          <p:nvPr/>
        </p:nvSpPr>
        <p:spPr>
          <a:xfrm>
            <a:off x="5369589" y="5824728"/>
            <a:ext cx="2194560" cy="182880"/>
          </a:xfrm>
          <a:prstGeom prst="rect">
            <a:avLst/>
          </a:prstGeom>
          <a:solidFill>
            <a:srgbClr val="FFFFFF"/>
          </a:solidFill>
          <a:ln w="6350">
            <a:solidFill>
              <a:srgbClr val="CCCCCC"/>
            </a:solidFill>
            <a:prstDash val="solid"/>
          </a:ln>
        </p:spPr>
        <p:txBody>
          <a:bodyPr/>
          <a:lstStyle/>
          <a:p>
            <a:endParaRPr lang="en-US"/>
          </a:p>
        </p:txBody>
      </p:sp>
      <p:sp>
        <p:nvSpPr>
          <p:cNvPr id="48" name="Text 46"/>
          <p:cNvSpPr/>
          <p:nvPr/>
        </p:nvSpPr>
        <p:spPr>
          <a:xfrm>
            <a:off x="5415309" y="5824728"/>
            <a:ext cx="2103120" cy="182880"/>
          </a:xfrm>
          <a:prstGeom prst="rect">
            <a:avLst/>
          </a:prstGeom>
          <a:noFill/>
          <a:ln/>
        </p:spPr>
        <p:txBody>
          <a:bodyPr wrap="square" rtlCol="0" anchor="ctr"/>
          <a:lstStyle/>
          <a:p>
            <a:pPr marL="0" indent="0" algn="ctr">
              <a:buNone/>
            </a:pPr>
            <a:r>
              <a:rPr lang="en-US" sz="900" u="sng" dirty="0">
                <a:solidFill>
                  <a:srgbClr val="000000"/>
                </a:solidFill>
                <a:latin typeface="Calibri" pitchFamily="34" charset="0"/>
                <a:ea typeface="Calibri" pitchFamily="34" charset="-122"/>
                <a:cs typeface="Calibri" pitchFamily="34" charset="-120"/>
              </a:rPr>
              <a:t>status (FK → InvStatus_Ref)</a:t>
            </a:r>
            <a:endParaRPr lang="en-US" sz="900" dirty="0"/>
          </a:p>
        </p:txBody>
      </p:sp>
      <p:sp>
        <p:nvSpPr>
          <p:cNvPr id="49" name="Shape 47"/>
          <p:cNvSpPr/>
          <p:nvPr/>
        </p:nvSpPr>
        <p:spPr>
          <a:xfrm>
            <a:off x="5369589" y="6007608"/>
            <a:ext cx="2194560" cy="182880"/>
          </a:xfrm>
          <a:prstGeom prst="rect">
            <a:avLst/>
          </a:prstGeom>
          <a:solidFill>
            <a:srgbClr val="FFFFFF"/>
          </a:solidFill>
          <a:ln w="6350">
            <a:solidFill>
              <a:srgbClr val="CCCCCC"/>
            </a:solidFill>
            <a:prstDash val="solid"/>
          </a:ln>
        </p:spPr>
        <p:txBody>
          <a:bodyPr/>
          <a:lstStyle/>
          <a:p>
            <a:endParaRPr lang="en-US"/>
          </a:p>
        </p:txBody>
      </p:sp>
      <p:sp>
        <p:nvSpPr>
          <p:cNvPr id="50" name="Text 48"/>
          <p:cNvSpPr/>
          <p:nvPr/>
        </p:nvSpPr>
        <p:spPr>
          <a:xfrm>
            <a:off x="5415309" y="600760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dueDate</a:t>
            </a:r>
            <a:endParaRPr lang="en-US" sz="900" dirty="0"/>
          </a:p>
        </p:txBody>
      </p:sp>
      <p:sp>
        <p:nvSpPr>
          <p:cNvPr id="51" name="Shape 49"/>
          <p:cNvSpPr/>
          <p:nvPr/>
        </p:nvSpPr>
        <p:spPr>
          <a:xfrm>
            <a:off x="5369589" y="6190488"/>
            <a:ext cx="2194560" cy="182880"/>
          </a:xfrm>
          <a:prstGeom prst="rect">
            <a:avLst/>
          </a:prstGeom>
          <a:solidFill>
            <a:srgbClr val="FFFFFF"/>
          </a:solidFill>
          <a:ln w="6350">
            <a:solidFill>
              <a:srgbClr val="CCCCCC"/>
            </a:solidFill>
            <a:prstDash val="solid"/>
          </a:ln>
        </p:spPr>
        <p:txBody>
          <a:bodyPr/>
          <a:lstStyle/>
          <a:p>
            <a:endParaRPr lang="en-US"/>
          </a:p>
        </p:txBody>
      </p:sp>
      <p:sp>
        <p:nvSpPr>
          <p:cNvPr id="52" name="Text 50"/>
          <p:cNvSpPr/>
          <p:nvPr/>
        </p:nvSpPr>
        <p:spPr>
          <a:xfrm>
            <a:off x="5415309" y="619048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paidAt</a:t>
            </a:r>
            <a:endParaRPr lang="en-US" sz="900" dirty="0"/>
          </a:p>
        </p:txBody>
      </p:sp>
      <p:sp>
        <p:nvSpPr>
          <p:cNvPr id="53" name="Shape 51"/>
          <p:cNvSpPr/>
          <p:nvPr/>
        </p:nvSpPr>
        <p:spPr>
          <a:xfrm>
            <a:off x="5369589" y="6373368"/>
            <a:ext cx="2194560" cy="182880"/>
          </a:xfrm>
          <a:prstGeom prst="rect">
            <a:avLst/>
          </a:prstGeom>
          <a:solidFill>
            <a:srgbClr val="FFFFFF"/>
          </a:solidFill>
          <a:ln w="6350">
            <a:solidFill>
              <a:srgbClr val="CCCCCC"/>
            </a:solidFill>
            <a:prstDash val="solid"/>
          </a:ln>
        </p:spPr>
        <p:txBody>
          <a:bodyPr/>
          <a:lstStyle/>
          <a:p>
            <a:endParaRPr lang="en-US"/>
          </a:p>
        </p:txBody>
      </p:sp>
      <p:sp>
        <p:nvSpPr>
          <p:cNvPr id="54" name="Text 52"/>
          <p:cNvSpPr/>
          <p:nvPr/>
        </p:nvSpPr>
        <p:spPr>
          <a:xfrm>
            <a:off x="5415309" y="6373368"/>
            <a:ext cx="2103120" cy="182880"/>
          </a:xfrm>
          <a:prstGeom prst="rect">
            <a:avLst/>
          </a:prstGeom>
          <a:noFill/>
          <a:ln/>
        </p:spPr>
        <p:txBody>
          <a:bodyPr wrap="square" rtlCol="0" anchor="ctr"/>
          <a:lstStyle/>
          <a:p>
            <a:pPr marL="0" indent="0" algn="ctr">
              <a:buNone/>
            </a:pPr>
            <a:r>
              <a:rPr lang="en-US" sz="900" dirty="0">
                <a:solidFill>
                  <a:srgbClr val="000000"/>
                </a:solidFill>
                <a:latin typeface="Calibri" pitchFamily="34" charset="0"/>
                <a:ea typeface="Calibri" pitchFamily="34" charset="-122"/>
                <a:cs typeface="Calibri" pitchFamily="34" charset="-120"/>
              </a:rPr>
              <a:t>createdAt</a:t>
            </a:r>
            <a:endParaRPr lang="en-US" sz="900" dirty="0"/>
          </a:p>
        </p:txBody>
      </p:sp>
      <p:sp>
        <p:nvSpPr>
          <p:cNvPr id="55" name="Shape 53"/>
          <p:cNvSpPr/>
          <p:nvPr/>
        </p:nvSpPr>
        <p:spPr>
          <a:xfrm>
            <a:off x="2980944" y="3086100"/>
            <a:ext cx="1371600" cy="9144"/>
          </a:xfrm>
          <a:prstGeom prst="line">
            <a:avLst/>
          </a:prstGeom>
          <a:noFill/>
          <a:ln w="15240">
            <a:solidFill>
              <a:srgbClr val="4472C4"/>
            </a:solidFill>
            <a:prstDash val="solid"/>
            <a:headEnd type="none"/>
            <a:tailEnd type="arrow"/>
          </a:ln>
        </p:spPr>
        <p:txBody>
          <a:bodyPr/>
          <a:lstStyle/>
          <a:p>
            <a:endParaRPr lang="en-US"/>
          </a:p>
        </p:txBody>
      </p:sp>
      <p:sp>
        <p:nvSpPr>
          <p:cNvPr id="56" name="Shape 54"/>
          <p:cNvSpPr/>
          <p:nvPr/>
        </p:nvSpPr>
        <p:spPr>
          <a:xfrm flipV="1">
            <a:off x="3977640" y="3538728"/>
            <a:ext cx="960120" cy="941832"/>
          </a:xfrm>
          <a:prstGeom prst="line">
            <a:avLst/>
          </a:prstGeom>
          <a:noFill/>
          <a:ln w="15240">
            <a:solidFill>
              <a:srgbClr val="4472C4"/>
            </a:solidFill>
            <a:prstDash val="solid"/>
            <a:headEnd type="none"/>
            <a:tailEnd type="arrow"/>
          </a:ln>
        </p:spPr>
        <p:txBody>
          <a:bodyPr/>
          <a:lstStyle/>
          <a:p>
            <a:endParaRPr lang="en-US"/>
          </a:p>
        </p:txBody>
      </p:sp>
      <p:sp>
        <p:nvSpPr>
          <p:cNvPr id="57" name="Shape 55"/>
          <p:cNvSpPr/>
          <p:nvPr/>
        </p:nvSpPr>
        <p:spPr>
          <a:xfrm flipV="1">
            <a:off x="6345936" y="2125980"/>
            <a:ext cx="1362456" cy="754380"/>
          </a:xfrm>
          <a:prstGeom prst="line">
            <a:avLst/>
          </a:prstGeom>
          <a:noFill/>
          <a:ln w="15240">
            <a:solidFill>
              <a:srgbClr val="4472C4"/>
            </a:solidFill>
            <a:prstDash val="solid"/>
            <a:headEnd type="none"/>
            <a:tailEnd type="arrow"/>
          </a:ln>
        </p:spPr>
        <p:txBody>
          <a:bodyPr/>
          <a:lstStyle/>
          <a:p>
            <a:endParaRPr lang="en-US"/>
          </a:p>
        </p:txBody>
      </p:sp>
      <p:sp>
        <p:nvSpPr>
          <p:cNvPr id="58" name="Shape 56"/>
          <p:cNvSpPr/>
          <p:nvPr/>
        </p:nvSpPr>
        <p:spPr>
          <a:xfrm>
            <a:off x="6345936" y="3145536"/>
            <a:ext cx="1362456" cy="9144"/>
          </a:xfrm>
          <a:prstGeom prst="line">
            <a:avLst/>
          </a:prstGeom>
          <a:noFill/>
          <a:ln w="15240">
            <a:solidFill>
              <a:srgbClr val="4472C4"/>
            </a:solidFill>
            <a:prstDash val="solid"/>
            <a:headEnd type="none"/>
            <a:tailEnd type="arrow"/>
          </a:ln>
        </p:spPr>
        <p:txBody>
          <a:bodyPr/>
          <a:lstStyle/>
          <a:p>
            <a:endParaRPr lang="en-US"/>
          </a:p>
        </p:txBody>
      </p:sp>
      <p:sp>
        <p:nvSpPr>
          <p:cNvPr id="59" name="Shape 57"/>
          <p:cNvSpPr/>
          <p:nvPr/>
        </p:nvSpPr>
        <p:spPr>
          <a:xfrm>
            <a:off x="6345936" y="3401568"/>
            <a:ext cx="1362456" cy="763524"/>
          </a:xfrm>
          <a:prstGeom prst="line">
            <a:avLst/>
          </a:prstGeom>
          <a:noFill/>
          <a:ln w="15240">
            <a:solidFill>
              <a:srgbClr val="4472C4"/>
            </a:solidFill>
            <a:prstDash val="solid"/>
            <a:headEnd type="none"/>
            <a:tailEnd type="arrow"/>
          </a:ln>
        </p:spPr>
        <p:txBody>
          <a:bodyPr/>
          <a:lstStyle/>
          <a:p>
            <a:endParaRPr lang="en-US"/>
          </a:p>
        </p:txBody>
      </p:sp>
      <p:sp>
        <p:nvSpPr>
          <p:cNvPr id="60" name="Shape 58"/>
          <p:cNvSpPr/>
          <p:nvPr/>
        </p:nvSpPr>
        <p:spPr>
          <a:xfrm>
            <a:off x="5715000" y="3525076"/>
            <a:ext cx="173736" cy="1005840"/>
          </a:xfrm>
          <a:prstGeom prst="line">
            <a:avLst/>
          </a:prstGeom>
          <a:noFill/>
          <a:ln w="15240">
            <a:solidFill>
              <a:srgbClr val="4472C4"/>
            </a:solidFill>
            <a:prstDash val="solid"/>
            <a:headEnd type="none"/>
            <a:tailEnd type="arrow"/>
          </a:ln>
        </p:spPr>
        <p:txBody>
          <a:bodyPr/>
          <a:lstStyle/>
          <a:p>
            <a:endParaRPr lang="en-US"/>
          </a:p>
        </p:txBody>
      </p:sp>
      <p:sp>
        <p:nvSpPr>
          <p:cNvPr id="61" name="Text 59"/>
          <p:cNvSpPr/>
          <p:nvPr/>
        </p:nvSpPr>
        <p:spPr>
          <a:xfrm>
            <a:off x="3044952" y="2747772"/>
            <a:ext cx="128016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Order Completion</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Trigger</a:t>
            </a:r>
            <a:endParaRPr lang="en-US" sz="900" dirty="0"/>
          </a:p>
        </p:txBody>
      </p:sp>
      <p:sp>
        <p:nvSpPr>
          <p:cNvPr id="62" name="Text 60"/>
          <p:cNvSpPr/>
          <p:nvPr/>
        </p:nvSpPr>
        <p:spPr>
          <a:xfrm>
            <a:off x="3621604" y="3982212"/>
            <a:ext cx="1078992"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Order &amp; Line</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Item Data</a:t>
            </a:r>
            <a:endParaRPr lang="en-US" sz="900" dirty="0"/>
          </a:p>
        </p:txBody>
      </p:sp>
      <p:sp>
        <p:nvSpPr>
          <p:cNvPr id="63" name="Text 61"/>
          <p:cNvSpPr/>
          <p:nvPr/>
        </p:nvSpPr>
        <p:spPr>
          <a:xfrm>
            <a:off x="6492240" y="2057400"/>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64" name="Text 62"/>
          <p:cNvSpPr/>
          <p:nvPr/>
        </p:nvSpPr>
        <p:spPr>
          <a:xfrm>
            <a:off x="6492240" y="2221992"/>
            <a:ext cx="118872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Document</a:t>
            </a:r>
            <a:endParaRPr lang="en-US" sz="900" dirty="0"/>
          </a:p>
        </p:txBody>
      </p:sp>
      <p:sp>
        <p:nvSpPr>
          <p:cNvPr id="65" name="Text 63"/>
          <p:cNvSpPr/>
          <p:nvPr/>
        </p:nvSpPr>
        <p:spPr>
          <a:xfrm>
            <a:off x="6400800" y="2889504"/>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66" name="Text 64"/>
          <p:cNvSpPr/>
          <p:nvPr/>
        </p:nvSpPr>
        <p:spPr>
          <a:xfrm>
            <a:off x="6858000" y="2926080"/>
            <a:ext cx="109728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Record</a:t>
            </a:r>
            <a:endParaRPr lang="en-US" sz="900" dirty="0"/>
          </a:p>
        </p:txBody>
      </p:sp>
      <p:sp>
        <p:nvSpPr>
          <p:cNvPr id="67" name="Text 65"/>
          <p:cNvSpPr/>
          <p:nvPr/>
        </p:nvSpPr>
        <p:spPr>
          <a:xfrm>
            <a:off x="6931152" y="3630168"/>
            <a:ext cx="640080" cy="164592"/>
          </a:xfrm>
          <a:prstGeom prst="rect">
            <a:avLst/>
          </a:prstGeom>
          <a:noFill/>
          <a:ln/>
        </p:spPr>
        <p:txBody>
          <a:bodyPr wrap="square" rtlCol="0" anchor="ctr"/>
          <a:lstStyle/>
          <a:p>
            <a:pPr marL="0" indent="0">
              <a:buNone/>
            </a:pPr>
            <a:r>
              <a:rPr lang="en-US" sz="900" b="1" dirty="0">
                <a:solidFill>
                  <a:srgbClr val="497EA5"/>
                </a:solidFill>
                <a:latin typeface="Calibri" pitchFamily="34" charset="0"/>
                <a:ea typeface="Calibri" pitchFamily="34" charset="-122"/>
                <a:cs typeface="Calibri" pitchFamily="34" charset="-120"/>
              </a:rPr>
              <a:t>DF-Out</a:t>
            </a:r>
            <a:endParaRPr lang="en-US" sz="900" dirty="0"/>
          </a:p>
        </p:txBody>
      </p:sp>
      <p:sp>
        <p:nvSpPr>
          <p:cNvPr id="68" name="Text 66"/>
          <p:cNvSpPr/>
          <p:nvPr/>
        </p:nvSpPr>
        <p:spPr>
          <a:xfrm>
            <a:off x="6400800" y="3858768"/>
            <a:ext cx="128016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Notification</a:t>
            </a:r>
            <a:endParaRPr lang="en-US" sz="900" dirty="0"/>
          </a:p>
        </p:txBody>
      </p:sp>
      <p:sp>
        <p:nvSpPr>
          <p:cNvPr id="69" name="Text 67"/>
          <p:cNvSpPr/>
          <p:nvPr/>
        </p:nvSpPr>
        <p:spPr>
          <a:xfrm>
            <a:off x="5056632" y="4078868"/>
            <a:ext cx="1371600" cy="292608"/>
          </a:xfrm>
          <a:prstGeom prst="rect">
            <a:avLst/>
          </a:prstGeom>
          <a:noFill/>
          <a:ln/>
        </p:spPr>
        <p:txBody>
          <a:bodyPr wrap="square" rtlCol="0" anchor="t"/>
          <a:lstStyle/>
          <a:p>
            <a:pPr marL="0" indent="0">
              <a:buNone/>
            </a:pPr>
            <a:r>
              <a:rPr lang="en-US" sz="900" dirty="0">
                <a:solidFill>
                  <a:srgbClr val="333333"/>
                </a:solidFill>
                <a:latin typeface="Calibri" pitchFamily="34" charset="0"/>
                <a:ea typeface="Calibri" pitchFamily="34" charset="-122"/>
                <a:cs typeface="Calibri" pitchFamily="34" charset="-120"/>
              </a:rPr>
              <a:t>Invoice Record</a:t>
            </a:r>
            <a:endParaRPr lang="en-US" sz="900" dirty="0"/>
          </a:p>
          <a:p>
            <a:pPr marL="0" indent="0">
              <a:buNone/>
            </a:pPr>
            <a:r>
              <a:rPr lang="en-US" sz="900" dirty="0">
                <a:solidFill>
                  <a:srgbClr val="333333"/>
                </a:solidFill>
                <a:latin typeface="Calibri" pitchFamily="34" charset="0"/>
                <a:ea typeface="Calibri" pitchFamily="34" charset="-122"/>
                <a:cs typeface="Calibri" pitchFamily="34" charset="-120"/>
              </a:rPr>
              <a:t>(Persisted)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525</Words>
  <Application>Microsoft Macintosh PowerPoint</Application>
  <PresentationFormat>Widescreen</PresentationFormat>
  <Paragraphs>169</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Meet Mangukiya</cp:lastModifiedBy>
  <cp:revision>7</cp:revision>
  <dcterms:created xsi:type="dcterms:W3CDTF">2026-04-27T12:50:28Z</dcterms:created>
  <dcterms:modified xsi:type="dcterms:W3CDTF">2026-04-27T13:09:02Z</dcterms:modified>
</cp:coreProperties>
</file>