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5123795" cy="10688320" type="screen4x3"/>
  <p:notesSz cx="10688320" cy="151237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>
        <p:scale>
          <a:sx n="89" d="100"/>
          <a:sy n="89" d="100"/>
        </p:scale>
        <p:origin x="144" y="152"/>
      </p:cViewPr>
      <p:guideLst>
        <p:guide orient="horz" pos="3366"/>
        <p:guide pos="47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56002" y="139903"/>
            <a:ext cx="9144000" cy="2084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BulkCart — UML Class Diagram | 04.01: Create Shipments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3108960"/>
            <a:ext cx="25603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3108960"/>
            <a:ext cx="25603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Carrier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3413455"/>
            <a:ext cx="2560320" cy="830275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3450031"/>
            <a:ext cx="2450592" cy="7936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carrierCode: VARCHAR(50) {unique}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name: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apiKey: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accountNumber: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isActive: BOOLEAN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108960" y="4243730"/>
            <a:ext cx="2560320" cy="577901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4280306"/>
            <a:ext cx="2450592" cy="541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getRates(shipment): List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generateLabel(shipment): String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getTrackingInfo(no): TrackingInfo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setActive(flag): void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766560" y="2468880"/>
            <a:ext cx="292608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468880"/>
            <a:ext cx="292608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Shipment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66560" y="2773375"/>
            <a:ext cx="2926080" cy="1082650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9712" y="2809951"/>
            <a:ext cx="2816352" cy="104607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shipmentId: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orderId: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warehouseId: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trackingNumber: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status: VARCHAR(50)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estimatedDelivery: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766560" y="3856025"/>
            <a:ext cx="2926080" cy="577901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39712" y="3892601"/>
            <a:ext cx="2816352" cy="541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create(data): Shipment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updateStatus(s):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assignCarrier(carrier):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getTrackingStatus(): String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6858000" y="7589520"/>
            <a:ext cx="2468880" cy="304495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7589520"/>
            <a:ext cx="246888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ShipmentStatus_Ref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7894015"/>
            <a:ext cx="2468880" cy="451714"/>
          </a:xfrm>
          <a:prstGeom prst="rect">
            <a:avLst/>
          </a:prstGeom>
          <a:solidFill>
            <a:srgbClr val="EFFFF4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31152" y="7930591"/>
            <a:ext cx="235915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label: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isTerminal: BOOLEAN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6858000" y="8345729"/>
            <a:ext cx="2468880" cy="228600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31152" y="8382305"/>
            <a:ext cx="2359152" cy="192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getActiveStatuses(): List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669280" y="3703320"/>
            <a:ext cx="109728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15000" y="350215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400800" y="350215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0..*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852160" y="348386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registers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29600" y="4433926"/>
            <a:ext cx="9144" cy="3155594"/>
          </a:xfrm>
          <a:prstGeom prst="line">
            <a:avLst/>
          </a:prstGeom>
          <a:noFill/>
          <a:ln w="9525">
            <a:solidFill>
              <a:srgbClr val="888888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02752" y="5920283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status FK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973568" y="7406640"/>
            <a:ext cx="20116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42F2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N:1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56002" y="139903"/>
            <a:ext cx="9144000" cy="2084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BulkCart — UML Class Diagram | 04.03: Provide Delivery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3200400"/>
            <a:ext cx="25603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3200400"/>
            <a:ext cx="25603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Retailer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3504895"/>
            <a:ext cx="2560320" cy="830275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3541471"/>
            <a:ext cx="2450592" cy="7936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userId: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role: VARCHAR(20)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name: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company: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email: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approved: BOOLEAN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108960" y="4335170"/>
            <a:ext cx="2560320" cy="451714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4371746"/>
            <a:ext cx="245059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viewShipmentTracking(id): TrackingInfo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getOrderHistory(): List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viewDeliveryStatus(id): String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30175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30175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Shipment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2590495"/>
            <a:ext cx="3017520" cy="1082650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48272" y="2627071"/>
            <a:ext cx="2907792" cy="104607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shipmentId: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orderId: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trackingNumber: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status: VARCHAR(50)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estimatedDelivery: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lastTrackedAt: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675120" y="3673145"/>
            <a:ext cx="3017520" cy="577901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48272" y="3709721"/>
            <a:ext cx="2907792" cy="541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getTrackingStatus(): String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refreshTracking():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getDeliveryTimeline(): List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notifyStatusChange(): void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0424160" y="3200400"/>
            <a:ext cx="25603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24160" y="3200400"/>
            <a:ext cx="25603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Carrier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24160" y="3504895"/>
            <a:ext cx="2560320" cy="704088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97312" y="3541471"/>
            <a:ext cx="2450592" cy="6675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carrierCode: VARCHAR(50)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name: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apiKey: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isActive: BOOLEAN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0424160" y="4208983"/>
            <a:ext cx="2560320" cy="451714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97312" y="4245559"/>
            <a:ext cx="245059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getTrackingInfo(no): TrackingInfo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pollStatus(shipmentId): String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setActive(flag): void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858000" y="7680960"/>
            <a:ext cx="2468880" cy="304495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7680960"/>
            <a:ext cx="246888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ShipmentStatus_Ref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7985455"/>
            <a:ext cx="2468880" cy="451714"/>
          </a:xfrm>
          <a:prstGeom prst="rect">
            <a:avLst/>
          </a:prstGeom>
          <a:solidFill>
            <a:srgbClr val="EFFFF4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31152" y="8022031"/>
            <a:ext cx="235915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label: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isTerminal: BOOLEAN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858000" y="8437169"/>
            <a:ext cx="2468880" cy="228600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8473745"/>
            <a:ext cx="2359152" cy="192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getActiveStatuses(): List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669280" y="3794760"/>
            <a:ext cx="100584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0" y="35935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91072" y="35935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0..*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52160" y="357530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views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692640" y="3657600"/>
            <a:ext cx="73152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38360" y="345643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0..*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168128" y="345643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802368" y="366674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polled by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183880" y="4251046"/>
            <a:ext cx="9144" cy="3429914"/>
          </a:xfrm>
          <a:prstGeom prst="line">
            <a:avLst/>
          </a:prstGeom>
          <a:noFill/>
          <a:ln w="9525">
            <a:solidFill>
              <a:srgbClr val="888888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57032" y="5874563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status FK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927848" y="7498080"/>
            <a:ext cx="20116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42F2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N:1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56002" y="139903"/>
            <a:ext cx="9144000" cy="2084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BulkCart — UML Class Diagram | 04.05: Delivery Exception Handling &amp; Re-Shipment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2926080"/>
            <a:ext cx="274320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2926080"/>
            <a:ext cx="274320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Shipment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3230575"/>
            <a:ext cx="2743200" cy="956462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3267151"/>
            <a:ext cx="2633472" cy="91988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shipmentId: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orderId: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carrierId: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trackingNumber: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status: VARCHAR(50)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estimatedDelivery: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108960" y="4187038"/>
            <a:ext cx="2743200" cy="451714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4223614"/>
            <a:ext cx="263347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create(data): Shipment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updateStatus(s):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flagException(): void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766560" y="2468880"/>
            <a:ext cx="30175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2468880"/>
            <a:ext cx="30175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DeliveryException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66560" y="2773375"/>
            <a:ext cx="3017520" cy="1082650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39712" y="2809951"/>
            <a:ext cx="2907792" cy="104607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exceptionId: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shipmentId: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type: VARCHAR(50)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description: TEXT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referenceNo: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reShipmentId: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resolvedAt: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766560" y="3856025"/>
            <a:ext cx="3017520" cy="577901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39712" y="3892601"/>
            <a:ext cx="2907792" cy="541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log(data): DeliveryException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resolve(reShipmentId):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notifyRetailer():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triggerReShipment(): Shipment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6858000" y="7589520"/>
            <a:ext cx="2560320" cy="304495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58000" y="7589520"/>
            <a:ext cx="25603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ExceptionType_Ref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58000" y="7894015"/>
            <a:ext cx="2560320" cy="451714"/>
          </a:xfrm>
          <a:prstGeom prst="rect">
            <a:avLst/>
          </a:prstGeom>
          <a:solidFill>
            <a:srgbClr val="EFFFF4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31152" y="7930591"/>
            <a:ext cx="245059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typeName: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requiresReShip: BOOLEAN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6858000" y="8345729"/>
            <a:ext cx="2560320" cy="228600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31152" y="8382305"/>
            <a:ext cx="2450592" cy="192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getActiveTypes(): List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5852160" y="3566160"/>
            <a:ext cx="91440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33649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82512" y="33649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0..*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080760" y="334670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has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275320" y="4433926"/>
            <a:ext cx="9144" cy="3155594"/>
          </a:xfrm>
          <a:prstGeom prst="line">
            <a:avLst/>
          </a:prstGeom>
          <a:noFill/>
          <a:ln w="9525">
            <a:solidFill>
              <a:srgbClr val="888888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48472" y="5920283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type FK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8019288" y="7406640"/>
            <a:ext cx="20116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42F2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N:1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 flipH="1" flipV="1">
            <a:off x="5852160" y="4136746"/>
            <a:ext cx="914400" cy="22860"/>
          </a:xfrm>
          <a:prstGeom prst="line">
            <a:avLst/>
          </a:prstGeom>
          <a:noFill/>
          <a:ln w="9525">
            <a:solidFill>
              <a:srgbClr val="888888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57515" y="4187495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reShipmentId FK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124176" cy="482803"/>
          </a:xfrm>
          <a:prstGeom prst="rect">
            <a:avLst/>
          </a:prstGeom>
          <a:solidFill>
            <a:srgbClr val="1D3A5E"/>
          </a:solidFill>
          <a:ln w="1270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56002" y="139903"/>
            <a:ext cx="9144000" cy="20848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BulkCart — UML Class Diagram | 05.01: Generate Invoices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3200400"/>
            <a:ext cx="25603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3200400"/>
            <a:ext cx="25603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Retailer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3504895"/>
            <a:ext cx="2560320" cy="830275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3541471"/>
            <a:ext cx="2450592" cy="793699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userId: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role: VARCHAR(20)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name: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company: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email: VARCHAR(255)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approved: BOOLEAN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3108960" y="4335170"/>
            <a:ext cx="2560320" cy="451714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82112" y="4371746"/>
            <a:ext cx="245059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viewInvoices(): List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downloadInvoice(id): File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viewOutstandingBalance(): Decimal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6675120" y="2286000"/>
            <a:ext cx="301752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675120" y="2286000"/>
            <a:ext cx="301752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Invoice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75120" y="2590495"/>
            <a:ext cx="3017520" cy="1335024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48272" y="2627071"/>
            <a:ext cx="2907792" cy="129844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invoiceId: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orderId: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retailerId: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subtotal: DECIMAL(10,2)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tax: DECIMAL(10,2)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total: DECIMAL(10,2)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status: VARCHAR(50)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dueDate: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paidAt: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675120" y="3925519"/>
            <a:ext cx="3017520" cy="577901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48272" y="3962095"/>
            <a:ext cx="2907792" cy="54132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generate(order): Invoice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markPaid():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getLineItems(): List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sendToRetailer(): void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10424160" y="3200400"/>
            <a:ext cx="2651760" cy="304495"/>
          </a:xfrm>
          <a:prstGeom prst="rect">
            <a:avLst/>
          </a:prstGeom>
          <a:solidFill>
            <a:srgbClr val="1D3A5E"/>
          </a:solidFill>
          <a:ln w="6350">
            <a:solidFill>
              <a:srgbClr val="1D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24160" y="3200400"/>
            <a:ext cx="265176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AgingRecord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424160" y="3504895"/>
            <a:ext cx="2651760" cy="1208837"/>
          </a:xfrm>
          <a:prstGeom prst="rect">
            <a:avLst/>
          </a:prstGeom>
          <a:solidFill>
            <a:srgbClr val="EBF4FF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97312" y="3541471"/>
            <a:ext cx="2542032" cy="117226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agingId: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invoiceId: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retailerId: Integer {FK}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agingBucket: VARCHAR(50)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daysOverdue: Integer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outstandingAmount: DECIMAL(10,2)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dunningCount: Integer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lastDunningSentAt: DATETIME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createdAt: DATETIME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10424160" y="4713732"/>
            <a:ext cx="2651760" cy="451714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97312" y="4750308"/>
            <a:ext cx="254203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computeBucket(): String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sendDunningNotice(): void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getOverdueInvoices(): List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6858000" y="7863840"/>
            <a:ext cx="2468880" cy="304495"/>
          </a:xfrm>
          <a:prstGeom prst="rect">
            <a:avLst/>
          </a:prstGeom>
          <a:solidFill>
            <a:srgbClr val="266749"/>
          </a:solidFill>
          <a:ln w="6350">
            <a:solidFill>
              <a:srgbClr val="2667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0" y="7863840"/>
            <a:ext cx="2468880" cy="304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InvoiceStatus_Ref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58000" y="8168335"/>
            <a:ext cx="2468880" cy="451714"/>
          </a:xfrm>
          <a:prstGeom prst="rect">
            <a:avLst/>
          </a:prstGeom>
          <a:solidFill>
            <a:srgbClr val="EFFFF4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31152" y="8204911"/>
            <a:ext cx="2359152" cy="4151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id: Integer {PK}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label: VARCHAR(100)</a:t>
            </a:r>
            <a:endParaRPr lang="en-US" sz="6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600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· isActive: BOOLEAN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858000" y="8620049"/>
            <a:ext cx="2468880" cy="228600"/>
          </a:xfrm>
          <a:prstGeom prst="rect">
            <a:avLst/>
          </a:prstGeom>
          <a:solidFill>
            <a:srgbClr val="F6F9FB"/>
          </a:solidFill>
          <a:ln w="6350">
            <a:solidFill>
              <a:srgbClr val="AA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8656625"/>
            <a:ext cx="2359152" cy="192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600" i="1" dirty="0">
                <a:solidFill>
                  <a:srgbClr val="1A1F2B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 + getActiveStatuses(): List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5669280" y="3840480"/>
            <a:ext cx="100584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0" y="363931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291072" y="363931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0..*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852160" y="362102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receives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692640" y="3566160"/>
            <a:ext cx="731520" cy="9144"/>
          </a:xfrm>
          <a:prstGeom prst="line">
            <a:avLst/>
          </a:prstGeom>
          <a:noFill/>
          <a:ln w="9525">
            <a:solidFill>
              <a:srgbClr val="888888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38360" y="33649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076688" y="3364992"/>
            <a:ext cx="320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0..1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765792" y="3575304"/>
            <a:ext cx="7315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44444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tracked in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8183880" y="4503420"/>
            <a:ext cx="9144" cy="3360420"/>
          </a:xfrm>
          <a:prstGeom prst="line">
            <a:avLst/>
          </a:prstGeom>
          <a:noFill/>
          <a:ln w="9525">
            <a:solidFill>
              <a:srgbClr val="888888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257032" y="6092190"/>
            <a:ext cx="9144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status FK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927848" y="7680960"/>
            <a:ext cx="201168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C42F2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N:1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Custom</PresentationFormat>
  <Paragraphs>181</Paragraphs>
  <Slides>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SimSun</vt:lpstr>
      <vt:lpstr>Wingdings</vt:lpstr>
      <vt:lpstr>Calibri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iPhone</cp:lastModifiedBy>
  <cp:revision>4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348884A555F61D42D6ACF769BD08DBCD_32</vt:lpwstr>
  </property>
  <property fmtid="{D5CDD505-2E9C-101B-9397-08002B2CF9AE}" pid="3" name="KSOProductBuildVer">
    <vt:lpwstr>1033-26.3.1</vt:lpwstr>
  </property>
</Properties>
</file>