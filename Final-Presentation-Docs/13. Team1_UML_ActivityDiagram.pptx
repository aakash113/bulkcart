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76" d="100"/>
          <a:sy n="76" d="100"/>
        </p:scale>
        <p:origin x="3600" y="2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5598" y="51201"/>
            <a:ext cx="2869565" cy="4686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1700" b="1" dirty="0">
                <a:solidFill>
                  <a:srgbClr val="1A3A5B"/>
                </a:solidFill>
                <a:latin typeface="Arial"/>
                <a:cs typeface="Arial"/>
              </a:rPr>
              <a:t>BulkCart</a:t>
            </a:r>
            <a:r>
              <a:rPr sz="1700" b="1" spc="-5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3A5B"/>
                </a:solidFill>
                <a:latin typeface="Arial"/>
                <a:cs typeface="Arial"/>
              </a:rPr>
              <a:t>–</a:t>
            </a:r>
            <a:r>
              <a:rPr sz="1700" b="1" spc="-45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3A5B"/>
                </a:solidFill>
                <a:latin typeface="Arial"/>
                <a:cs typeface="Arial"/>
              </a:rPr>
              <a:t>Activity</a:t>
            </a:r>
            <a:r>
              <a:rPr sz="1700" b="1" spc="-50" dirty="0">
                <a:solidFill>
                  <a:srgbClr val="1A3A5B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3A5B"/>
                </a:solidFill>
                <a:latin typeface="Arial"/>
                <a:cs typeface="Arial"/>
              </a:rPr>
              <a:t>Diagram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0A7285"/>
                </a:solidFill>
                <a:latin typeface="Arial MT"/>
                <a:cs typeface="Arial MT"/>
              </a:rPr>
              <a:t>Primary</a:t>
            </a:r>
            <a:r>
              <a:rPr sz="950" spc="-5" dirty="0">
                <a:solidFill>
                  <a:srgbClr val="0A7285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A7285"/>
                </a:solidFill>
                <a:latin typeface="Arial MT"/>
                <a:cs typeface="Arial MT"/>
              </a:rPr>
              <a:t>Scenario:</a:t>
            </a:r>
            <a:r>
              <a:rPr sz="950" spc="-5" dirty="0">
                <a:solidFill>
                  <a:srgbClr val="0A7285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A7285"/>
                </a:solidFill>
                <a:latin typeface="Arial MT"/>
                <a:cs typeface="Arial MT"/>
              </a:rPr>
              <a:t>Retailer Places</a:t>
            </a:r>
            <a:r>
              <a:rPr sz="950" spc="-5" dirty="0">
                <a:solidFill>
                  <a:srgbClr val="0A7285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A7285"/>
                </a:solidFill>
                <a:latin typeface="Arial MT"/>
                <a:cs typeface="Arial MT"/>
              </a:rPr>
              <a:t>a</a:t>
            </a:r>
            <a:r>
              <a:rPr sz="950" spc="-5" dirty="0">
                <a:solidFill>
                  <a:srgbClr val="0A7285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0A7285"/>
                </a:solidFill>
                <a:latin typeface="Arial MT"/>
                <a:cs typeface="Arial MT"/>
              </a:rPr>
              <a:t>Bulk </a:t>
            </a:r>
            <a:r>
              <a:rPr sz="950" spc="-10" dirty="0">
                <a:solidFill>
                  <a:srgbClr val="0A7285"/>
                </a:solidFill>
                <a:latin typeface="Arial MT"/>
                <a:cs typeface="Arial MT"/>
              </a:rPr>
              <a:t>Order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1920" y="629919"/>
            <a:ext cx="1837055" cy="9838690"/>
            <a:chOff x="121920" y="629919"/>
            <a:chExt cx="1837055" cy="9838690"/>
          </a:xfrm>
        </p:grpSpPr>
        <p:sp>
          <p:nvSpPr>
            <p:cNvPr id="4" name="object 4"/>
            <p:cNvSpPr/>
            <p:nvPr/>
          </p:nvSpPr>
          <p:spPr>
            <a:xfrm>
              <a:off x="127000" y="1015999"/>
              <a:ext cx="1826895" cy="9447530"/>
            </a:xfrm>
            <a:custGeom>
              <a:avLst/>
              <a:gdLst/>
              <a:ahLst/>
              <a:cxnLst/>
              <a:rect l="l" t="t" r="r" b="b"/>
              <a:pathLst>
                <a:path w="1826895" h="9447530">
                  <a:moveTo>
                    <a:pt x="0" y="9447400"/>
                  </a:moveTo>
                  <a:lnTo>
                    <a:pt x="1826500" y="9447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447400"/>
                  </a:lnTo>
                  <a:close/>
                </a:path>
              </a:pathLst>
            </a:custGeom>
            <a:solidFill>
              <a:srgbClr val="D6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000" y="634999"/>
              <a:ext cx="1826895" cy="9828530"/>
            </a:xfrm>
            <a:custGeom>
              <a:avLst/>
              <a:gdLst/>
              <a:ahLst/>
              <a:cxnLst/>
              <a:rect l="l" t="t" r="r" b="b"/>
              <a:pathLst>
                <a:path w="1826895" h="9828530">
                  <a:moveTo>
                    <a:pt x="0" y="9828400"/>
                  </a:moveTo>
                  <a:lnTo>
                    <a:pt x="1826500" y="9828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828400"/>
                  </a:lnTo>
                  <a:close/>
                </a:path>
              </a:pathLst>
            </a:custGeom>
            <a:ln w="101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000" y="634999"/>
              <a:ext cx="1826895" cy="381000"/>
            </a:xfrm>
            <a:custGeom>
              <a:avLst/>
              <a:gdLst/>
              <a:ahLst/>
              <a:cxnLst/>
              <a:rect l="l" t="t" r="r" b="b"/>
              <a:pathLst>
                <a:path w="1826895" h="381000">
                  <a:moveTo>
                    <a:pt x="18265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826500" y="381000"/>
                  </a:lnTo>
                  <a:lnTo>
                    <a:pt x="182650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3602" y="692150"/>
            <a:ext cx="613410" cy="28194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08585" marR="5080" indent="-96520">
              <a:lnSpc>
                <a:spcPts val="1000"/>
              </a:lnSpc>
              <a:spcBef>
                <a:spcPts val="1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Subscribed Retailer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48420" y="629919"/>
            <a:ext cx="1837055" cy="9838690"/>
            <a:chOff x="1948420" y="629919"/>
            <a:chExt cx="1837055" cy="9838690"/>
          </a:xfrm>
        </p:grpSpPr>
        <p:sp>
          <p:nvSpPr>
            <p:cNvPr id="9" name="object 9"/>
            <p:cNvSpPr/>
            <p:nvPr/>
          </p:nvSpPr>
          <p:spPr>
            <a:xfrm>
              <a:off x="1953500" y="1015999"/>
              <a:ext cx="1826895" cy="9447530"/>
            </a:xfrm>
            <a:custGeom>
              <a:avLst/>
              <a:gdLst/>
              <a:ahLst/>
              <a:cxnLst/>
              <a:rect l="l" t="t" r="r" b="b"/>
              <a:pathLst>
                <a:path w="1826895" h="9447530">
                  <a:moveTo>
                    <a:pt x="0" y="9447400"/>
                  </a:moveTo>
                  <a:lnTo>
                    <a:pt x="1826500" y="9447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447400"/>
                  </a:lnTo>
                  <a:close/>
                </a:path>
              </a:pathLst>
            </a:custGeom>
            <a:solidFill>
              <a:srgbClr val="D6E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53500" y="634999"/>
              <a:ext cx="1826895" cy="9828530"/>
            </a:xfrm>
            <a:custGeom>
              <a:avLst/>
              <a:gdLst/>
              <a:ahLst/>
              <a:cxnLst/>
              <a:rect l="l" t="t" r="r" b="b"/>
              <a:pathLst>
                <a:path w="1826895" h="9828530">
                  <a:moveTo>
                    <a:pt x="0" y="9828400"/>
                  </a:moveTo>
                  <a:lnTo>
                    <a:pt x="1826500" y="9828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828400"/>
                  </a:lnTo>
                  <a:close/>
                </a:path>
              </a:pathLst>
            </a:custGeom>
            <a:ln w="101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53500" y="634999"/>
              <a:ext cx="1826895" cy="381000"/>
            </a:xfrm>
            <a:custGeom>
              <a:avLst/>
              <a:gdLst/>
              <a:ahLst/>
              <a:cxnLst/>
              <a:rect l="l" t="t" r="r" b="b"/>
              <a:pathLst>
                <a:path w="1826895" h="381000">
                  <a:moveTo>
                    <a:pt x="18265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826500" y="381000"/>
                  </a:lnTo>
                  <a:lnTo>
                    <a:pt x="1826500" y="0"/>
                  </a:lnTo>
                  <a:close/>
                </a:path>
              </a:pathLst>
            </a:custGeom>
            <a:solidFill>
              <a:srgbClr val="1A6B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32104" y="692150"/>
            <a:ext cx="469900" cy="28194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83820">
              <a:lnSpc>
                <a:spcPts val="1000"/>
              </a:lnSpc>
              <a:spcBef>
                <a:spcPts val="1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Store Manager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74919" y="629919"/>
            <a:ext cx="1837055" cy="9838690"/>
            <a:chOff x="3774919" y="629919"/>
            <a:chExt cx="1837055" cy="9838690"/>
          </a:xfrm>
        </p:grpSpPr>
        <p:sp>
          <p:nvSpPr>
            <p:cNvPr id="14" name="object 14"/>
            <p:cNvSpPr/>
            <p:nvPr/>
          </p:nvSpPr>
          <p:spPr>
            <a:xfrm>
              <a:off x="3779999" y="1015999"/>
              <a:ext cx="1826895" cy="9447530"/>
            </a:xfrm>
            <a:custGeom>
              <a:avLst/>
              <a:gdLst/>
              <a:ahLst/>
              <a:cxnLst/>
              <a:rect l="l" t="t" r="r" b="b"/>
              <a:pathLst>
                <a:path w="1826895" h="9447530">
                  <a:moveTo>
                    <a:pt x="0" y="9447400"/>
                  </a:moveTo>
                  <a:lnTo>
                    <a:pt x="1826500" y="9447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447400"/>
                  </a:lnTo>
                  <a:close/>
                </a:path>
              </a:pathLst>
            </a:custGeom>
            <a:solidFill>
              <a:srgbClr val="EDD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79999" y="634999"/>
              <a:ext cx="1826895" cy="9828530"/>
            </a:xfrm>
            <a:custGeom>
              <a:avLst/>
              <a:gdLst/>
              <a:ahLst/>
              <a:cxnLst/>
              <a:rect l="l" t="t" r="r" b="b"/>
              <a:pathLst>
                <a:path w="1826895" h="9828530">
                  <a:moveTo>
                    <a:pt x="0" y="9828400"/>
                  </a:moveTo>
                  <a:lnTo>
                    <a:pt x="1826500" y="9828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828400"/>
                  </a:lnTo>
                  <a:close/>
                </a:path>
              </a:pathLst>
            </a:custGeom>
            <a:ln w="101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79999" y="634999"/>
              <a:ext cx="1826895" cy="381000"/>
            </a:xfrm>
            <a:custGeom>
              <a:avLst/>
              <a:gdLst/>
              <a:ahLst/>
              <a:cxnLst/>
              <a:rect l="l" t="t" r="r" b="b"/>
              <a:pathLst>
                <a:path w="1826895" h="381000">
                  <a:moveTo>
                    <a:pt x="18265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826500" y="381000"/>
                  </a:lnTo>
                  <a:lnTo>
                    <a:pt x="1826500" y="0"/>
                  </a:lnTo>
                  <a:close/>
                </a:path>
              </a:pathLst>
            </a:custGeom>
            <a:solidFill>
              <a:srgbClr val="7B3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386601" y="692150"/>
            <a:ext cx="613410" cy="28194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90170" marR="5080" indent="-78105">
              <a:lnSpc>
                <a:spcPts val="1000"/>
              </a:lnSpc>
              <a:spcBef>
                <a:spcPts val="1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Subscribed Supplier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01420" y="629919"/>
            <a:ext cx="1837055" cy="9838690"/>
            <a:chOff x="5601420" y="629919"/>
            <a:chExt cx="1837055" cy="9838690"/>
          </a:xfrm>
        </p:grpSpPr>
        <p:sp>
          <p:nvSpPr>
            <p:cNvPr id="19" name="object 19"/>
            <p:cNvSpPr/>
            <p:nvPr/>
          </p:nvSpPr>
          <p:spPr>
            <a:xfrm>
              <a:off x="5606500" y="1015999"/>
              <a:ext cx="1826895" cy="9447530"/>
            </a:xfrm>
            <a:custGeom>
              <a:avLst/>
              <a:gdLst/>
              <a:ahLst/>
              <a:cxnLst/>
              <a:rect l="l" t="t" r="r" b="b"/>
              <a:pathLst>
                <a:path w="1826895" h="9447530">
                  <a:moveTo>
                    <a:pt x="0" y="9447400"/>
                  </a:moveTo>
                  <a:lnTo>
                    <a:pt x="1826500" y="9447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447400"/>
                  </a:lnTo>
                  <a:close/>
                </a:path>
              </a:pathLst>
            </a:custGeom>
            <a:solidFill>
              <a:srgbClr val="E4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06500" y="634999"/>
              <a:ext cx="1826895" cy="9828530"/>
            </a:xfrm>
            <a:custGeom>
              <a:avLst/>
              <a:gdLst/>
              <a:ahLst/>
              <a:cxnLst/>
              <a:rect l="l" t="t" r="r" b="b"/>
              <a:pathLst>
                <a:path w="1826895" h="9828530">
                  <a:moveTo>
                    <a:pt x="0" y="9828400"/>
                  </a:moveTo>
                  <a:lnTo>
                    <a:pt x="1826500" y="9828400"/>
                  </a:lnTo>
                  <a:lnTo>
                    <a:pt x="1826500" y="0"/>
                  </a:lnTo>
                  <a:lnTo>
                    <a:pt x="0" y="0"/>
                  </a:lnTo>
                  <a:lnTo>
                    <a:pt x="0" y="9828400"/>
                  </a:lnTo>
                  <a:close/>
                </a:path>
              </a:pathLst>
            </a:custGeom>
            <a:ln w="101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06500" y="634999"/>
              <a:ext cx="1826895" cy="381000"/>
            </a:xfrm>
            <a:custGeom>
              <a:avLst/>
              <a:gdLst/>
              <a:ahLst/>
              <a:cxnLst/>
              <a:rect l="l" t="t" r="r" b="b"/>
              <a:pathLst>
                <a:path w="1826895" h="381000">
                  <a:moveTo>
                    <a:pt x="18265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826500" y="381000"/>
                  </a:lnTo>
                  <a:lnTo>
                    <a:pt x="1826500" y="0"/>
                  </a:lnTo>
                  <a:close/>
                </a:path>
              </a:pathLst>
            </a:custGeom>
            <a:solidFill>
              <a:srgbClr val="4923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77154" y="692150"/>
            <a:ext cx="685165" cy="28194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41605" marR="5080" indent="-129539">
              <a:lnSpc>
                <a:spcPts val="1000"/>
              </a:lnSpc>
              <a:spcBef>
                <a:spcPts val="150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r>
              <a:rPr sz="8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Staff (Billing)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4450" y="1023618"/>
            <a:ext cx="1371600" cy="1054100"/>
            <a:chOff x="354450" y="1041399"/>
            <a:chExt cx="1371600" cy="10541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650" y="1041399"/>
              <a:ext cx="203200" cy="4064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54450" y="1333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399" y="381000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800"/>
                  </a:lnTo>
                  <a:lnTo>
                    <a:pt x="1371599" y="76200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048" y="1676440"/>
              <a:ext cx="104361" cy="761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4450" y="1714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399" y="381000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800"/>
                  </a:lnTo>
                  <a:lnTo>
                    <a:pt x="1371599" y="76200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6976" y="1346200"/>
            <a:ext cx="866775" cy="655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222885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Sign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5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 Register</a:t>
            </a:r>
            <a:r>
              <a:rPr sz="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Account</a:t>
            </a:r>
            <a:endParaRPr sz="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00" dirty="0">
              <a:latin typeface="Arial"/>
              <a:cs typeface="Arial"/>
            </a:endParaRPr>
          </a:p>
          <a:p>
            <a:pPr marL="246379" marR="35560" indent="-203835">
              <a:lnSpc>
                <a:spcPct val="104200"/>
              </a:lnSpc>
              <a:spcBef>
                <a:spcPts val="5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Browse</a:t>
            </a:r>
            <a:r>
              <a:rPr sz="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Product Catalog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4450" y="2085339"/>
            <a:ext cx="1371600" cy="1318260"/>
            <a:chOff x="354450" y="2085339"/>
            <a:chExt cx="1371600" cy="1318260"/>
          </a:xfrm>
        </p:grpSpPr>
        <p:sp>
          <p:nvSpPr>
            <p:cNvPr id="30" name="object 30"/>
            <p:cNvSpPr/>
            <p:nvPr/>
          </p:nvSpPr>
          <p:spPr>
            <a:xfrm>
              <a:off x="1040250" y="2095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40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02190" y="2255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4450" y="2349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399" y="381000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800"/>
                  </a:lnTo>
                  <a:lnTo>
                    <a:pt x="1371599" y="76200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40250" y="273049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9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02190" y="28521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9850" y="2946399"/>
              <a:ext cx="1320800" cy="457200"/>
            </a:xfrm>
            <a:custGeom>
              <a:avLst/>
              <a:gdLst/>
              <a:ahLst/>
              <a:cxnLst/>
              <a:rect l="l" t="t" r="r" b="b"/>
              <a:pathLst>
                <a:path w="1320800" h="457200">
                  <a:moveTo>
                    <a:pt x="660400" y="0"/>
                  </a:moveTo>
                  <a:lnTo>
                    <a:pt x="0" y="228600"/>
                  </a:lnTo>
                  <a:lnTo>
                    <a:pt x="660400" y="457200"/>
                  </a:lnTo>
                  <a:lnTo>
                    <a:pt x="1320799" y="228600"/>
                  </a:lnTo>
                  <a:lnTo>
                    <a:pt x="660400" y="0"/>
                  </a:lnTo>
                  <a:close/>
                </a:path>
              </a:pathLst>
            </a:custGeom>
            <a:solidFill>
              <a:srgbClr val="E8A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92044" y="3105150"/>
            <a:ext cx="49657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Approval?</a:t>
            </a:r>
            <a:endParaRPr sz="7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636" y="2362200"/>
            <a:ext cx="1768475" cy="5626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08585" marR="945515" indent="-9652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Purchase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(Draft)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00">
              <a:latin typeface="Arial"/>
              <a:cs typeface="Arial"/>
            </a:endParaRPr>
          </a:p>
          <a:p>
            <a:pPr marL="1099185">
              <a:lnSpc>
                <a:spcPct val="100000"/>
              </a:lnSpc>
              <a:spcBef>
                <a:spcPts val="5"/>
              </a:spcBef>
            </a:pPr>
            <a:r>
              <a:rPr sz="650" i="1" spc="-10" dirty="0">
                <a:solidFill>
                  <a:srgbClr val="545454"/>
                </a:solidFill>
                <a:latin typeface="Arial"/>
                <a:cs typeface="Arial"/>
              </a:rPr>
              <a:t>[High-</a:t>
            </a:r>
            <a:r>
              <a:rPr sz="650" i="1" dirty="0">
                <a:solidFill>
                  <a:srgbClr val="545454"/>
                </a:solidFill>
                <a:latin typeface="Arial"/>
                <a:cs typeface="Arial"/>
              </a:rPr>
              <a:t>value</a:t>
            </a:r>
            <a:r>
              <a:rPr sz="650" i="1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545454"/>
                </a:solidFill>
                <a:latin typeface="Arial"/>
                <a:cs typeface="Arial"/>
              </a:rPr>
              <a:t>order]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690489" y="3136940"/>
            <a:ext cx="501015" cy="76200"/>
            <a:chOff x="1690489" y="3136940"/>
            <a:chExt cx="501015" cy="76200"/>
          </a:xfrm>
        </p:grpSpPr>
        <p:sp>
          <p:nvSpPr>
            <p:cNvPr id="39" name="object 39"/>
            <p:cNvSpPr/>
            <p:nvPr/>
          </p:nvSpPr>
          <p:spPr>
            <a:xfrm>
              <a:off x="1700649" y="3174999"/>
              <a:ext cx="480695" cy="0"/>
            </a:xfrm>
            <a:custGeom>
              <a:avLst/>
              <a:gdLst/>
              <a:ahLst/>
              <a:cxnLst/>
              <a:rect l="l" t="t" r="r" b="b"/>
              <a:pathLst>
                <a:path w="480694">
                  <a:moveTo>
                    <a:pt x="0" y="0"/>
                  </a:moveTo>
                  <a:lnTo>
                    <a:pt x="48030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86748" y="3136940"/>
              <a:ext cx="94615" cy="76200"/>
            </a:xfrm>
            <a:custGeom>
              <a:avLst/>
              <a:gdLst/>
              <a:ahLst/>
              <a:cxnLst/>
              <a:rect l="l" t="t" r="r" b="b"/>
              <a:pathLst>
                <a:path w="94614" h="76200">
                  <a:moveTo>
                    <a:pt x="0" y="0"/>
                  </a:moveTo>
                  <a:lnTo>
                    <a:pt x="0" y="76119"/>
                  </a:lnTo>
                  <a:lnTo>
                    <a:pt x="94200" y="38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687949" y="3016250"/>
            <a:ext cx="16764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i="1" spc="-25" dirty="0">
                <a:solidFill>
                  <a:srgbClr val="545454"/>
                </a:solidFill>
                <a:latin typeface="Arial"/>
                <a:cs typeface="Arial"/>
              </a:rPr>
              <a:t>Yes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180949" y="2984499"/>
            <a:ext cx="1371600" cy="38100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2954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04800"/>
                </a:lnTo>
                <a:lnTo>
                  <a:pt x="5982" y="334477"/>
                </a:lnTo>
                <a:lnTo>
                  <a:pt x="22303" y="358696"/>
                </a:lnTo>
                <a:lnTo>
                  <a:pt x="46522" y="375017"/>
                </a:lnTo>
                <a:lnTo>
                  <a:pt x="76200" y="381000"/>
                </a:lnTo>
                <a:lnTo>
                  <a:pt x="1295400" y="381000"/>
                </a:lnTo>
                <a:lnTo>
                  <a:pt x="1325077" y="375017"/>
                </a:lnTo>
                <a:lnTo>
                  <a:pt x="1349296" y="358696"/>
                </a:lnTo>
                <a:lnTo>
                  <a:pt x="1365617" y="334477"/>
                </a:lnTo>
                <a:lnTo>
                  <a:pt x="1371600" y="304800"/>
                </a:lnTo>
                <a:lnTo>
                  <a:pt x="1371600" y="76200"/>
                </a:lnTo>
                <a:lnTo>
                  <a:pt x="1365617" y="46522"/>
                </a:lnTo>
                <a:lnTo>
                  <a:pt x="1349296" y="22303"/>
                </a:lnTo>
                <a:lnTo>
                  <a:pt x="1325077" y="5982"/>
                </a:lnTo>
                <a:lnTo>
                  <a:pt x="1295400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402386" y="2997200"/>
            <a:ext cx="929005" cy="27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r>
              <a:rPr sz="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Approve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Reject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180949" y="3355339"/>
            <a:ext cx="1371600" cy="645160"/>
            <a:chOff x="2180949" y="3355339"/>
            <a:chExt cx="1371600" cy="645160"/>
          </a:xfrm>
        </p:grpSpPr>
        <p:sp>
          <p:nvSpPr>
            <p:cNvPr id="45" name="object 45"/>
            <p:cNvSpPr/>
            <p:nvPr/>
          </p:nvSpPr>
          <p:spPr>
            <a:xfrm>
              <a:off x="2866749" y="3365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40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28690" y="3525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80949" y="3619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4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400" y="381000"/>
                  </a:lnTo>
                  <a:lnTo>
                    <a:pt x="1325077" y="375017"/>
                  </a:lnTo>
                  <a:lnTo>
                    <a:pt x="1349296" y="358696"/>
                  </a:lnTo>
                  <a:lnTo>
                    <a:pt x="1365617" y="334477"/>
                  </a:lnTo>
                  <a:lnTo>
                    <a:pt x="1371600" y="304800"/>
                  </a:lnTo>
                  <a:lnTo>
                    <a:pt x="1371600" y="76200"/>
                  </a:lnTo>
                  <a:lnTo>
                    <a:pt x="1365617" y="46522"/>
                  </a:lnTo>
                  <a:lnTo>
                    <a:pt x="1349296" y="22303"/>
                  </a:lnTo>
                  <a:lnTo>
                    <a:pt x="1325077" y="598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509676" y="3632200"/>
            <a:ext cx="71437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5725" marR="5080" indent="-7366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Notify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Retailer (Approved)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02189" y="3393439"/>
            <a:ext cx="1189355" cy="454659"/>
            <a:chOff x="1002189" y="3393439"/>
            <a:chExt cx="1189355" cy="454659"/>
          </a:xfrm>
        </p:grpSpPr>
        <p:sp>
          <p:nvSpPr>
            <p:cNvPr id="50" name="object 50"/>
            <p:cNvSpPr/>
            <p:nvPr/>
          </p:nvSpPr>
          <p:spPr>
            <a:xfrm>
              <a:off x="1726049" y="3809999"/>
              <a:ext cx="455295" cy="0"/>
            </a:xfrm>
            <a:custGeom>
              <a:avLst/>
              <a:gdLst/>
              <a:ahLst/>
              <a:cxnLst/>
              <a:rect l="l" t="t" r="r" b="b"/>
              <a:pathLst>
                <a:path w="455294">
                  <a:moveTo>
                    <a:pt x="454900" y="0"/>
                  </a:moveTo>
                  <a:lnTo>
                    <a:pt x="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726049" y="3771940"/>
              <a:ext cx="94615" cy="76200"/>
            </a:xfrm>
            <a:custGeom>
              <a:avLst/>
              <a:gdLst/>
              <a:ahLst/>
              <a:cxnLst/>
              <a:rect l="l" t="t" r="r" b="b"/>
              <a:pathLst>
                <a:path w="94614" h="76200">
                  <a:moveTo>
                    <a:pt x="94202" y="0"/>
                  </a:moveTo>
                  <a:lnTo>
                    <a:pt x="0" y="38059"/>
                  </a:lnTo>
                  <a:lnTo>
                    <a:pt x="94202" y="76119"/>
                  </a:lnTo>
                  <a:lnTo>
                    <a:pt x="94202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40249" y="340359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9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02189" y="3525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91049" y="3435350"/>
            <a:ext cx="13144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i="1" spc="-25" dirty="0">
                <a:solidFill>
                  <a:srgbClr val="545454"/>
                </a:solidFill>
                <a:latin typeface="Arial"/>
                <a:cs typeface="Arial"/>
              </a:rPr>
              <a:t>No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54450" y="3619499"/>
            <a:ext cx="1371600" cy="38100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295399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04800"/>
                </a:lnTo>
                <a:lnTo>
                  <a:pt x="5982" y="334477"/>
                </a:lnTo>
                <a:lnTo>
                  <a:pt x="22303" y="358696"/>
                </a:lnTo>
                <a:lnTo>
                  <a:pt x="46522" y="375017"/>
                </a:lnTo>
                <a:lnTo>
                  <a:pt x="76200" y="381000"/>
                </a:lnTo>
                <a:lnTo>
                  <a:pt x="1295399" y="381000"/>
                </a:lnTo>
                <a:lnTo>
                  <a:pt x="1325076" y="375017"/>
                </a:lnTo>
                <a:lnTo>
                  <a:pt x="1349295" y="358696"/>
                </a:lnTo>
                <a:lnTo>
                  <a:pt x="1365616" y="334477"/>
                </a:lnTo>
                <a:lnTo>
                  <a:pt x="1371599" y="304800"/>
                </a:lnTo>
                <a:lnTo>
                  <a:pt x="1371599" y="76200"/>
                </a:lnTo>
                <a:lnTo>
                  <a:pt x="1365616" y="46522"/>
                </a:lnTo>
                <a:lnTo>
                  <a:pt x="1349295" y="22303"/>
                </a:lnTo>
                <a:lnTo>
                  <a:pt x="1325076" y="5982"/>
                </a:lnTo>
                <a:lnTo>
                  <a:pt x="1295399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21099" y="3632200"/>
            <a:ext cx="83883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19380" marR="5080" indent="-107314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Confirmed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Submitted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54450" y="3990339"/>
            <a:ext cx="1371600" cy="645160"/>
            <a:chOff x="354450" y="3990339"/>
            <a:chExt cx="1371600" cy="645160"/>
          </a:xfrm>
        </p:grpSpPr>
        <p:sp>
          <p:nvSpPr>
            <p:cNvPr id="58" name="object 58"/>
            <p:cNvSpPr/>
            <p:nvPr/>
          </p:nvSpPr>
          <p:spPr>
            <a:xfrm>
              <a:off x="1040250" y="4000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40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02190" y="4160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4450" y="4254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399" y="381000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800"/>
                  </a:lnTo>
                  <a:lnTo>
                    <a:pt x="1371599" y="76200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98493" y="4267199"/>
            <a:ext cx="883919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5095" marR="5080" indent="-11303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Awaiting</a:t>
            </a:r>
            <a:r>
              <a:rPr sz="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Supplier Confirmation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715889" y="4254499"/>
            <a:ext cx="3663315" cy="381000"/>
            <a:chOff x="1715889" y="4254499"/>
            <a:chExt cx="3663315" cy="381000"/>
          </a:xfrm>
        </p:grpSpPr>
        <p:sp>
          <p:nvSpPr>
            <p:cNvPr id="63" name="object 63"/>
            <p:cNvSpPr/>
            <p:nvPr/>
          </p:nvSpPr>
          <p:spPr>
            <a:xfrm>
              <a:off x="1726049" y="4444999"/>
              <a:ext cx="2281555" cy="0"/>
            </a:xfrm>
            <a:custGeom>
              <a:avLst/>
              <a:gdLst/>
              <a:ahLst/>
              <a:cxnLst/>
              <a:rect l="l" t="t" r="r" b="b"/>
              <a:pathLst>
                <a:path w="2281554">
                  <a:moveTo>
                    <a:pt x="0" y="0"/>
                  </a:moveTo>
                  <a:lnTo>
                    <a:pt x="228140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913248" y="4406940"/>
              <a:ext cx="94615" cy="76200"/>
            </a:xfrm>
            <a:custGeom>
              <a:avLst/>
              <a:gdLst/>
              <a:ahLst/>
              <a:cxnLst/>
              <a:rect l="l" t="t" r="r" b="b"/>
              <a:pathLst>
                <a:path w="94614" h="76200">
                  <a:moveTo>
                    <a:pt x="0" y="0"/>
                  </a:moveTo>
                  <a:lnTo>
                    <a:pt x="0" y="76119"/>
                  </a:lnTo>
                  <a:lnTo>
                    <a:pt x="94200" y="38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007449" y="4254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4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400" y="381000"/>
                  </a:lnTo>
                  <a:lnTo>
                    <a:pt x="1325077" y="375017"/>
                  </a:lnTo>
                  <a:lnTo>
                    <a:pt x="1349296" y="358696"/>
                  </a:lnTo>
                  <a:lnTo>
                    <a:pt x="1365617" y="334477"/>
                  </a:lnTo>
                  <a:lnTo>
                    <a:pt x="1371600" y="304800"/>
                  </a:lnTo>
                  <a:lnTo>
                    <a:pt x="1371600" y="76200"/>
                  </a:lnTo>
                  <a:lnTo>
                    <a:pt x="1365617" y="46522"/>
                  </a:lnTo>
                  <a:lnTo>
                    <a:pt x="1349296" y="22303"/>
                  </a:lnTo>
                  <a:lnTo>
                    <a:pt x="1325077" y="598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353041" y="4267199"/>
            <a:ext cx="680720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84455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Receive</a:t>
            </a:r>
            <a:r>
              <a:rPr sz="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5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 Review</a:t>
            </a:r>
            <a:r>
              <a:rPr sz="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121749" y="4625339"/>
            <a:ext cx="1143000" cy="909319"/>
            <a:chOff x="4121749" y="4625339"/>
            <a:chExt cx="1143000" cy="909319"/>
          </a:xfrm>
        </p:grpSpPr>
        <p:sp>
          <p:nvSpPr>
            <p:cNvPr id="68" name="object 68"/>
            <p:cNvSpPr/>
            <p:nvPr/>
          </p:nvSpPr>
          <p:spPr>
            <a:xfrm>
              <a:off x="4693249" y="463549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9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655190" y="47571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121749" y="4851399"/>
              <a:ext cx="1143000" cy="457200"/>
            </a:xfrm>
            <a:custGeom>
              <a:avLst/>
              <a:gdLst/>
              <a:ahLst/>
              <a:cxnLst/>
              <a:rect l="l" t="t" r="r" b="b"/>
              <a:pathLst>
                <a:path w="1143000" h="457200">
                  <a:moveTo>
                    <a:pt x="571500" y="0"/>
                  </a:moveTo>
                  <a:lnTo>
                    <a:pt x="0" y="228600"/>
                  </a:lnTo>
                  <a:lnTo>
                    <a:pt x="571500" y="457200"/>
                  </a:lnTo>
                  <a:lnTo>
                    <a:pt x="1143000" y="2286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E8A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93249" y="5308599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9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655190" y="5430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5277449" y="4921249"/>
            <a:ext cx="16764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i="1" spc="-25" dirty="0">
                <a:solidFill>
                  <a:srgbClr val="545454"/>
                </a:solidFill>
                <a:latin typeface="Arial"/>
                <a:cs typeface="Arial"/>
              </a:rPr>
              <a:t>Yes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040250" y="4254499"/>
            <a:ext cx="3081654" cy="825500"/>
            <a:chOff x="1040250" y="4254499"/>
            <a:chExt cx="3081654" cy="825500"/>
          </a:xfrm>
        </p:grpSpPr>
        <p:sp>
          <p:nvSpPr>
            <p:cNvPr id="75" name="object 75"/>
            <p:cNvSpPr/>
            <p:nvPr/>
          </p:nvSpPr>
          <p:spPr>
            <a:xfrm>
              <a:off x="1751449" y="5079999"/>
              <a:ext cx="2370455" cy="0"/>
            </a:xfrm>
            <a:custGeom>
              <a:avLst/>
              <a:gdLst/>
              <a:ahLst/>
              <a:cxnLst/>
              <a:rect l="l" t="t" r="r" b="b"/>
              <a:pathLst>
                <a:path w="2370454">
                  <a:moveTo>
                    <a:pt x="2370300" y="0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1A3A5B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40250" y="4555489"/>
              <a:ext cx="711200" cy="524509"/>
            </a:xfrm>
            <a:custGeom>
              <a:avLst/>
              <a:gdLst/>
              <a:ahLst/>
              <a:cxnLst/>
              <a:rect l="l" t="t" r="r" b="b"/>
              <a:pathLst>
                <a:path w="711200" h="825500">
                  <a:moveTo>
                    <a:pt x="711199" y="825500"/>
                  </a:moveTo>
                  <a:lnTo>
                    <a:pt x="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7" name="object 77"/>
            <p:cNvSpPr/>
            <p:nvPr/>
          </p:nvSpPr>
          <p:spPr>
            <a:xfrm>
              <a:off x="1040250" y="4254499"/>
              <a:ext cx="90805" cy="96520"/>
            </a:xfrm>
            <a:custGeom>
              <a:avLst/>
              <a:gdLst/>
              <a:ahLst/>
              <a:cxnLst/>
              <a:rect l="l" t="t" r="r" b="b"/>
              <a:pathLst>
                <a:path w="90805" h="96520">
                  <a:moveTo>
                    <a:pt x="0" y="0"/>
                  </a:moveTo>
                  <a:lnTo>
                    <a:pt x="32651" y="96210"/>
                  </a:lnTo>
                  <a:lnTo>
                    <a:pt x="90321" y="465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109049" y="4882641"/>
            <a:ext cx="784860" cy="2673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650" i="1" dirty="0">
                <a:solidFill>
                  <a:srgbClr val="545454"/>
                </a:solidFill>
                <a:latin typeface="Arial"/>
                <a:cs typeface="Arial"/>
              </a:rPr>
              <a:t>Reject</a:t>
            </a:r>
            <a:r>
              <a:rPr sz="650" i="1" spc="-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545454"/>
                </a:solidFill>
                <a:latin typeface="Arial"/>
                <a:cs typeface="Arial"/>
              </a:rPr>
              <a:t>-&gt;</a:t>
            </a:r>
            <a:r>
              <a:rPr sz="650" i="1" spc="-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545454"/>
                </a:solidFill>
                <a:latin typeface="Arial"/>
                <a:cs typeface="Arial"/>
              </a:rPr>
              <a:t>notify</a:t>
            </a:r>
            <a:endParaRPr sz="650">
              <a:latin typeface="Arial"/>
              <a:cs typeface="Arial"/>
            </a:endParaRPr>
          </a:p>
          <a:p>
            <a:pPr marL="396240">
              <a:lnSpc>
                <a:spcPct val="100000"/>
              </a:lnSpc>
              <a:spcBef>
                <a:spcPts val="120"/>
              </a:spcBef>
            </a:pP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Accept?</a:t>
            </a:r>
            <a:endParaRPr sz="75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007449" y="5524499"/>
            <a:ext cx="1371600" cy="38100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2954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04800"/>
                </a:lnTo>
                <a:lnTo>
                  <a:pt x="5982" y="334477"/>
                </a:lnTo>
                <a:lnTo>
                  <a:pt x="22303" y="358696"/>
                </a:lnTo>
                <a:lnTo>
                  <a:pt x="46522" y="375017"/>
                </a:lnTo>
                <a:lnTo>
                  <a:pt x="76200" y="381000"/>
                </a:lnTo>
                <a:lnTo>
                  <a:pt x="1295400" y="381000"/>
                </a:lnTo>
                <a:lnTo>
                  <a:pt x="1325077" y="375017"/>
                </a:lnTo>
                <a:lnTo>
                  <a:pt x="1349296" y="358696"/>
                </a:lnTo>
                <a:lnTo>
                  <a:pt x="1365617" y="334477"/>
                </a:lnTo>
                <a:lnTo>
                  <a:pt x="1371600" y="304800"/>
                </a:lnTo>
                <a:lnTo>
                  <a:pt x="1371600" y="76200"/>
                </a:lnTo>
                <a:lnTo>
                  <a:pt x="1365617" y="46522"/>
                </a:lnTo>
                <a:lnTo>
                  <a:pt x="1349296" y="22303"/>
                </a:lnTo>
                <a:lnTo>
                  <a:pt x="1325077" y="5982"/>
                </a:lnTo>
                <a:lnTo>
                  <a:pt x="1295400" y="0"/>
                </a:lnTo>
                <a:close/>
              </a:path>
            </a:pathLst>
          </a:custGeom>
          <a:solidFill>
            <a:srgbClr val="1A3A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279635" y="5537199"/>
            <a:ext cx="82740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71755" marR="5080" indent="-5969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Reserve</a:t>
            </a:r>
            <a:r>
              <a:rPr sz="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Stock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5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 Prepare</a:t>
            </a:r>
            <a:r>
              <a:rPr sz="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007449" y="5895339"/>
            <a:ext cx="1371600" cy="645160"/>
            <a:chOff x="4007449" y="5895339"/>
            <a:chExt cx="1371600" cy="645160"/>
          </a:xfrm>
        </p:grpSpPr>
        <p:sp>
          <p:nvSpPr>
            <p:cNvPr id="82" name="object 82"/>
            <p:cNvSpPr/>
            <p:nvPr/>
          </p:nvSpPr>
          <p:spPr>
            <a:xfrm>
              <a:off x="4693249" y="5905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40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55190" y="6065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4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007449" y="6159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4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400" y="381000"/>
                  </a:lnTo>
                  <a:lnTo>
                    <a:pt x="1325077" y="375017"/>
                  </a:lnTo>
                  <a:lnTo>
                    <a:pt x="1349296" y="358696"/>
                  </a:lnTo>
                  <a:lnTo>
                    <a:pt x="1365617" y="334477"/>
                  </a:lnTo>
                  <a:lnTo>
                    <a:pt x="1371600" y="304800"/>
                  </a:lnTo>
                  <a:lnTo>
                    <a:pt x="1371600" y="76200"/>
                  </a:lnTo>
                  <a:lnTo>
                    <a:pt x="1365617" y="46522"/>
                  </a:lnTo>
                  <a:lnTo>
                    <a:pt x="1349296" y="22303"/>
                  </a:lnTo>
                  <a:lnTo>
                    <a:pt x="1325077" y="598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276892" y="6172199"/>
            <a:ext cx="833119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240" marR="5080" indent="-3175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Shipment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Assign</a:t>
            </a:r>
            <a:r>
              <a:rPr sz="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Carrier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354450" y="6159499"/>
            <a:ext cx="3663315" cy="381000"/>
            <a:chOff x="354450" y="6159499"/>
            <a:chExt cx="3663315" cy="381000"/>
          </a:xfrm>
        </p:grpSpPr>
        <p:sp>
          <p:nvSpPr>
            <p:cNvPr id="87" name="object 87"/>
            <p:cNvSpPr/>
            <p:nvPr/>
          </p:nvSpPr>
          <p:spPr>
            <a:xfrm>
              <a:off x="1726049" y="6349999"/>
              <a:ext cx="2281555" cy="0"/>
            </a:xfrm>
            <a:custGeom>
              <a:avLst/>
              <a:gdLst/>
              <a:ahLst/>
              <a:cxnLst/>
              <a:rect l="l" t="t" r="r" b="b"/>
              <a:pathLst>
                <a:path w="2281554">
                  <a:moveTo>
                    <a:pt x="2281400" y="0"/>
                  </a:moveTo>
                  <a:lnTo>
                    <a:pt x="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726049" y="6311940"/>
              <a:ext cx="94615" cy="76200"/>
            </a:xfrm>
            <a:custGeom>
              <a:avLst/>
              <a:gdLst/>
              <a:ahLst/>
              <a:cxnLst/>
              <a:rect l="l" t="t" r="r" b="b"/>
              <a:pathLst>
                <a:path w="94614" h="76200">
                  <a:moveTo>
                    <a:pt x="94202" y="0"/>
                  </a:moveTo>
                  <a:lnTo>
                    <a:pt x="0" y="38059"/>
                  </a:lnTo>
                  <a:lnTo>
                    <a:pt x="94202" y="76119"/>
                  </a:lnTo>
                  <a:lnTo>
                    <a:pt x="94202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54450" y="6159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04800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1000"/>
                  </a:lnTo>
                  <a:lnTo>
                    <a:pt x="1295399" y="381000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800"/>
                  </a:lnTo>
                  <a:lnTo>
                    <a:pt x="1371599" y="76200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46448" y="6172199"/>
            <a:ext cx="78803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38125" marR="5080" indent="-22606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sz="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Shipment Status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354450" y="6530339"/>
            <a:ext cx="1371600" cy="645160"/>
            <a:chOff x="354450" y="6530339"/>
            <a:chExt cx="1371600" cy="645160"/>
          </a:xfrm>
        </p:grpSpPr>
        <p:sp>
          <p:nvSpPr>
            <p:cNvPr id="92" name="object 92"/>
            <p:cNvSpPr/>
            <p:nvPr/>
          </p:nvSpPr>
          <p:spPr>
            <a:xfrm>
              <a:off x="1040250" y="6540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002190" y="6700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5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54450" y="6794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04799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0999"/>
                  </a:lnTo>
                  <a:lnTo>
                    <a:pt x="1295399" y="380999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799"/>
                  </a:lnTo>
                  <a:lnTo>
                    <a:pt x="1371599" y="76199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621048" y="6807200"/>
            <a:ext cx="83883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95580" marR="5080" indent="-183515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Confirm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Delivery Received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4007449" y="6530339"/>
            <a:ext cx="1371600" cy="645160"/>
            <a:chOff x="4007449" y="6530339"/>
            <a:chExt cx="1371600" cy="645160"/>
          </a:xfrm>
        </p:grpSpPr>
        <p:sp>
          <p:nvSpPr>
            <p:cNvPr id="97" name="object 97"/>
            <p:cNvSpPr/>
            <p:nvPr/>
          </p:nvSpPr>
          <p:spPr>
            <a:xfrm>
              <a:off x="4693249" y="6540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655190" y="6700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5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007449" y="6794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4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04799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0999"/>
                  </a:lnTo>
                  <a:lnTo>
                    <a:pt x="1295400" y="380999"/>
                  </a:lnTo>
                  <a:lnTo>
                    <a:pt x="1325077" y="375017"/>
                  </a:lnTo>
                  <a:lnTo>
                    <a:pt x="1349296" y="358696"/>
                  </a:lnTo>
                  <a:lnTo>
                    <a:pt x="1365617" y="334477"/>
                  </a:lnTo>
                  <a:lnTo>
                    <a:pt x="1371600" y="304799"/>
                  </a:lnTo>
                  <a:lnTo>
                    <a:pt x="1371600" y="76199"/>
                  </a:lnTo>
                  <a:lnTo>
                    <a:pt x="1365617" y="46522"/>
                  </a:lnTo>
                  <a:lnTo>
                    <a:pt x="1349296" y="22303"/>
                  </a:lnTo>
                  <a:lnTo>
                    <a:pt x="1325077" y="598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4274048" y="6807200"/>
            <a:ext cx="83883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6210" marR="5080" indent="-144145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Confirm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Delivery Completed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5368889" y="6794500"/>
            <a:ext cx="1837055" cy="381000"/>
            <a:chOff x="5368889" y="6794500"/>
            <a:chExt cx="1837055" cy="381000"/>
          </a:xfrm>
        </p:grpSpPr>
        <p:sp>
          <p:nvSpPr>
            <p:cNvPr id="102" name="object 102"/>
            <p:cNvSpPr/>
            <p:nvPr/>
          </p:nvSpPr>
          <p:spPr>
            <a:xfrm>
              <a:off x="5379049" y="6985000"/>
              <a:ext cx="455295" cy="0"/>
            </a:xfrm>
            <a:custGeom>
              <a:avLst/>
              <a:gdLst/>
              <a:ahLst/>
              <a:cxnLst/>
              <a:rect l="l" t="t" r="r" b="b"/>
              <a:pathLst>
                <a:path w="455295">
                  <a:moveTo>
                    <a:pt x="0" y="0"/>
                  </a:moveTo>
                  <a:lnTo>
                    <a:pt x="45490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739748" y="6946940"/>
              <a:ext cx="94615" cy="76200"/>
            </a:xfrm>
            <a:custGeom>
              <a:avLst/>
              <a:gdLst/>
              <a:ahLst/>
              <a:cxnLst/>
              <a:rect l="l" t="t" r="r" b="b"/>
              <a:pathLst>
                <a:path w="94614" h="76200">
                  <a:moveTo>
                    <a:pt x="0" y="0"/>
                  </a:moveTo>
                  <a:lnTo>
                    <a:pt x="0" y="76119"/>
                  </a:lnTo>
                  <a:lnTo>
                    <a:pt x="94200" y="38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833949" y="6794500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04799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0999"/>
                  </a:lnTo>
                  <a:lnTo>
                    <a:pt x="1295399" y="380999"/>
                  </a:lnTo>
                  <a:lnTo>
                    <a:pt x="1325077" y="375017"/>
                  </a:lnTo>
                  <a:lnTo>
                    <a:pt x="1349296" y="358696"/>
                  </a:lnTo>
                  <a:lnTo>
                    <a:pt x="1365617" y="334477"/>
                  </a:lnTo>
                  <a:lnTo>
                    <a:pt x="1371599" y="304799"/>
                  </a:lnTo>
                  <a:lnTo>
                    <a:pt x="1371599" y="76199"/>
                  </a:lnTo>
                  <a:lnTo>
                    <a:pt x="1365617" y="46522"/>
                  </a:lnTo>
                  <a:lnTo>
                    <a:pt x="1349296" y="22303"/>
                  </a:lnTo>
                  <a:lnTo>
                    <a:pt x="1325077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069508" y="6807200"/>
            <a:ext cx="90106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27940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sz="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Invoice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Send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Retailer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5833949" y="7165339"/>
            <a:ext cx="1371600" cy="645160"/>
            <a:chOff x="5833949" y="7165339"/>
            <a:chExt cx="1371600" cy="645160"/>
          </a:xfrm>
        </p:grpSpPr>
        <p:sp>
          <p:nvSpPr>
            <p:cNvPr id="107" name="object 107"/>
            <p:cNvSpPr/>
            <p:nvPr/>
          </p:nvSpPr>
          <p:spPr>
            <a:xfrm>
              <a:off x="6519749" y="7175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481689" y="7335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5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833949" y="7429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04799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0999"/>
                  </a:lnTo>
                  <a:lnTo>
                    <a:pt x="1295399" y="380999"/>
                  </a:lnTo>
                  <a:lnTo>
                    <a:pt x="1325077" y="375017"/>
                  </a:lnTo>
                  <a:lnTo>
                    <a:pt x="1349296" y="358696"/>
                  </a:lnTo>
                  <a:lnTo>
                    <a:pt x="1365617" y="334477"/>
                  </a:lnTo>
                  <a:lnTo>
                    <a:pt x="1371599" y="304799"/>
                  </a:lnTo>
                  <a:lnTo>
                    <a:pt x="1371599" y="76199"/>
                  </a:lnTo>
                  <a:lnTo>
                    <a:pt x="1365617" y="46522"/>
                  </a:lnTo>
                  <a:lnTo>
                    <a:pt x="1349296" y="22303"/>
                  </a:lnTo>
                  <a:lnTo>
                    <a:pt x="1325077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6106186" y="7442200"/>
            <a:ext cx="827405" cy="2743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2555" marR="5080" indent="-110489">
              <a:lnSpc>
                <a:spcPct val="104200"/>
              </a:lnSpc>
              <a:spcBef>
                <a:spcPts val="60"/>
              </a:spcBef>
            </a:pP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Record</a:t>
            </a:r>
            <a:r>
              <a:rPr sz="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Payment </a:t>
            </a:r>
            <a:r>
              <a:rPr sz="800" b="1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Reconcile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354450" y="7165339"/>
            <a:ext cx="1371600" cy="645160"/>
            <a:chOff x="354450" y="7165339"/>
            <a:chExt cx="1371600" cy="645160"/>
          </a:xfrm>
        </p:grpSpPr>
        <p:sp>
          <p:nvSpPr>
            <p:cNvPr id="112" name="object 112"/>
            <p:cNvSpPr/>
            <p:nvPr/>
          </p:nvSpPr>
          <p:spPr>
            <a:xfrm>
              <a:off x="1040250" y="7175499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02190" y="7335298"/>
              <a:ext cx="76200" cy="94615"/>
            </a:xfrm>
            <a:custGeom>
              <a:avLst/>
              <a:gdLst/>
              <a:ahLst/>
              <a:cxnLst/>
              <a:rect l="l" t="t" r="r" b="b"/>
              <a:pathLst>
                <a:path w="76200" h="94615">
                  <a:moveTo>
                    <a:pt x="76119" y="0"/>
                  </a:moveTo>
                  <a:lnTo>
                    <a:pt x="0" y="0"/>
                  </a:lnTo>
                  <a:lnTo>
                    <a:pt x="38059" y="94200"/>
                  </a:lnTo>
                  <a:lnTo>
                    <a:pt x="7611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54450" y="7429499"/>
              <a:ext cx="1371600" cy="381000"/>
            </a:xfrm>
            <a:custGeom>
              <a:avLst/>
              <a:gdLst/>
              <a:ahLst/>
              <a:cxnLst/>
              <a:rect l="l" t="t" r="r" b="b"/>
              <a:pathLst>
                <a:path w="1371600" h="381000">
                  <a:moveTo>
                    <a:pt x="1295399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04799"/>
                  </a:lnTo>
                  <a:lnTo>
                    <a:pt x="5982" y="334477"/>
                  </a:lnTo>
                  <a:lnTo>
                    <a:pt x="22303" y="358696"/>
                  </a:lnTo>
                  <a:lnTo>
                    <a:pt x="46522" y="375017"/>
                  </a:lnTo>
                  <a:lnTo>
                    <a:pt x="76200" y="380999"/>
                  </a:lnTo>
                  <a:lnTo>
                    <a:pt x="1295399" y="380999"/>
                  </a:lnTo>
                  <a:lnTo>
                    <a:pt x="1325076" y="375017"/>
                  </a:lnTo>
                  <a:lnTo>
                    <a:pt x="1349295" y="358696"/>
                  </a:lnTo>
                  <a:lnTo>
                    <a:pt x="1365616" y="334477"/>
                  </a:lnTo>
                  <a:lnTo>
                    <a:pt x="1371599" y="304799"/>
                  </a:lnTo>
                  <a:lnTo>
                    <a:pt x="1371599" y="76199"/>
                  </a:lnTo>
                  <a:lnTo>
                    <a:pt x="1365616" y="46522"/>
                  </a:lnTo>
                  <a:lnTo>
                    <a:pt x="1349295" y="22303"/>
                  </a:lnTo>
                  <a:lnTo>
                    <a:pt x="1325076" y="5982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730525" y="7499350"/>
            <a:ext cx="61976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FFFFFF"/>
                </a:solidFill>
                <a:latin typeface="Arial"/>
                <a:cs typeface="Arial"/>
              </a:rPr>
              <a:t>Pay</a:t>
            </a:r>
            <a:r>
              <a:rPr sz="8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Invoice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1726049" y="1015999"/>
            <a:ext cx="4922520" cy="9447530"/>
            <a:chOff x="1726049" y="1015999"/>
            <a:chExt cx="4922520" cy="9447530"/>
          </a:xfrm>
        </p:grpSpPr>
        <p:sp>
          <p:nvSpPr>
            <p:cNvPr id="117" name="object 117"/>
            <p:cNvSpPr/>
            <p:nvPr/>
          </p:nvSpPr>
          <p:spPr>
            <a:xfrm>
              <a:off x="1726049" y="7619999"/>
              <a:ext cx="4108450" cy="0"/>
            </a:xfrm>
            <a:custGeom>
              <a:avLst/>
              <a:gdLst/>
              <a:ahLst/>
              <a:cxnLst/>
              <a:rect l="l" t="t" r="r" b="b"/>
              <a:pathLst>
                <a:path w="4108450">
                  <a:moveTo>
                    <a:pt x="0" y="0"/>
                  </a:moveTo>
                  <a:lnTo>
                    <a:pt x="4107900" y="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739748" y="7581939"/>
              <a:ext cx="94615" cy="76200"/>
            </a:xfrm>
            <a:custGeom>
              <a:avLst/>
              <a:gdLst/>
              <a:ahLst/>
              <a:cxnLst/>
              <a:rect l="l" t="t" r="r" b="b"/>
              <a:pathLst>
                <a:path w="94614" h="76200">
                  <a:moveTo>
                    <a:pt x="0" y="0"/>
                  </a:moveTo>
                  <a:lnTo>
                    <a:pt x="0" y="76119"/>
                  </a:lnTo>
                  <a:lnTo>
                    <a:pt x="94200" y="38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3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519749" y="7810499"/>
              <a:ext cx="0" cy="330200"/>
            </a:xfrm>
            <a:custGeom>
              <a:avLst/>
              <a:gdLst/>
              <a:ahLst/>
              <a:cxnLst/>
              <a:rect l="l" t="t" r="r" b="b"/>
              <a:pathLst>
                <a:path h="330200">
                  <a:moveTo>
                    <a:pt x="0" y="0"/>
                  </a:moveTo>
                  <a:lnTo>
                    <a:pt x="0" y="330200"/>
                  </a:lnTo>
                </a:path>
              </a:pathLst>
            </a:custGeom>
            <a:ln w="20320">
              <a:solidFill>
                <a:srgbClr val="1A3A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5449" y="8046498"/>
              <a:ext cx="228599" cy="32280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6405449" y="814069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599" y="114300"/>
                  </a:move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299" y="0"/>
                  </a:ln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299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599" y="114300"/>
                  </a:lnTo>
                </a:path>
              </a:pathLst>
            </a:custGeom>
            <a:ln w="279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899" y="8185149"/>
              <a:ext cx="139699" cy="139700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1953499" y="1015999"/>
              <a:ext cx="3653154" cy="9447530"/>
            </a:xfrm>
            <a:custGeom>
              <a:avLst/>
              <a:gdLst/>
              <a:ahLst/>
              <a:cxnLst/>
              <a:rect l="l" t="t" r="r" b="b"/>
              <a:pathLst>
                <a:path w="3653154" h="9447530">
                  <a:moveTo>
                    <a:pt x="0" y="9447400"/>
                  </a:moveTo>
                  <a:lnTo>
                    <a:pt x="0" y="0"/>
                  </a:lnTo>
                </a:path>
                <a:path w="3653154" h="9447530">
                  <a:moveTo>
                    <a:pt x="1826500" y="9447400"/>
                  </a:moveTo>
                  <a:lnTo>
                    <a:pt x="1826500" y="0"/>
                  </a:lnTo>
                </a:path>
                <a:path w="3653154" h="9447530">
                  <a:moveTo>
                    <a:pt x="3653000" y="9447400"/>
                  </a:moveTo>
                  <a:lnTo>
                    <a:pt x="3653000" y="0"/>
                  </a:lnTo>
                </a:path>
              </a:pathLst>
            </a:custGeom>
            <a:ln w="10160">
              <a:solidFill>
                <a:srgbClr val="99999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104</Words>
  <Application>Microsoft Macintosh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MT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 – Activity Diagram</dc:title>
  <dc:subject>unspecified</dc:subject>
  <dc:creator>anonymous</dc:creator>
  <cp:lastModifiedBy>Meet Mangukiya</cp:lastModifiedBy>
  <cp:revision>1</cp:revision>
  <dcterms:created xsi:type="dcterms:W3CDTF">2026-03-22T01:57:07Z</dcterms:created>
  <dcterms:modified xsi:type="dcterms:W3CDTF">2026-03-22T01:58:51Z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2026-03-22T00:00:00Z</vt:filetime>
  </property>
  <property fmtid="{D5CDD505-2E9C-101B-9397-08002B2CF9AE}" pid="5" name="Producer">
    <vt:lpwstr>ReportLab PDF Library - (opensource)</vt:lpwstr>
  </property>
</Properties>
</file>