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5125700" cy="10693400"/>
  <p:notesSz cx="10693400" cy="151257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/>
    <p:restoredTop sz="94610"/>
  </p:normalViewPr>
  <p:slideViewPr>
    <p:cSldViewPr snapToGrid="0" snapToObjects="1">
      <p:cViewPr>
        <p:scale>
          <a:sx n="101" d="100"/>
          <a:sy n="101" d="100"/>
        </p:scale>
        <p:origin x="-40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14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6005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7005" y="127102"/>
            <a:ext cx="457200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— Sequence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005" y="10508285"/>
            <a:ext cx="3657600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– B2B Wholesale Ordering Platform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723522" y="10508285"/>
            <a:ext cx="3130906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objects verified against Class Diagram | Conforms to UML 2.x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228600" y="482803"/>
            <a:ext cx="2667305" cy="974384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62610"/>
            <a:ext cx="2667305" cy="9464040"/>
          </a:xfrm>
          <a:prstGeom prst="rect">
            <a:avLst/>
          </a:prstGeom>
          <a:solidFill>
            <a:srgbClr val="FFF7E1"/>
          </a:solidFill>
          <a:ln w="6350">
            <a:solidFill>
              <a:srgbClr val="DDC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" y="822960"/>
            <a:ext cx="2560320" cy="9235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D3A5E"/>
                </a:solidFill>
              </a:rPr>
              <a:t>Story:	04.01
Title:	Create Shipments</a:t>
            </a:r>
            <a:r>
              <a:rPr lang="en-US" sz="700" dirty="0">
                <a:solidFill>
                  <a:srgbClr val="1D3A5E"/>
                </a:solidFill>
              </a:rPr>
              <a:t>
</a:t>
            </a:r>
            <a:r>
              <a:rPr lang="en-US" sz="700" b="1" dirty="0">
                <a:solidFill>
                  <a:srgbClr val="1D3A5E"/>
                </a:solidFill>
              </a:rPr>
              <a:t>Goal:
</a:t>
            </a:r>
            <a:r>
              <a:rPr lang="en-US" sz="700" dirty="0">
                <a:solidFill>
                  <a:srgbClr val="1D3A5E"/>
                </a:solidFill>
              </a:rPr>
              <a:t>Once an order is approved, the Warehouse Manager selects a carrier, creates a Shipment record, assigns the carrier, and dispatches the shipment.
</a:t>
            </a:r>
            <a:r>
              <a:rPr lang="en-US" sz="700" b="1" dirty="0">
                <a:solidFill>
                  <a:srgbClr val="1D3A5E"/>
                </a:solidFill>
              </a:rPr>
              <a:t>Key Steps:
</a:t>
            </a:r>
            <a:r>
              <a:rPr lang="en-US" sz="700" dirty="0">
                <a:solidFill>
                  <a:srgbClr val="1D3A5E"/>
                </a:solidFill>
              </a:rPr>
              <a:t>1. Manager fetches available carrier rates.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2. Manager creates a new Shipment linked to the approved order.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3. System persists Shipment with status PENDING.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4. Manager assigns carrier and tracking number.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5. System updates status to DISPATCHED via ShipmentStatus_Ref.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6. Manager retrieves confirmed carrier &amp; ETA.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23494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3494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:Carrier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1238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1238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:Shipment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172700" y="990295"/>
            <a:ext cx="1600200" cy="330098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7270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«ref»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:ShipmentStatus_Ref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58184" y="1005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0" y="1170432"/>
            <a:ext cx="9144" cy="20116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30752" y="1243584"/>
            <a:ext cx="219456" cy="9144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>
            <a:off x="3694174" y="1335025"/>
            <a:ext cx="146305" cy="164592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0" y="1329538"/>
            <a:ext cx="91440" cy="17007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34640" y="17007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Verify Carrier Available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58184" y="210312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52744" y="210312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22776" y="2176272"/>
            <a:ext cx="202996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95928" y="20208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getRates(shipmentData)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flipH="1">
            <a:off x="3922776" y="2487168"/>
            <a:ext cx="202996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46904" y="23317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List&lt;CarrierRate&gt;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137306" y="268833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Create Shipment Record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758184" y="283464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22776" y="2907792"/>
            <a:ext cx="44074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ys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95928" y="275234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&lt;&lt;create&gt;&gt; createShipment(orderId, carrierId)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330184" y="2926080"/>
            <a:ext cx="162763" cy="68580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H="1">
            <a:off x="3922776" y="3310128"/>
            <a:ext cx="44074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24344" y="315468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:Shipment (status=PENDING)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59252" y="354055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Assign Carrier &amp; Tracking Number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58184" y="374904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30184" y="374904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22776" y="3822192"/>
            <a:ext cx="44074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95928" y="366674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assignCarrier(carrierId, trackingNo)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 flipH="1">
            <a:off x="3922776" y="4133088"/>
            <a:ext cx="44074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24344" y="397764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carrier assigned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159252" y="4270248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Update Status via Reference Table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758184" y="448056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330184" y="4480560"/>
            <a:ext cx="162763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922776" y="4553712"/>
            <a:ext cx="44074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995928" y="439826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updateStatus(DISPATCHED)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890504" y="4718304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94776" y="4809744"/>
            <a:ext cx="239572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567928" y="4654296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getActiveStatuses()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 flipH="1">
            <a:off x="8494776" y="5102352"/>
            <a:ext cx="239572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884664" y="4946904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List&lt;ShipmentStatus&gt;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330184" y="5230368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 flipH="1">
            <a:off x="3922776" y="5321808"/>
            <a:ext cx="44074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324344" y="516636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status = DISPATCHED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159252" y="544616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Retrieve Confirmed Tracking Info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758184" y="566928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330184" y="566928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922776" y="5742432"/>
            <a:ext cx="44074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995928" y="558698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getTrackingStatus()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 flipH="1">
            <a:off x="3922776" y="6053328"/>
            <a:ext cx="44074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324344" y="589788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trackingNumber, carrier, estimatedDelivery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6005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7005" y="127102"/>
            <a:ext cx="457200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— Sequence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005" y="10508285"/>
            <a:ext cx="3657600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– B2B Wholesale Ordering Platform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723522" y="10508285"/>
            <a:ext cx="3130906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objects verified against Class Diagram | Conforms to UML 2.x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228600" y="482803"/>
            <a:ext cx="2667305" cy="974384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62610"/>
            <a:ext cx="2667305" cy="9464040"/>
          </a:xfrm>
          <a:prstGeom prst="rect">
            <a:avLst/>
          </a:prstGeom>
          <a:solidFill>
            <a:srgbClr val="FFF7E1"/>
          </a:solidFill>
          <a:ln w="6350">
            <a:solidFill>
              <a:srgbClr val="DDC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" y="822960"/>
            <a:ext cx="2560320" cy="9235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D3A5E"/>
                </a:solidFill>
              </a:rPr>
              <a:t>Story:	04.03
Title:	Provide Delivery Tracking
</a:t>
            </a:r>
            <a:r>
              <a:rPr lang="en-US" sz="700" dirty="0">
                <a:solidFill>
                  <a:srgbClr val="1D3A5E"/>
                </a:solidFill>
              </a:rPr>
              <a:t>Actor:	Retailer (Customer)
</a:t>
            </a:r>
            <a:r>
              <a:rPr lang="en-US" sz="700" b="1" dirty="0">
                <a:solidFill>
                  <a:srgbClr val="1D3A5E"/>
                </a:solidFill>
              </a:rPr>
              <a:t>Goal:
</a:t>
            </a:r>
            <a:r>
              <a:rPr lang="en-US" sz="700" dirty="0">
                <a:solidFill>
                  <a:srgbClr val="1D3A5E"/>
                </a:solidFill>
              </a:rPr>
              <a:t>Retailer views real-time tracking status of a shipment. System polls the external Carrier API, refreshes the Shipment record, and returns a timeline of delivery events.
</a:t>
            </a:r>
            <a:r>
              <a:rPr lang="en-US" sz="700" b="1" dirty="0">
                <a:solidFill>
                  <a:srgbClr val="1D3A5E"/>
                </a:solidFill>
              </a:rPr>
              <a:t>Key Steps:
</a:t>
            </a:r>
            <a:r>
              <a:rPr lang="en-US" sz="700" dirty="0">
                <a:solidFill>
                  <a:srgbClr val="1D3A5E"/>
                </a:solidFill>
              </a:rPr>
              <a:t>1. Retailer requests tracking status for an order.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2. System calls getTrackingStatus() on the Shipment.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3. Shipment calls Carrier API to poll latest status.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4. Carrier returns updated TrackingInfo.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5. Shipment refreshes its status and timeline.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6. System returns timeline of delivery events to Retailer.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7. Retailer views delivery timeline and ETA.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78358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8358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:Shipment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25830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5830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:Carrier (SI)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34640" y="17007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Request Tracking Status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58184" y="210312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01384" y="210312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922776" y="2176272"/>
            <a:ext cx="25786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95928" y="20208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getTrackingStatus(orderId)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 flipH="1">
            <a:off x="3922776" y="2487168"/>
            <a:ext cx="25786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95544" y="23317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current TrackingInfo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37306" y="268833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Poll Carrier API for Latest Status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501384" y="283464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65976" y="2834640"/>
            <a:ext cx="457200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50608" y="286207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refreshTracking()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01384" y="320040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976104" y="320040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65976" y="3273552"/>
            <a:ext cx="331012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39128" y="311810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getTrackingInfo(trackingNumber)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 flipH="1">
            <a:off x="6665976" y="3584448"/>
            <a:ext cx="331012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70264" y="342900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TrackingInfo {status, eta, location}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37306" y="378561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Update Shipment &amp; Return Timeline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501384" y="3931920"/>
            <a:ext cx="162763" cy="36576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665976" y="4005072"/>
            <a:ext cx="0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39128" y="38496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notifyStatusChange()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H="1">
            <a:off x="3922776" y="4352544"/>
            <a:ext cx="25786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95544" y="419709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updatedTrackingInfo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161081" y="4544568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Retrieve Delivery Timeline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758184" y="475488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501384" y="475488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922776" y="4828032"/>
            <a:ext cx="25786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995928" y="467258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getDeliveryTimeline(orderId)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 flipH="1">
            <a:off x="3922776" y="5138928"/>
            <a:ext cx="25786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95544" y="498348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List&lt;TimelineEvent&gt;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161081" y="5238597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View Carrier Assignment &amp; ETA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758184" y="548640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501384" y="548640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922776" y="5559552"/>
            <a:ext cx="257860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995928" y="540410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getCarrierInfo()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 flipH="1">
            <a:off x="3922776" y="5870448"/>
            <a:ext cx="257860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495544" y="571500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carrier, estimatedDelivery</a:t>
            </a:r>
            <a:endParaRPr lang="en-US" sz="700" dirty="0"/>
          </a:p>
        </p:txBody>
      </p:sp>
      <p:sp>
        <p:nvSpPr>
          <p:cNvPr id="84" name="Shape 19">
            <a:extLst>
              <a:ext uri="{FF2B5EF4-FFF2-40B4-BE49-F238E27FC236}">
                <a16:creationId xmlns:a16="http://schemas.microsoft.com/office/drawing/2014/main" id="{A6D438EC-FE8E-6CA5-9014-F24943564131}"/>
              </a:ext>
            </a:extLst>
          </p:cNvPr>
          <p:cNvSpPr/>
          <p:nvPr/>
        </p:nvSpPr>
        <p:spPr>
          <a:xfrm>
            <a:off x="3758184" y="1005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20">
            <a:extLst>
              <a:ext uri="{FF2B5EF4-FFF2-40B4-BE49-F238E27FC236}">
                <a16:creationId xmlns:a16="http://schemas.microsoft.com/office/drawing/2014/main" id="{63A48F8F-433F-04E5-E83F-631A5195C5F1}"/>
              </a:ext>
            </a:extLst>
          </p:cNvPr>
          <p:cNvSpPr/>
          <p:nvPr/>
        </p:nvSpPr>
        <p:spPr>
          <a:xfrm>
            <a:off x="3840480" y="1170432"/>
            <a:ext cx="9144" cy="20116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21">
            <a:extLst>
              <a:ext uri="{FF2B5EF4-FFF2-40B4-BE49-F238E27FC236}">
                <a16:creationId xmlns:a16="http://schemas.microsoft.com/office/drawing/2014/main" id="{8679531D-467D-6D7C-7312-96A3D8E746DF}"/>
              </a:ext>
            </a:extLst>
          </p:cNvPr>
          <p:cNvSpPr/>
          <p:nvPr/>
        </p:nvSpPr>
        <p:spPr>
          <a:xfrm>
            <a:off x="3730752" y="1243584"/>
            <a:ext cx="219456" cy="9144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22">
            <a:extLst>
              <a:ext uri="{FF2B5EF4-FFF2-40B4-BE49-F238E27FC236}">
                <a16:creationId xmlns:a16="http://schemas.microsoft.com/office/drawing/2014/main" id="{8FE55651-06D2-57E0-5E94-D3F4A96B5613}"/>
              </a:ext>
            </a:extLst>
          </p:cNvPr>
          <p:cNvSpPr/>
          <p:nvPr/>
        </p:nvSpPr>
        <p:spPr>
          <a:xfrm flipH="1">
            <a:off x="3694174" y="1335025"/>
            <a:ext cx="146305" cy="164592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23">
            <a:extLst>
              <a:ext uri="{FF2B5EF4-FFF2-40B4-BE49-F238E27FC236}">
                <a16:creationId xmlns:a16="http://schemas.microsoft.com/office/drawing/2014/main" id="{4804D964-9BC3-7040-7847-02B37C26DDA2}"/>
              </a:ext>
            </a:extLst>
          </p:cNvPr>
          <p:cNvSpPr/>
          <p:nvPr/>
        </p:nvSpPr>
        <p:spPr>
          <a:xfrm>
            <a:off x="3840480" y="1329538"/>
            <a:ext cx="91440" cy="17007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6005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7005" y="127102"/>
            <a:ext cx="457200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— Sequence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005" y="10508285"/>
            <a:ext cx="3657600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– B2B Wholesale Ordering Platform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723522" y="10508285"/>
            <a:ext cx="3130906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objects verified against Class Diagram | Conforms to UML 2.x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228600" y="482803"/>
            <a:ext cx="2667305" cy="974384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62610"/>
            <a:ext cx="2667305" cy="9464040"/>
          </a:xfrm>
          <a:prstGeom prst="rect">
            <a:avLst/>
          </a:prstGeom>
          <a:solidFill>
            <a:srgbClr val="FFF7E1"/>
          </a:solidFill>
          <a:ln w="6350">
            <a:solidFill>
              <a:srgbClr val="DDC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" y="822960"/>
            <a:ext cx="2560320" cy="9235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D3A5E"/>
                </a:solidFill>
              </a:rPr>
              <a:t>Story:	04.05
Title:	Delivery Exception Handling &amp;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D3A5E"/>
                </a:solidFill>
              </a:rPr>
              <a:t>	Re-Shipment
</a:t>
            </a:r>
            <a:r>
              <a:rPr lang="en-US" sz="700" dirty="0">
                <a:solidFill>
                  <a:srgbClr val="1D3A5E"/>
                </a:solidFill>
              </a:rPr>
              <a:t>Actor:	Warehouse Staff
</a:t>
            </a:r>
            <a:r>
              <a:rPr lang="en-US" sz="700" b="1" dirty="0">
                <a:solidFill>
                  <a:srgbClr val="1D3A5E"/>
                </a:solidFill>
              </a:rPr>
              <a:t>Goal:
</a:t>
            </a:r>
            <a:r>
              <a:rPr lang="en-US" sz="700" dirty="0">
                <a:solidFill>
                  <a:srgbClr val="1D3A5E"/>
                </a:solidFill>
              </a:rPr>
              <a:t>Warehouse Staff logs a delivery exception against a shipment. System validates the exception type, records it, triggers a re-shipment if required, and notifies the Retailer.
</a:t>
            </a:r>
            <a:r>
              <a:rPr lang="en-US" sz="700" b="1" dirty="0">
                <a:solidFill>
                  <a:srgbClr val="1D3A5E"/>
                </a:solidFill>
              </a:rPr>
              <a:t>Key Steps:
</a:t>
            </a:r>
            <a:r>
              <a:rPr lang="en-US" sz="700" dirty="0">
                <a:solidFill>
                  <a:srgbClr val="1D3A5E"/>
                </a:solidFill>
              </a:rPr>
              <a:t>1. Staff flags the Shipment with an exception.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2. System creates a DeliveryException record.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3. Exception type resolved from ExceptionType_Ref.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4. If requiresReShip is true, a new Shipment is created.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5. DeliveryException linked to re-shipment.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6. Notification sent to Retailer with EXCEPTION_UPDATE.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7. Staff receives confirmation of exception logged.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1782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1782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:Shipment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526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526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:DeliveryException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172700" y="990295"/>
            <a:ext cx="1600200" cy="330098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7270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«ref»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:ExceptionType_Ref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45870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45870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:Notification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9536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25880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17007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Flag Shipment Exception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58184" y="210312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35624" y="210312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22776" y="2176272"/>
            <a:ext cx="2212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95928" y="20208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flagException()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flipH="1">
            <a:off x="3922776" y="2487168"/>
            <a:ext cx="2212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29784" y="23317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:Shipment (flagged)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24505" y="2611120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Create &amp; Classify Exception Record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758184" y="283464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22776" y="2907792"/>
            <a:ext cx="459028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ys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95928" y="275234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&lt;&lt;create&gt;&gt; log(shipmentId, type, description)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13064" y="2926080"/>
            <a:ext cx="162763" cy="68580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890504" y="3163824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677656" y="3236976"/>
            <a:ext cx="2212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50808" y="308152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getActiveTypes()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H="1">
            <a:off x="8677656" y="3529584"/>
            <a:ext cx="2212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884664" y="337413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List&lt;ExceptionType&gt;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 flipH="1">
            <a:off x="3922776" y="3749040"/>
            <a:ext cx="459028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07224" y="3593592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:DeliveryException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137306" y="3867912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Trigger Re-Shipment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758184" y="411480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13064" y="4114800"/>
            <a:ext cx="162763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922776" y="4187952"/>
            <a:ext cx="459028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995928" y="403250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resolve(newShipmentId)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35624" y="4352544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H="1">
            <a:off x="6300216" y="4425696"/>
            <a:ext cx="2212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690104" y="427024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triggerReShipment()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300216" y="4736592"/>
            <a:ext cx="2212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373368" y="4581144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:Shipment (new, status=PENDING)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 flipH="1">
            <a:off x="3922776" y="4937760"/>
            <a:ext cx="459028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07224" y="4782312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exception resolved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137306" y="515721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Notify Retailer of Exception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513064" y="530352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677656" y="5376672"/>
            <a:ext cx="4498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ys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750808" y="522122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&lt;&lt;create&gt;&gt; send(EXCEPTION_UPDATE)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3176504" y="539496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 flipH="1">
            <a:off x="8677656" y="5705856"/>
            <a:ext cx="4498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2170664" y="555040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notification sent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 flipH="1">
            <a:off x="3922776" y="5943600"/>
            <a:ext cx="459028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507224" y="5788152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confirmation</a:t>
            </a:r>
            <a:endParaRPr lang="en-US" sz="700" dirty="0"/>
          </a:p>
        </p:txBody>
      </p:sp>
      <p:sp>
        <p:nvSpPr>
          <p:cNvPr id="92" name="Shape 19">
            <a:extLst>
              <a:ext uri="{FF2B5EF4-FFF2-40B4-BE49-F238E27FC236}">
                <a16:creationId xmlns:a16="http://schemas.microsoft.com/office/drawing/2014/main" id="{271FAA72-0C1C-71B8-5B4A-A111C4DF6728}"/>
              </a:ext>
            </a:extLst>
          </p:cNvPr>
          <p:cNvSpPr/>
          <p:nvPr/>
        </p:nvSpPr>
        <p:spPr>
          <a:xfrm>
            <a:off x="3758184" y="1005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20">
            <a:extLst>
              <a:ext uri="{FF2B5EF4-FFF2-40B4-BE49-F238E27FC236}">
                <a16:creationId xmlns:a16="http://schemas.microsoft.com/office/drawing/2014/main" id="{3380D612-501E-4AB9-5543-BB16CFF64802}"/>
              </a:ext>
            </a:extLst>
          </p:cNvPr>
          <p:cNvSpPr/>
          <p:nvPr/>
        </p:nvSpPr>
        <p:spPr>
          <a:xfrm>
            <a:off x="3840480" y="1170432"/>
            <a:ext cx="9144" cy="20116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21">
            <a:extLst>
              <a:ext uri="{FF2B5EF4-FFF2-40B4-BE49-F238E27FC236}">
                <a16:creationId xmlns:a16="http://schemas.microsoft.com/office/drawing/2014/main" id="{58315120-C968-31E6-6950-0A89C70305D3}"/>
              </a:ext>
            </a:extLst>
          </p:cNvPr>
          <p:cNvSpPr/>
          <p:nvPr/>
        </p:nvSpPr>
        <p:spPr>
          <a:xfrm>
            <a:off x="3730752" y="1243584"/>
            <a:ext cx="219456" cy="9144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22">
            <a:extLst>
              <a:ext uri="{FF2B5EF4-FFF2-40B4-BE49-F238E27FC236}">
                <a16:creationId xmlns:a16="http://schemas.microsoft.com/office/drawing/2014/main" id="{1516CE34-C606-56A0-3ED2-482B9B37FD5F}"/>
              </a:ext>
            </a:extLst>
          </p:cNvPr>
          <p:cNvSpPr/>
          <p:nvPr/>
        </p:nvSpPr>
        <p:spPr>
          <a:xfrm flipH="1">
            <a:off x="3694174" y="1335025"/>
            <a:ext cx="146305" cy="164592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23">
            <a:extLst>
              <a:ext uri="{FF2B5EF4-FFF2-40B4-BE49-F238E27FC236}">
                <a16:creationId xmlns:a16="http://schemas.microsoft.com/office/drawing/2014/main" id="{FB1529F7-B99F-3625-69CD-07E3369CDC3A}"/>
              </a:ext>
            </a:extLst>
          </p:cNvPr>
          <p:cNvSpPr/>
          <p:nvPr/>
        </p:nvSpPr>
        <p:spPr>
          <a:xfrm>
            <a:off x="3840480" y="1329538"/>
            <a:ext cx="91440" cy="17007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6005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7005" y="127102"/>
            <a:ext cx="4572000" cy="208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— Sequence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7005" y="10508285"/>
            <a:ext cx="3657600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– B2B Wholesale Ordering Platform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723522" y="10508285"/>
            <a:ext cx="3130906" cy="12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objects verified against Class Diagram | Conforms to UML 2.x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228600" y="482803"/>
            <a:ext cx="2667305" cy="9743846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482803"/>
            <a:ext cx="2667305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Outline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62610"/>
            <a:ext cx="2667305" cy="9464040"/>
          </a:xfrm>
          <a:prstGeom prst="rect">
            <a:avLst/>
          </a:prstGeom>
          <a:solidFill>
            <a:srgbClr val="FFF7E1"/>
          </a:solidFill>
          <a:ln w="6350">
            <a:solidFill>
              <a:srgbClr val="DDC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" y="822960"/>
            <a:ext cx="2560320" cy="9235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D3A5E"/>
                </a:solidFill>
              </a:rPr>
              <a:t>Story:	05.01
Title:	Generate Invoices
</a:t>
            </a:r>
            <a:r>
              <a:rPr lang="en-US" sz="700" dirty="0">
                <a:solidFill>
                  <a:srgbClr val="1D3A5E"/>
                </a:solidFill>
              </a:rPr>
              <a:t>Actor:	Retailer (Customer)
</a:t>
            </a:r>
            <a:r>
              <a:rPr lang="en-US" sz="700" b="1" dirty="0">
                <a:solidFill>
                  <a:srgbClr val="1D3A5E"/>
                </a:solidFill>
              </a:rPr>
              <a:t>Goal:
</a:t>
            </a:r>
            <a:r>
              <a:rPr lang="en-US" sz="700" dirty="0">
                <a:solidFill>
                  <a:srgbClr val="1D3A5E"/>
                </a:solidFill>
              </a:rPr>
              <a:t>Retailer triggers invoice generation after order shipment. System creates an Invoice from the order, calculates tax, issues the invoice, updates status via InvoiceStatus_Ref, and notifies the Retailer.
</a:t>
            </a:r>
            <a:r>
              <a:rPr lang="en-US" sz="700" b="1" dirty="0">
                <a:solidFill>
                  <a:srgbClr val="1D3A5E"/>
                </a:solidFill>
              </a:rPr>
              <a:t>Key Steps:
</a:t>
            </a:r>
            <a:r>
              <a:rPr lang="en-US" sz="700" dirty="0">
                <a:solidFill>
                  <a:srgbClr val="1D3A5E"/>
                </a:solidFill>
              </a:rPr>
              <a:t>1. Retailer views approved order total.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2. System creates an Invoice from the PurchaseOrder.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3. Invoice calculates subtotal, tax, and total.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4. System issues the Invoice and sets status=ISSUED.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5. Status validated via InvoiceStatus_Ref.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6. Invoice sent to Retailer via Notification.</a:t>
            </a:r>
            <a:endParaRPr lang="en-US" sz="7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700" dirty="0">
                <a:solidFill>
                  <a:srgbClr val="1D3A5E"/>
                </a:solidFill>
              </a:rPr>
              <a:t>7. Retailer views and downloads the invoice.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1782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1782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:PurchaseOrder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9526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526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:Invoice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172700" y="990295"/>
            <a:ext cx="1600200" cy="330098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7270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«ref»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:InvoiceStatus_Ref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2733020" y="990295"/>
            <a:ext cx="1600200" cy="330098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733020" y="990295"/>
            <a:ext cx="160020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«entity»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:Notification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9536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7280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533120" y="1320394"/>
            <a:ext cx="9144" cy="8555126"/>
          </a:xfrm>
          <a:prstGeom prst="line">
            <a:avLst/>
          </a:prstGeom>
          <a:noFill/>
          <a:ln w="9525">
            <a:solidFill>
              <a:srgbClr val="AAAAAA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17007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View Approved Order Total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58184" y="210312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35624" y="210312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22776" y="2176272"/>
            <a:ext cx="2212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95928" y="20208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getTotal()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flipH="1">
            <a:off x="3922776" y="2487168"/>
            <a:ext cx="2212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29784" y="23317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totalAmount (DECIMAL)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59252" y="2584094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Generate Invoice from Order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758184" y="283464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22776" y="2907792"/>
            <a:ext cx="459028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ys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95928" y="275234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&lt;&lt;create&gt;&gt; generate(orderId)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13064" y="2926080"/>
            <a:ext cx="162763" cy="68580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35624" y="3163824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H="1">
            <a:off x="6300216" y="3236976"/>
            <a:ext cx="2212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90104" y="308152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getStatus()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0216" y="3529584"/>
            <a:ext cx="2212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73368" y="3374136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status = APPROVED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 flipH="1">
            <a:off x="3922776" y="3749040"/>
            <a:ext cx="459028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07224" y="3593592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:Invoice (status=DRAFT)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159252" y="389168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Calculate Tax &amp; Totals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758184" y="411480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513064" y="411480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922776" y="4187952"/>
            <a:ext cx="459028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995928" y="403250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calculateTax()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677656" y="4187952"/>
            <a:ext cx="457200" cy="18288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162288" y="4215384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subtotal + tax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flipH="1">
            <a:off x="3922776" y="4498848"/>
            <a:ext cx="459028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507224" y="434340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taxAmount (DECIMAL)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159252" y="4659782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Issue Invoice &amp; Update Status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758184" y="484632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513064" y="4846320"/>
            <a:ext cx="162763" cy="73152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922776" y="4919472"/>
            <a:ext cx="459028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995928" y="4764024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issue()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0890504" y="5084064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677656" y="5157216"/>
            <a:ext cx="221284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750808" y="5001768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getActiveStatuses()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 flipH="1">
            <a:off x="8677656" y="5468112"/>
            <a:ext cx="221284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884664" y="5312664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ISSUED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 flipH="1">
            <a:off x="3922776" y="5669280"/>
            <a:ext cx="459028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507224" y="5513832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status = ISSUED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3137306" y="5888736"/>
            <a:ext cx="3200400" cy="131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Send Invoice Notification to Retailer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513064" y="6035040"/>
            <a:ext cx="162763" cy="146304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8677656" y="6108192"/>
            <a:ext cx="4773168" cy="9144"/>
          </a:xfrm>
          <a:prstGeom prst="line">
            <a:avLst/>
          </a:prstGeom>
          <a:noFill/>
          <a:ln w="15240">
            <a:solidFill>
              <a:srgbClr val="1D3A5E"/>
            </a:solidFill>
            <a:prstDash val="sys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750808" y="5952744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&lt;&lt;create&gt;&gt; send(INVOICE_GENERATED)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3450824" y="6126480"/>
            <a:ext cx="162763" cy="320040"/>
          </a:xfrm>
          <a:prstGeom prst="rect">
            <a:avLst/>
          </a:prstGeom>
          <a:solidFill>
            <a:srgbClr val="BDD7EE"/>
          </a:solidFill>
          <a:ln w="6350">
            <a:solidFill>
              <a:srgbClr val="7EB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 flipH="1">
            <a:off x="8677656" y="6437376"/>
            <a:ext cx="4773168" cy="9144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2444984" y="628192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8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notification sent</a:t>
            </a:r>
            <a:endParaRPr lang="en-US" sz="700" dirty="0"/>
          </a:p>
        </p:txBody>
      </p:sp>
      <p:sp>
        <p:nvSpPr>
          <p:cNvPr id="100" name="Shape 19">
            <a:extLst>
              <a:ext uri="{FF2B5EF4-FFF2-40B4-BE49-F238E27FC236}">
                <a16:creationId xmlns:a16="http://schemas.microsoft.com/office/drawing/2014/main" id="{957582CF-C8E2-A8B3-2290-2FBEB8CFCE15}"/>
              </a:ext>
            </a:extLst>
          </p:cNvPr>
          <p:cNvSpPr/>
          <p:nvPr/>
        </p:nvSpPr>
        <p:spPr>
          <a:xfrm>
            <a:off x="3758184" y="1005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20">
            <a:extLst>
              <a:ext uri="{FF2B5EF4-FFF2-40B4-BE49-F238E27FC236}">
                <a16:creationId xmlns:a16="http://schemas.microsoft.com/office/drawing/2014/main" id="{3B959BBA-1446-30D5-01E1-7A707252C7A5}"/>
              </a:ext>
            </a:extLst>
          </p:cNvPr>
          <p:cNvSpPr/>
          <p:nvPr/>
        </p:nvSpPr>
        <p:spPr>
          <a:xfrm>
            <a:off x="3840480" y="1170432"/>
            <a:ext cx="9144" cy="20116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B28346AC-AA04-E371-4118-9D3BE95B5D50}"/>
              </a:ext>
            </a:extLst>
          </p:cNvPr>
          <p:cNvSpPr/>
          <p:nvPr/>
        </p:nvSpPr>
        <p:spPr>
          <a:xfrm>
            <a:off x="3730752" y="1243584"/>
            <a:ext cx="219456" cy="9144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22">
            <a:extLst>
              <a:ext uri="{FF2B5EF4-FFF2-40B4-BE49-F238E27FC236}">
                <a16:creationId xmlns:a16="http://schemas.microsoft.com/office/drawing/2014/main" id="{9B5E975D-FE34-BAFA-BE54-307B5A982FD7}"/>
              </a:ext>
            </a:extLst>
          </p:cNvPr>
          <p:cNvSpPr/>
          <p:nvPr/>
        </p:nvSpPr>
        <p:spPr>
          <a:xfrm flipH="1">
            <a:off x="3694174" y="1335025"/>
            <a:ext cx="146305" cy="164592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23">
            <a:extLst>
              <a:ext uri="{FF2B5EF4-FFF2-40B4-BE49-F238E27FC236}">
                <a16:creationId xmlns:a16="http://schemas.microsoft.com/office/drawing/2014/main" id="{E7B9AD33-0F29-8D5F-6C2A-A6849C40DBE3}"/>
              </a:ext>
            </a:extLst>
          </p:cNvPr>
          <p:cNvSpPr/>
          <p:nvPr/>
        </p:nvSpPr>
        <p:spPr>
          <a:xfrm>
            <a:off x="3840480" y="1329538"/>
            <a:ext cx="91440" cy="170078"/>
          </a:xfrm>
          <a:prstGeom prst="line">
            <a:avLst/>
          </a:prstGeom>
          <a:noFill/>
          <a:ln w="12700">
            <a:solidFill>
              <a:srgbClr val="1A1F2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1065</Words>
  <Application>Microsoft Macintosh PowerPoint</Application>
  <PresentationFormat>Custom</PresentationFormat>
  <Paragraphs>150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Meet Mangukiya</cp:lastModifiedBy>
  <cp:revision>7</cp:revision>
  <dcterms:created xsi:type="dcterms:W3CDTF">2026-04-28T23:52:37Z</dcterms:created>
  <dcterms:modified xsi:type="dcterms:W3CDTF">2026-04-30T12:45:46Z</dcterms:modified>
</cp:coreProperties>
</file>