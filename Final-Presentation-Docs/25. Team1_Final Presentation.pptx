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46052-9BC4-4D4E-8A18-64B9DECF2F5C}" v="15" dt="2026-05-11T15:17:23.042"/>
    <p1510:client id="{3EB47245-22DD-F02C-0A3E-F210E21E822F}" v="3" dt="2026-05-11T19:18:42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EF33AF29-14D6-B204-6354-A776B650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>
            <a:extLst>
              <a:ext uri="{FF2B5EF4-FFF2-40B4-BE49-F238E27FC236}">
                <a16:creationId xmlns:a16="http://schemas.microsoft.com/office/drawing/2014/main" id="{97317956-29FF-65F3-262A-0B5A8A92DB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p:notes">
            <a:extLst>
              <a:ext uri="{FF2B5EF4-FFF2-40B4-BE49-F238E27FC236}">
                <a16:creationId xmlns:a16="http://schemas.microsoft.com/office/drawing/2014/main" id="{1B537372-3ABF-BD70-7FCC-1AF75153E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6044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e61b747f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e61b747f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e61b747f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1e61b747f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e61b747f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1e61b747f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7CA987C3-E540-F26B-5CF1-A2EE64E3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e61b747f3_0_37:notes">
            <a:extLst>
              <a:ext uri="{FF2B5EF4-FFF2-40B4-BE49-F238E27FC236}">
                <a16:creationId xmlns:a16="http://schemas.microsoft.com/office/drawing/2014/main" id="{61F4B31A-DE29-5FF5-AE1A-4885629F2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1e61b747f3_0_37:notes">
            <a:extLst>
              <a:ext uri="{FF2B5EF4-FFF2-40B4-BE49-F238E27FC236}">
                <a16:creationId xmlns:a16="http://schemas.microsoft.com/office/drawing/2014/main" id="{53BAF5B9-09C6-48F2-518A-35CC9F1CA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6026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e61b747f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1e61b747f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1e61b747f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1e61b747f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e61b747f3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e61b747f3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e70e49a4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1e70e49a4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e61b747f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1e61b747f3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e70e49a4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1e70e49a4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1e61b747f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1e61b747f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e61b747f3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1e61b747f3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 i="1">
                <a:solidFill>
                  <a:srgbClr val="FFFFFF"/>
                </a:solidFill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chemeClr val="accent5"/>
                </a:solidFill>
              </a:rPr>
              <a:t>“</a:t>
            </a:r>
            <a:endParaRPr sz="7200" b="1">
              <a:solidFill>
                <a:schemeClr val="accent5"/>
              </a:solidFill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Google Shape;104;p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Google Shape;105;p7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Google Shape;111;p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Google Shape;112;p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" name="Google Shape;113;p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2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3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431800" y="116113"/>
            <a:ext cx="8280400" cy="7360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Bulkcart – </a:t>
            </a:r>
            <a:r>
              <a:rPr lang="en" sz="3200" dirty="0">
                <a:solidFill>
                  <a:schemeClr val="accent2"/>
                </a:solidFill>
              </a:rPr>
              <a:t>B2B Food Wholesale Platform 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185" name="Google Shape;185;p11"/>
          <p:cNvSpPr txBox="1">
            <a:spLocks noGrp="1"/>
          </p:cNvSpPr>
          <p:nvPr>
            <p:ph type="ctrTitle"/>
          </p:nvPr>
        </p:nvSpPr>
        <p:spPr>
          <a:xfrm>
            <a:off x="685800" y="1083625"/>
            <a:ext cx="3259200" cy="295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TEAM 1:</a:t>
            </a:r>
            <a:endParaRPr sz="1200" dirty="0"/>
          </a:p>
          <a:p>
            <a:pPr lvl="0"/>
            <a:br>
              <a:rPr lang="en-US" sz="1200" dirty="0"/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Abubakar Tahir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Project Manager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Rohit Sai Chandrashekar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Product Owner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Mansi Bhadani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Business Analyst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Akash Verma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Lead Developer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Kiran Rathod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Arun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Garwan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Meet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Mangukiya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DBA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Asmith Mamilla –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QA Analyst 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Vivek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Vekhande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Software Tester</a:t>
            </a:r>
            <a:br>
              <a:rPr lang="en-US" sz="1200" b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Om Patil - </a:t>
            </a:r>
            <a:r>
              <a:rPr lang="en-US" sz="1200" b="0" dirty="0">
                <a:latin typeface="Arial"/>
                <a:ea typeface="Arial"/>
                <a:cs typeface="Arial"/>
                <a:sym typeface="Arial"/>
              </a:rPr>
              <a:t>Software Tester</a:t>
            </a:r>
            <a:br>
              <a:rPr lang="en-US" sz="1600" b="0" dirty="0">
                <a:latin typeface="Arial"/>
                <a:ea typeface="Arial"/>
                <a:cs typeface="Arial"/>
                <a:sym typeface="Arial"/>
              </a:rPr>
            </a:br>
            <a:endParaRPr sz="1600" dirty="0"/>
          </a:p>
        </p:txBody>
      </p:sp>
      <p:sp>
        <p:nvSpPr>
          <p:cNvPr id="186" name="Google Shape;186;p11"/>
          <p:cNvSpPr txBox="1"/>
          <p:nvPr/>
        </p:nvSpPr>
        <p:spPr>
          <a:xfrm>
            <a:off x="4694075" y="4279600"/>
            <a:ext cx="40947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CS691_CRN20976- Capstone Project</a:t>
            </a:r>
            <a:endParaRPr sz="13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814275" y="1318500"/>
            <a:ext cx="6185100" cy="3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Application Overview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BRM Diagram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Context Diagram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RoadMap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RCT (main view only)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Stories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UML Activity Diagram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Diagrams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Burndown Charts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Jenkins Progress Report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 Condensed"/>
              <a:buChar char="❖"/>
            </a:pPr>
            <a:r>
              <a:rPr lang="en" sz="1400" b="1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Live [Recorded] Application Demo</a:t>
            </a:r>
            <a:endParaRPr sz="1400" b="1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Application Overview (Arun Garwan )</a:t>
            </a:r>
            <a:endParaRPr b="0" dirty="0"/>
          </a:p>
        </p:txBody>
      </p:sp>
      <p:sp>
        <p:nvSpPr>
          <p:cNvPr id="214" name="Google Shape;214;p1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15" name="Google Shape;215;p13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16" name="Google Shape;216;p13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E61192-F412-DE37-1B76-2D6FE5C1676F}"/>
              </a:ext>
            </a:extLst>
          </p:cNvPr>
          <p:cNvSpPr txBox="1"/>
          <p:nvPr/>
        </p:nvSpPr>
        <p:spPr>
          <a:xfrm>
            <a:off x="849601" y="1778400"/>
            <a:ext cx="72772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Bulkcart</a:t>
            </a:r>
            <a:r>
              <a:rPr lang="en-US" dirty="0"/>
              <a:t> is a B2B Grocery Procurement Portal connecting food retailers directly with wholesale suppliers — streamlining ordering, pricing, inventory, and invoicing in one unified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platform supports end-to-end workflows including supplier catalog management, purchase order creation with multi-level approval, inventory tracking, shipment management, and automated invoice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also features smart reorder suggestions based on purchase history, tiered pricing for retailers.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E42920D4-2E2C-2913-53FA-FAB7FDF6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>
            <a:extLst>
              <a:ext uri="{FF2B5EF4-FFF2-40B4-BE49-F238E27FC236}">
                <a16:creationId xmlns:a16="http://schemas.microsoft.com/office/drawing/2014/main" id="{5BCF6FD1-B37B-0D10-0FFD-98D89F9AF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BRM DIAGRAM </a:t>
            </a:r>
            <a:r>
              <a:rPr lang="en" b="0" dirty="0"/>
              <a:t>(</a:t>
            </a:r>
            <a:r>
              <a:rPr lang="en" b="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Arial"/>
              </a:rPr>
              <a:t>Vivek Vekhande </a:t>
            </a:r>
            <a:r>
              <a:rPr lang="en" b="0" dirty="0"/>
              <a:t>)</a:t>
            </a:r>
            <a:endParaRPr b="0" dirty="0"/>
          </a:p>
        </p:txBody>
      </p:sp>
      <p:sp>
        <p:nvSpPr>
          <p:cNvPr id="214" name="Google Shape;214;p13">
            <a:extLst>
              <a:ext uri="{FF2B5EF4-FFF2-40B4-BE49-F238E27FC236}">
                <a16:creationId xmlns:a16="http://schemas.microsoft.com/office/drawing/2014/main" id="{6967B351-EC8C-2C8D-FBE8-6018C7ABE5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215" name="Google Shape;215;p13">
            <a:extLst>
              <a:ext uri="{FF2B5EF4-FFF2-40B4-BE49-F238E27FC236}">
                <a16:creationId xmlns:a16="http://schemas.microsoft.com/office/drawing/2014/main" id="{0D730918-453A-9F2B-E5C2-D9B6BF587AC1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16" name="Google Shape;216;p13">
              <a:extLst>
                <a:ext uri="{FF2B5EF4-FFF2-40B4-BE49-F238E27FC236}">
                  <a16:creationId xmlns:a16="http://schemas.microsoft.com/office/drawing/2014/main" id="{C556F2AC-277E-1137-F4EC-C30CD488A29D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>
              <a:extLst>
                <a:ext uri="{FF2B5EF4-FFF2-40B4-BE49-F238E27FC236}">
                  <a16:creationId xmlns:a16="http://schemas.microsoft.com/office/drawing/2014/main" id="{0EDB8FED-3B1B-39DC-44D5-E648E88D7C76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>
              <a:extLst>
                <a:ext uri="{FF2B5EF4-FFF2-40B4-BE49-F238E27FC236}">
                  <a16:creationId xmlns:a16="http://schemas.microsoft.com/office/drawing/2014/main" id="{E5DBD58A-B057-8684-471D-3E8EDC3AD6EE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>
              <a:extLst>
                <a:ext uri="{FF2B5EF4-FFF2-40B4-BE49-F238E27FC236}">
                  <a16:creationId xmlns:a16="http://schemas.microsoft.com/office/drawing/2014/main" id="{9CEA3458-5814-0303-D3F4-1929CE21E394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0" name="Google Shape;220;p13">
            <a:extLst>
              <a:ext uri="{FF2B5EF4-FFF2-40B4-BE49-F238E27FC236}">
                <a16:creationId xmlns:a16="http://schemas.microsoft.com/office/drawing/2014/main" id="{963B2BB4-FE7B-90A8-402B-E6AD3799EF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2057" r="2057"/>
          <a:stretch/>
        </p:blipFill>
        <p:spPr>
          <a:xfrm>
            <a:off x="282225" y="1343975"/>
            <a:ext cx="6476767" cy="3799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139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CONTEXT DIAGRAM </a:t>
            </a:r>
            <a:r>
              <a:rPr lang="en" b="0" dirty="0"/>
              <a:t>(Om Kiran)</a:t>
            </a:r>
            <a:endParaRPr b="0" dirty="0"/>
          </a:p>
        </p:txBody>
      </p:sp>
      <p:sp>
        <p:nvSpPr>
          <p:cNvPr id="226" name="Google Shape;226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227" name="Google Shape;227;p14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28" name="Google Shape;228;p14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2" name="Google Shape;232;p14"/>
          <p:cNvPicPr preferRelativeResize="0"/>
          <p:nvPr/>
        </p:nvPicPr>
        <p:blipFill>
          <a:blip r:embed="rId3">
            <a:alphaModFix/>
          </a:blip>
          <a:srcRect l="3006" r="3006"/>
          <a:stretch/>
        </p:blipFill>
        <p:spPr>
          <a:xfrm>
            <a:off x="371075" y="1325900"/>
            <a:ext cx="6378798" cy="381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ROAD MAP </a:t>
            </a:r>
            <a:r>
              <a:rPr lang="en" b="0" dirty="0"/>
              <a:t>(Rohit Chendrashekar)</a:t>
            </a:r>
            <a:endParaRPr b="0" dirty="0"/>
          </a:p>
        </p:txBody>
      </p: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239" name="Google Shape;239;p15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5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4" name="Google Shape;244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711200" y="1284514"/>
            <a:ext cx="6799943" cy="335198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RCT: main view only </a:t>
            </a:r>
            <a:r>
              <a:rPr lang="en" b="0" dirty="0"/>
              <a:t>(Abubakar Tahir)</a:t>
            </a:r>
            <a:endParaRPr b="0" dirty="0"/>
          </a:p>
        </p:txBody>
      </p:sp>
      <p:sp>
        <p:nvSpPr>
          <p:cNvPr id="250" name="Google Shape;250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251" name="Google Shape;251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52" name="Google Shape;252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6" name="Google Shape;256;p1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82216" y="1603829"/>
            <a:ext cx="6794448" cy="289195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90B7149A-8BEA-092A-2942-8C9CB107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>
            <a:extLst>
              <a:ext uri="{FF2B5EF4-FFF2-40B4-BE49-F238E27FC236}">
                <a16:creationId xmlns:a16="http://schemas.microsoft.com/office/drawing/2014/main" id="{28CEA1E5-B71C-B073-9B7D-3918218D7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STORIES</a:t>
            </a:r>
            <a:r>
              <a:rPr lang="en" b="0" dirty="0"/>
              <a:t> (Meet Mangukiya)</a:t>
            </a:r>
            <a:endParaRPr b="0" dirty="0"/>
          </a:p>
        </p:txBody>
      </p:sp>
      <p:sp>
        <p:nvSpPr>
          <p:cNvPr id="262" name="Google Shape;262;p17">
            <a:extLst>
              <a:ext uri="{FF2B5EF4-FFF2-40B4-BE49-F238E27FC236}">
                <a16:creationId xmlns:a16="http://schemas.microsoft.com/office/drawing/2014/main" id="{A0C83A4B-F41F-CDFB-CC81-0F790A2226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263" name="Google Shape;263;p17">
            <a:extLst>
              <a:ext uri="{FF2B5EF4-FFF2-40B4-BE49-F238E27FC236}">
                <a16:creationId xmlns:a16="http://schemas.microsoft.com/office/drawing/2014/main" id="{29F2AA6E-8C0E-60AF-493D-6D9744EA3151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64" name="Google Shape;264;p17">
              <a:extLst>
                <a:ext uri="{FF2B5EF4-FFF2-40B4-BE49-F238E27FC236}">
                  <a16:creationId xmlns:a16="http://schemas.microsoft.com/office/drawing/2014/main" id="{85E44361-15FE-67B8-8ED3-8D354C891CFD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7">
              <a:extLst>
                <a:ext uri="{FF2B5EF4-FFF2-40B4-BE49-F238E27FC236}">
                  <a16:creationId xmlns:a16="http://schemas.microsoft.com/office/drawing/2014/main" id="{DED2A350-9957-E5FD-49FB-B45E6EA08201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7">
              <a:extLst>
                <a:ext uri="{FF2B5EF4-FFF2-40B4-BE49-F238E27FC236}">
                  <a16:creationId xmlns:a16="http://schemas.microsoft.com/office/drawing/2014/main" id="{A5F2925F-5DC0-28ED-0C97-EA9DF822A856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7">
              <a:extLst>
                <a:ext uri="{FF2B5EF4-FFF2-40B4-BE49-F238E27FC236}">
                  <a16:creationId xmlns:a16="http://schemas.microsoft.com/office/drawing/2014/main" id="{B3FC4FD2-58B4-8B73-4A19-BE6DBF42B7BE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8" name="Google Shape;268;p17">
            <a:extLst>
              <a:ext uri="{FF2B5EF4-FFF2-40B4-BE49-F238E27FC236}">
                <a16:creationId xmlns:a16="http://schemas.microsoft.com/office/drawing/2014/main" id="{17F13EA1-DB37-78DD-6F52-B31A1449CD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361296" y="1510800"/>
            <a:ext cx="6194826" cy="3125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729209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STORIES</a:t>
            </a:r>
            <a:r>
              <a:rPr lang="en" b="0" dirty="0"/>
              <a:t> (Meet Mangukiya)</a:t>
            </a:r>
            <a:endParaRPr b="0" dirty="0"/>
          </a:p>
        </p:txBody>
      </p:sp>
      <p:sp>
        <p:nvSpPr>
          <p:cNvPr id="262" name="Google Shape;262;p1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263" name="Google Shape;263;p17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64" name="Google Shape;264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8" name="Google Shape;268;p17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361296" y="1510800"/>
            <a:ext cx="6084448" cy="3125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UML ACTIVITY DIAGRAM </a:t>
            </a:r>
            <a:r>
              <a:rPr lang="en" b="0" dirty="0"/>
              <a:t>(Meet Mangukiya)</a:t>
            </a:r>
            <a:endParaRPr b="0" dirty="0"/>
          </a:p>
        </p:txBody>
      </p:sp>
      <p:sp>
        <p:nvSpPr>
          <p:cNvPr id="274" name="Google Shape;274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275" name="Google Shape;275;p18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76" name="Google Shape;276;p18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0" name="Google Shape;280;p18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296066" y="1380350"/>
            <a:ext cx="3029191" cy="37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 DIAGRAM </a:t>
            </a:r>
            <a:r>
              <a:rPr lang="en" b="0" dirty="0"/>
              <a:t>(Asmith Mamilla)</a:t>
            </a:r>
            <a:endParaRPr b="0" dirty="0"/>
          </a:p>
        </p:txBody>
      </p:sp>
      <p:sp>
        <p:nvSpPr>
          <p:cNvPr id="286" name="Google Shape;286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287" name="Google Shape;287;p19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88" name="Google Shape;288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92" name="Google Shape;292;p19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651725" y="1580124"/>
            <a:ext cx="5640389" cy="331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 DIAGRAM </a:t>
            </a:r>
            <a:r>
              <a:rPr lang="en" b="0" dirty="0"/>
              <a:t>(Asmith Mamilla)</a:t>
            </a:r>
            <a:endParaRPr b="0" dirty="0"/>
          </a:p>
        </p:txBody>
      </p:sp>
      <p:sp>
        <p:nvSpPr>
          <p:cNvPr id="298" name="Google Shape;298;p2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299" name="Google Shape;299;p20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300" name="Google Shape;300;p2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4" name="Google Shape;304;p20" descr="A diagram of a product&#10;&#10;AI-generated content may be incorrect."/>
          <p:cNvPicPr preferRelativeResize="0"/>
          <p:nvPr/>
        </p:nvPicPr>
        <p:blipFill>
          <a:blip r:embed="rId3"/>
          <a:srcRect/>
          <a:stretch/>
        </p:blipFill>
        <p:spPr>
          <a:xfrm>
            <a:off x="651725" y="1647781"/>
            <a:ext cx="5668243" cy="3188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BURNDOWN CHARTS </a:t>
            </a:r>
            <a:r>
              <a:rPr lang="en" b="0" dirty="0"/>
              <a:t>(Mansi Bhadani)</a:t>
            </a:r>
            <a:endParaRPr b="0" dirty="0"/>
          </a:p>
        </p:txBody>
      </p:sp>
      <p:sp>
        <p:nvSpPr>
          <p:cNvPr id="310" name="Google Shape;310;p2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311" name="Google Shape;311;p21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312" name="Google Shape;312;p21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16" name="Google Shape;316;p21" descr="A graph on a chart&#10;&#10;AI-generated content may be incorrect."/>
          <p:cNvPicPr preferRelativeResize="0"/>
          <p:nvPr/>
        </p:nvPicPr>
        <p:blipFill>
          <a:blip r:embed="rId3"/>
          <a:srcRect/>
          <a:stretch/>
        </p:blipFill>
        <p:spPr>
          <a:xfrm>
            <a:off x="1663013" y="1419074"/>
            <a:ext cx="3659006" cy="15135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7" name="Google Shape;317;p21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1652626" y="3054749"/>
            <a:ext cx="4820746" cy="1467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8" name="Google Shape;318;p21"/>
          <p:cNvSpPr txBox="1"/>
          <p:nvPr/>
        </p:nvSpPr>
        <p:spPr>
          <a:xfrm>
            <a:off x="257775" y="1840550"/>
            <a:ext cx="132990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Sprint 1</a:t>
            </a:r>
            <a:endParaRPr sz="24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282225" y="3404900"/>
            <a:ext cx="128100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Sprint 2</a:t>
            </a:r>
            <a:endParaRPr sz="24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BURNDOWN CHARTS </a:t>
            </a:r>
            <a:r>
              <a:rPr lang="en" b="0" dirty="0"/>
              <a:t>(Mansi Bhadani)</a:t>
            </a:r>
            <a:endParaRPr b="0" dirty="0"/>
          </a:p>
        </p:txBody>
      </p:sp>
      <p:sp>
        <p:nvSpPr>
          <p:cNvPr id="325" name="Google Shape;325;p2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326" name="Google Shape;326;p22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327" name="Google Shape;327;p22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1" name="Google Shape;331;p22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066801" y="2080950"/>
            <a:ext cx="5631542" cy="22370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2" name="Google Shape;332;p22"/>
          <p:cNvSpPr txBox="1"/>
          <p:nvPr/>
        </p:nvSpPr>
        <p:spPr>
          <a:xfrm>
            <a:off x="814275" y="1488700"/>
            <a:ext cx="1329900" cy="4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Sprint 3</a:t>
            </a:r>
            <a:endParaRPr sz="24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JENKINS PROGRESS REPORT </a:t>
            </a:r>
            <a:r>
              <a:rPr lang="en" b="0" dirty="0"/>
              <a:t>(Aakash Verma)</a:t>
            </a:r>
            <a:endParaRPr b="0" dirty="0"/>
          </a:p>
        </p:txBody>
      </p:sp>
      <p:sp>
        <p:nvSpPr>
          <p:cNvPr id="338" name="Google Shape;338;p2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grpSp>
        <p:nvGrpSpPr>
          <p:cNvPr id="339" name="Google Shape;339;p23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340" name="Google Shape;340;p23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C3D0351-494E-66D7-8A01-4E500E14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96" y="1453419"/>
            <a:ext cx="6434560" cy="30991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DEMO </a:t>
            </a:r>
            <a:r>
              <a:rPr lang="en" b="0" dirty="0"/>
              <a:t>(Aakash Verma)</a:t>
            </a:r>
            <a:endParaRPr b="0" dirty="0"/>
          </a:p>
        </p:txBody>
      </p:sp>
      <p:sp>
        <p:nvSpPr>
          <p:cNvPr id="352" name="Google Shape;352;p2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353" name="Google Shape;353;p24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354" name="Google Shape;354;p24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8" name="Google Shape;358;p24" descr="A screenshot of a computer&#10;&#10;AI-generated content may be incorrect.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49888" y="1451299"/>
            <a:ext cx="5461681" cy="3341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64" name="Google Shape;364;p25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5"/>
                </a:solidFill>
              </a:rPr>
              <a:t>THANK YOU!</a:t>
            </a:r>
            <a:endParaRPr sz="6000">
              <a:solidFill>
                <a:schemeClr val="accent5"/>
              </a:solidFill>
            </a:endParaRPr>
          </a:p>
        </p:txBody>
      </p:sp>
      <p:grpSp>
        <p:nvGrpSpPr>
          <p:cNvPr id="365" name="Google Shape;365;p25"/>
          <p:cNvGrpSpPr/>
          <p:nvPr/>
        </p:nvGrpSpPr>
        <p:grpSpPr>
          <a:xfrm>
            <a:off x="3803444" y="875554"/>
            <a:ext cx="1537110" cy="1488837"/>
            <a:chOff x="5961125" y="1623900"/>
            <a:chExt cx="427450" cy="448175"/>
          </a:xfrm>
        </p:grpSpPr>
        <p:sp>
          <p:nvSpPr>
            <p:cNvPr id="366" name="Google Shape;366;p25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l" t="t" r="r" b="b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3810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l" t="t" r="r" b="b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3810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5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3810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5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l" t="t" r="r" b="b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3810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l" t="t" r="r" b="b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3810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l" t="t" r="r" b="b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3810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l" t="t" r="r" b="b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3810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Salerio template</vt:lpstr>
      <vt:lpstr>Bulkcart – B2B Food Wholesale Platform </vt:lpstr>
      <vt:lpstr>AGENDA</vt:lpstr>
      <vt:lpstr>Application Overview (Arun Garwan )</vt:lpstr>
      <vt:lpstr>BRM DIAGRAM (Vivek Vekhande )</vt:lpstr>
      <vt:lpstr>CONTEXT DIAGRAM (Om Kiran)</vt:lpstr>
      <vt:lpstr>ROAD MAP (Rohit Chendrashekar)</vt:lpstr>
      <vt:lpstr>RCT: main view only (Abubakar Tahir)</vt:lpstr>
      <vt:lpstr>USER STORIES (Meet Mangukiya)</vt:lpstr>
      <vt:lpstr>USER STORIES (Meet Mangukiya)</vt:lpstr>
      <vt:lpstr>UML ACTIVITY DIAGRAM (Meet Mangukiya)</vt:lpstr>
      <vt:lpstr>ER DIAGRAM (Asmith Mamilla)</vt:lpstr>
      <vt:lpstr>ER DIAGRAM (Asmith Mamilla)</vt:lpstr>
      <vt:lpstr>BURNDOWN CHARTS (Mansi Bhadani)</vt:lpstr>
      <vt:lpstr>BURNDOWN CHARTS (Mansi Bhadani)</vt:lpstr>
      <vt:lpstr>JENKINS PROGRESS REPORT (Aakash Verma)</vt:lpstr>
      <vt:lpstr>LIVE DEMO (Aakash Verma)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16</cp:revision>
  <dcterms:modified xsi:type="dcterms:W3CDTF">2026-05-11T19:21:12Z</dcterms:modified>
</cp:coreProperties>
</file>