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5125700" cy="10693400"/>
  <p:notesSz cx="151257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>
      <p:cViewPr>
        <p:scale>
          <a:sx n="86" d="100"/>
          <a:sy n="86" d="100"/>
        </p:scale>
        <p:origin x="152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4427" y="3314954"/>
            <a:ext cx="1285684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68855" y="5988304"/>
            <a:ext cx="1058799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Actors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objects</a:t>
            </a:r>
            <a:r>
              <a:rPr spc="-15" dirty="0"/>
              <a:t> </a:t>
            </a:r>
            <a:r>
              <a:rPr dirty="0"/>
              <a:t>verified</a:t>
            </a:r>
            <a:r>
              <a:rPr spc="-15" dirty="0"/>
              <a:t> </a:t>
            </a:r>
            <a:r>
              <a:rPr dirty="0"/>
              <a:t>against</a:t>
            </a:r>
            <a:r>
              <a:rPr spc="-10" dirty="0"/>
              <a:t> </a:t>
            </a:r>
            <a:r>
              <a:rPr dirty="0"/>
              <a:t>Class</a:t>
            </a:r>
            <a:r>
              <a:rPr spc="-15" dirty="0"/>
              <a:t> </a:t>
            </a:r>
            <a:r>
              <a:rPr dirty="0"/>
              <a:t>Diagram</a:t>
            </a:r>
            <a:r>
              <a:rPr spc="145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Academic</a:t>
            </a:r>
            <a:r>
              <a:rPr spc="-1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spc="-20" dirty="0"/>
              <a:t>Only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Actors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objects</a:t>
            </a:r>
            <a:r>
              <a:rPr spc="-15" dirty="0"/>
              <a:t> </a:t>
            </a:r>
            <a:r>
              <a:rPr dirty="0"/>
              <a:t>verified</a:t>
            </a:r>
            <a:r>
              <a:rPr spc="-15" dirty="0"/>
              <a:t> </a:t>
            </a:r>
            <a:r>
              <a:rPr dirty="0"/>
              <a:t>against</a:t>
            </a:r>
            <a:r>
              <a:rPr spc="-10" dirty="0"/>
              <a:t> </a:t>
            </a:r>
            <a:r>
              <a:rPr dirty="0"/>
              <a:t>Class</a:t>
            </a:r>
            <a:r>
              <a:rPr spc="-15" dirty="0"/>
              <a:t> </a:t>
            </a:r>
            <a:r>
              <a:rPr dirty="0"/>
              <a:t>Diagram</a:t>
            </a:r>
            <a:r>
              <a:rPr spc="145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Academic</a:t>
            </a:r>
            <a:r>
              <a:rPr spc="-1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spc="-20" dirty="0"/>
              <a:t>Only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6285" y="2459482"/>
            <a:ext cx="657967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789735" y="2459482"/>
            <a:ext cx="657967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Actors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objects</a:t>
            </a:r>
            <a:r>
              <a:rPr spc="-15" dirty="0"/>
              <a:t> </a:t>
            </a:r>
            <a:r>
              <a:rPr dirty="0"/>
              <a:t>verified</a:t>
            </a:r>
            <a:r>
              <a:rPr spc="-15" dirty="0"/>
              <a:t> </a:t>
            </a:r>
            <a:r>
              <a:rPr dirty="0"/>
              <a:t>against</a:t>
            </a:r>
            <a:r>
              <a:rPr spc="-10" dirty="0"/>
              <a:t> </a:t>
            </a:r>
            <a:r>
              <a:rPr dirty="0"/>
              <a:t>Class</a:t>
            </a:r>
            <a:r>
              <a:rPr spc="-15" dirty="0"/>
              <a:t> </a:t>
            </a:r>
            <a:r>
              <a:rPr dirty="0"/>
              <a:t>Diagram</a:t>
            </a:r>
            <a:r>
              <a:rPr spc="145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Academic</a:t>
            </a:r>
            <a:r>
              <a:rPr spc="-1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spc="-20" dirty="0"/>
              <a:t>Only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Actors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objects</a:t>
            </a:r>
            <a:r>
              <a:rPr spc="-15" dirty="0"/>
              <a:t> </a:t>
            </a:r>
            <a:r>
              <a:rPr dirty="0"/>
              <a:t>verified</a:t>
            </a:r>
            <a:r>
              <a:rPr spc="-15" dirty="0"/>
              <a:t> </a:t>
            </a:r>
            <a:r>
              <a:rPr dirty="0"/>
              <a:t>against</a:t>
            </a:r>
            <a:r>
              <a:rPr spc="-10" dirty="0"/>
              <a:t> </a:t>
            </a:r>
            <a:r>
              <a:rPr dirty="0"/>
              <a:t>Class</a:t>
            </a:r>
            <a:r>
              <a:rPr spc="-15" dirty="0"/>
              <a:t> </a:t>
            </a:r>
            <a:r>
              <a:rPr dirty="0"/>
              <a:t>Diagram</a:t>
            </a:r>
            <a:r>
              <a:rPr spc="145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Academic</a:t>
            </a:r>
            <a:r>
              <a:rPr spc="-1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spc="-20" dirty="0"/>
              <a:t>Only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Actors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objects</a:t>
            </a:r>
            <a:r>
              <a:rPr spc="-15" dirty="0"/>
              <a:t> </a:t>
            </a:r>
            <a:r>
              <a:rPr dirty="0"/>
              <a:t>verified</a:t>
            </a:r>
            <a:r>
              <a:rPr spc="-15" dirty="0"/>
              <a:t> </a:t>
            </a:r>
            <a:r>
              <a:rPr dirty="0"/>
              <a:t>against</a:t>
            </a:r>
            <a:r>
              <a:rPr spc="-10" dirty="0"/>
              <a:t> </a:t>
            </a:r>
            <a:r>
              <a:rPr dirty="0"/>
              <a:t>Class</a:t>
            </a:r>
            <a:r>
              <a:rPr spc="-15" dirty="0"/>
              <a:t> </a:t>
            </a:r>
            <a:r>
              <a:rPr dirty="0"/>
              <a:t>Diagram</a:t>
            </a:r>
            <a:r>
              <a:rPr spc="145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Academic</a:t>
            </a:r>
            <a:r>
              <a:rPr spc="-1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spc="-20" dirty="0"/>
              <a:t>Only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5120619" cy="457200"/>
          </a:xfrm>
          <a:custGeom>
            <a:avLst/>
            <a:gdLst/>
            <a:ahLst/>
            <a:cxnLst/>
            <a:rect l="l" t="t" r="r" b="b"/>
            <a:pathLst>
              <a:path w="15120619" h="457200">
                <a:moveTo>
                  <a:pt x="15119997" y="0"/>
                </a:moveTo>
                <a:lnTo>
                  <a:pt x="0" y="0"/>
                </a:lnTo>
                <a:lnTo>
                  <a:pt x="0" y="457200"/>
                </a:lnTo>
                <a:lnTo>
                  <a:pt x="15119997" y="457200"/>
                </a:lnTo>
                <a:lnTo>
                  <a:pt x="15119997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285" y="427736"/>
            <a:ext cx="1361313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285" y="2459482"/>
            <a:ext cx="1361313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23524" y="10515669"/>
            <a:ext cx="3130550" cy="118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Actors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objects</a:t>
            </a:r>
            <a:r>
              <a:rPr spc="-15" dirty="0"/>
              <a:t> </a:t>
            </a:r>
            <a:r>
              <a:rPr dirty="0"/>
              <a:t>verified</a:t>
            </a:r>
            <a:r>
              <a:rPr spc="-15" dirty="0"/>
              <a:t> </a:t>
            </a:r>
            <a:r>
              <a:rPr dirty="0"/>
              <a:t>against</a:t>
            </a:r>
            <a:r>
              <a:rPr spc="-10" dirty="0"/>
              <a:t> </a:t>
            </a:r>
            <a:r>
              <a:rPr dirty="0"/>
              <a:t>Class</a:t>
            </a:r>
            <a:r>
              <a:rPr spc="-15" dirty="0"/>
              <a:t> </a:t>
            </a:r>
            <a:r>
              <a:rPr dirty="0"/>
              <a:t>Diagram</a:t>
            </a:r>
            <a:r>
              <a:rPr spc="145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Academic</a:t>
            </a:r>
            <a:r>
              <a:rPr spc="-1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spc="-20" dirty="0"/>
              <a:t>Only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66700" y="10515669"/>
            <a:ext cx="1672589" cy="118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890504" y="9944862"/>
            <a:ext cx="3478911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700" y="127000"/>
            <a:ext cx="2270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BulkCart — Sequence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Diagram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700" y="10507850"/>
            <a:ext cx="1672589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BulkCart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B2B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Wholesale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Ordering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23524" y="10507850"/>
            <a:ext cx="313055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Actors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objects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verified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against</a:t>
            </a:r>
            <a:r>
              <a:rPr sz="6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Diagram</a:t>
            </a:r>
            <a:r>
              <a:rPr sz="650" spc="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650" spc="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Confidential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Academic</a:t>
            </a:r>
            <a:r>
              <a:rPr sz="6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8600" y="482599"/>
            <a:ext cx="2667000" cy="4249269"/>
          </a:xfrm>
          <a:custGeom>
            <a:avLst/>
            <a:gdLst/>
            <a:ahLst/>
            <a:cxnLst/>
            <a:rect l="l" t="t" r="r" b="b"/>
            <a:pathLst>
              <a:path w="2667000" h="9930130">
                <a:moveTo>
                  <a:pt x="0" y="9930000"/>
                </a:moveTo>
                <a:lnTo>
                  <a:pt x="2667000" y="9930000"/>
                </a:lnTo>
                <a:lnTo>
                  <a:pt x="2667000" y="0"/>
                </a:lnTo>
                <a:lnTo>
                  <a:pt x="0" y="0"/>
                </a:lnTo>
                <a:lnTo>
                  <a:pt x="0" y="9930000"/>
                </a:lnTo>
                <a:close/>
              </a:path>
            </a:pathLst>
          </a:custGeom>
          <a:ln w="12700">
            <a:solidFill>
              <a:srgbClr val="F49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8600" y="482599"/>
            <a:ext cx="2667000" cy="279400"/>
          </a:xfrm>
          <a:prstGeom prst="rect">
            <a:avLst/>
          </a:prstGeom>
          <a:solidFill>
            <a:srgbClr val="1D3A5E"/>
          </a:solidFill>
        </p:spPr>
        <p:txBody>
          <a:bodyPr vert="horz" wrap="square" lIns="0" tIns="762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6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Story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Outline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600" y="761999"/>
            <a:ext cx="2667000" cy="3969869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17780" rIns="0" bIns="0" rtlCol="0">
            <a:spAutoFit/>
          </a:bodyPr>
          <a:lstStyle/>
          <a:p>
            <a:pPr marL="304800" marR="1544320" indent="-228600">
              <a:lnSpc>
                <a:spcPct val="119000"/>
              </a:lnSpc>
              <a:spcBef>
                <a:spcPts val="140"/>
              </a:spcBef>
            </a:pPr>
            <a:r>
              <a:rPr sz="700" b="1" spc="-25" dirty="0">
                <a:solidFill>
                  <a:srgbClr val="1D3A5E"/>
                </a:solidFill>
                <a:latin typeface="Arial"/>
                <a:cs typeface="Arial"/>
              </a:rPr>
              <a:t>Story:</a:t>
            </a:r>
            <a:r>
              <a:rPr sz="700" b="1" spc="-25" dirty="0">
                <a:solidFill>
                  <a:srgbClr val="1A1F2B"/>
                </a:solidFill>
                <a:latin typeface="Arial"/>
                <a:cs typeface="Arial"/>
              </a:rPr>
              <a:t>04.01</a:t>
            </a:r>
            <a:r>
              <a:rPr sz="700" b="1" spc="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A1F2B"/>
                </a:solidFill>
                <a:latin typeface="Arial"/>
                <a:cs typeface="Arial"/>
              </a:rPr>
              <a:t>–</a:t>
            </a:r>
            <a:r>
              <a:rPr sz="700" b="1" spc="1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A1F2B"/>
                </a:solidFill>
                <a:latin typeface="Arial"/>
                <a:cs typeface="Arial"/>
              </a:rPr>
              <a:t>Create</a:t>
            </a:r>
            <a:r>
              <a:rPr sz="700" b="1" spc="1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00" b="1" spc="-50" dirty="0">
                <a:solidFill>
                  <a:srgbClr val="1A1F2B"/>
                </a:solidFill>
                <a:latin typeface="Arial"/>
                <a:cs typeface="Arial"/>
              </a:rPr>
              <a:t>&amp;</a:t>
            </a:r>
            <a:r>
              <a:rPr sz="700" b="1" spc="50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Manage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Shipments</a:t>
            </a:r>
            <a:endParaRPr sz="700" dirty="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560"/>
              </a:spcBef>
            </a:pPr>
            <a:r>
              <a:rPr lang="en-US" sz="700" b="1" spc="-75" dirty="0">
                <a:solidFill>
                  <a:srgbClr val="1D3A5E"/>
                </a:solidFill>
                <a:latin typeface="Arial"/>
                <a:cs typeface="Arial"/>
              </a:rPr>
              <a:t>Actor :</a:t>
            </a:r>
            <a:r>
              <a:rPr sz="700" b="1" spc="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lang="en-US" sz="700" b="1" spc="10" dirty="0">
                <a:solidFill>
                  <a:srgbClr val="1D3A5E"/>
                </a:solidFill>
                <a:latin typeface="Arial"/>
                <a:cs typeface="Arial"/>
              </a:rPr>
              <a:t>S</a:t>
            </a:r>
            <a:r>
              <a:rPr sz="700" b="1" dirty="0">
                <a:solidFill>
                  <a:srgbClr val="1A1F2B"/>
                </a:solidFill>
                <a:latin typeface="Arial"/>
                <a:cs typeface="Arial"/>
              </a:rPr>
              <a:t>upplier</a:t>
            </a: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A1F2B"/>
                </a:solidFill>
                <a:latin typeface="Arial"/>
                <a:cs typeface="Arial"/>
              </a:rPr>
              <a:t>(Wholesaler</a:t>
            </a:r>
            <a:r>
              <a:rPr sz="700" b="1" spc="-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00" b="1" spc="-50" dirty="0">
                <a:solidFill>
                  <a:srgbClr val="1A1F2B"/>
                </a:solidFill>
                <a:latin typeface="Arial"/>
                <a:cs typeface="Arial"/>
              </a:rPr>
              <a:t>/</a:t>
            </a:r>
            <a:endParaRPr sz="7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60"/>
              </a:spcBef>
            </a:pP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Distributor)</a:t>
            </a:r>
            <a:endParaRPr sz="700" dirty="0">
              <a:latin typeface="Arial MT"/>
              <a:cs typeface="Arial MT"/>
            </a:endParaRPr>
          </a:p>
          <a:p>
            <a:pPr marL="304800" marR="1326515" indent="-228600">
              <a:lnSpc>
                <a:spcPct val="119000"/>
              </a:lnSpc>
            </a:pP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Goal:</a:t>
            </a:r>
            <a:r>
              <a:rPr sz="700" spc="-7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Once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 Purchase Order 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is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approved,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the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Supplier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creates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and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dispatches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1A1F2B"/>
                </a:solidFill>
                <a:latin typeface="Arial MT"/>
                <a:cs typeface="Arial MT"/>
              </a:rPr>
              <a:t>a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shipment,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auto-generates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an invoice, and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notifies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the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Retailer.</a:t>
            </a:r>
            <a:endParaRPr sz="700" dirty="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spcBef>
                <a:spcPts val="56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Key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Steps:</a:t>
            </a:r>
            <a:endParaRPr sz="700" dirty="0">
              <a:latin typeface="Arial"/>
              <a:cs typeface="Arial"/>
            </a:endParaRPr>
          </a:p>
          <a:p>
            <a:pPr marL="304800" marR="1341120" indent="-228600">
              <a:lnSpc>
                <a:spcPct val="119000"/>
              </a:lnSpc>
              <a:buAutoNum type="arabicPeriod"/>
              <a:tabLst>
                <a:tab pos="304800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Supplier verifies 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the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order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status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is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APPROVED.</a:t>
            </a:r>
            <a:endParaRPr sz="700" dirty="0">
              <a:latin typeface="Arial MT"/>
              <a:cs typeface="Arial MT"/>
            </a:endParaRPr>
          </a:p>
          <a:p>
            <a:pPr marL="304800" marR="1266825" indent="-228600">
              <a:lnSpc>
                <a:spcPct val="119000"/>
              </a:lnSpc>
              <a:buAutoNum type="arabicPeriod"/>
              <a:tabLst>
                <a:tab pos="304800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Supplier checks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warehouse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has available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capacity.</a:t>
            </a:r>
            <a:endParaRPr sz="700" dirty="0">
              <a:latin typeface="Arial MT"/>
              <a:cs typeface="Arial MT"/>
            </a:endParaRPr>
          </a:p>
          <a:p>
            <a:pPr marL="304800" marR="1217930" indent="-228600">
              <a:lnSpc>
                <a:spcPct val="119000"/>
              </a:lnSpc>
              <a:buAutoNum type="arabicPeriod"/>
              <a:tabLst>
                <a:tab pos="304800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Supplier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creates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new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Shipment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linked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to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the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order.</a:t>
            </a:r>
            <a:endParaRPr sz="700" dirty="0">
              <a:latin typeface="Arial MT"/>
              <a:cs typeface="Arial MT"/>
            </a:endParaRPr>
          </a:p>
          <a:p>
            <a:pPr marL="304800" marR="1262380" indent="-228600">
              <a:lnSpc>
                <a:spcPct val="119000"/>
              </a:lnSpc>
              <a:buAutoNum type="arabicPeriod"/>
              <a:tabLst>
                <a:tab pos="304800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Shipment re-validates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order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status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internally.</a:t>
            </a:r>
            <a:endParaRPr sz="700" dirty="0">
              <a:latin typeface="Arial MT"/>
              <a:cs typeface="Arial MT"/>
            </a:endParaRPr>
          </a:p>
          <a:p>
            <a:pPr marL="304800" marR="1227455" indent="-228600">
              <a:lnSpc>
                <a:spcPct val="119000"/>
              </a:lnSpc>
              <a:buAutoNum type="arabicPeriod"/>
              <a:tabLst>
                <a:tab pos="304800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Supplier dispatches: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assigns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carrier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&amp;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tracking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number.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Status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Symbol"/>
                <a:cs typeface="Symbol"/>
              </a:rPr>
              <a:t></a:t>
            </a:r>
            <a:r>
              <a:rPr sz="700" spc="10" dirty="0">
                <a:solidFill>
                  <a:srgbClr val="1A1F2B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DISPATCHED.</a:t>
            </a:r>
            <a:endParaRPr sz="700" dirty="0">
              <a:latin typeface="Arial MT"/>
              <a:cs typeface="Arial MT"/>
            </a:endParaRPr>
          </a:p>
          <a:p>
            <a:pPr marL="304800" marR="1351280" indent="-228600" algn="just">
              <a:lnSpc>
                <a:spcPct val="119000"/>
              </a:lnSpc>
              <a:buAutoNum type="arabicPeriod"/>
              <a:tabLst>
                <a:tab pos="304800" algn="l"/>
                <a:tab pos="30797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System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auto-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generates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1A1F2B"/>
                </a:solidFill>
                <a:latin typeface="Arial MT"/>
                <a:cs typeface="Arial MT"/>
              </a:rPr>
              <a:t>&amp;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issues Invoice;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calculates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tax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via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calculateTax().</a:t>
            </a:r>
            <a:endParaRPr sz="700" dirty="0">
              <a:latin typeface="Arial MT"/>
              <a:cs typeface="Arial MT"/>
            </a:endParaRPr>
          </a:p>
          <a:p>
            <a:pPr marL="304800" marR="1277620" indent="-228600" algn="just">
              <a:lnSpc>
                <a:spcPct val="119000"/>
              </a:lnSpc>
              <a:buAutoNum type="arabicPeriod"/>
              <a:tabLst>
                <a:tab pos="304800" algn="l"/>
                <a:tab pos="30797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Notification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sent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to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Retailer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with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SHIPMENT_UPDATE.</a:t>
            </a:r>
            <a:endParaRPr sz="700" dirty="0">
              <a:latin typeface="Arial MT"/>
              <a:cs typeface="Arial MT"/>
            </a:endParaRPr>
          </a:p>
          <a:p>
            <a:pPr marL="304800" marR="1326515" indent="-228600" algn="just">
              <a:lnSpc>
                <a:spcPct val="119000"/>
              </a:lnSpc>
              <a:spcBef>
                <a:spcPts val="5"/>
              </a:spcBef>
              <a:buAutoNum type="arabicPeriod"/>
              <a:tabLst>
                <a:tab pos="304800" algn="l"/>
                <a:tab pos="30797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Supplier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retrieves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tracking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info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(carrier,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ETA).</a:t>
            </a:r>
            <a:endParaRPr sz="700" dirty="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23020" y="915489"/>
            <a:ext cx="10475580" cy="9497240"/>
            <a:chOff x="3723020" y="915489"/>
            <a:chExt cx="10475580" cy="9497240"/>
          </a:xfrm>
        </p:grpSpPr>
        <p:sp>
          <p:nvSpPr>
            <p:cNvPr id="11" name="object 11"/>
            <p:cNvSpPr/>
            <p:nvPr/>
          </p:nvSpPr>
          <p:spPr>
            <a:xfrm>
              <a:off x="3723020" y="915489"/>
              <a:ext cx="406400" cy="749300"/>
            </a:xfrm>
            <a:custGeom>
              <a:avLst/>
              <a:gdLst/>
              <a:ahLst/>
              <a:cxnLst/>
              <a:rect l="l" t="t" r="r" b="b"/>
              <a:pathLst>
                <a:path w="406400" h="749300">
                  <a:moveTo>
                    <a:pt x="342900" y="139700"/>
                  </a:moveTo>
                  <a:lnTo>
                    <a:pt x="335777" y="95544"/>
                  </a:lnTo>
                  <a:lnTo>
                    <a:pt x="315945" y="57195"/>
                  </a:lnTo>
                  <a:lnTo>
                    <a:pt x="285704" y="26954"/>
                  </a:lnTo>
                  <a:lnTo>
                    <a:pt x="247355" y="7122"/>
                  </a:lnTo>
                  <a:lnTo>
                    <a:pt x="203200" y="0"/>
                  </a:lnTo>
                  <a:lnTo>
                    <a:pt x="159044" y="7122"/>
                  </a:lnTo>
                  <a:lnTo>
                    <a:pt x="120695" y="26954"/>
                  </a:lnTo>
                  <a:lnTo>
                    <a:pt x="90454" y="57195"/>
                  </a:lnTo>
                  <a:lnTo>
                    <a:pt x="70622" y="95544"/>
                  </a:lnTo>
                  <a:lnTo>
                    <a:pt x="63500" y="139700"/>
                  </a:lnTo>
                  <a:lnTo>
                    <a:pt x="70622" y="183856"/>
                  </a:lnTo>
                  <a:lnTo>
                    <a:pt x="90454" y="222205"/>
                  </a:lnTo>
                  <a:lnTo>
                    <a:pt x="120695" y="252446"/>
                  </a:lnTo>
                  <a:lnTo>
                    <a:pt x="159044" y="272278"/>
                  </a:lnTo>
                  <a:lnTo>
                    <a:pt x="203200" y="279400"/>
                  </a:lnTo>
                  <a:lnTo>
                    <a:pt x="247355" y="272278"/>
                  </a:lnTo>
                  <a:lnTo>
                    <a:pt x="285704" y="252446"/>
                  </a:lnTo>
                  <a:lnTo>
                    <a:pt x="315945" y="222205"/>
                  </a:lnTo>
                  <a:lnTo>
                    <a:pt x="335777" y="183856"/>
                  </a:lnTo>
                  <a:lnTo>
                    <a:pt x="342900" y="139700"/>
                  </a:lnTo>
                </a:path>
                <a:path w="406400" h="749300">
                  <a:moveTo>
                    <a:pt x="203200" y="279400"/>
                  </a:moveTo>
                  <a:lnTo>
                    <a:pt x="203200" y="558800"/>
                  </a:lnTo>
                </a:path>
                <a:path w="406400" h="749300">
                  <a:moveTo>
                    <a:pt x="0" y="393700"/>
                  </a:moveTo>
                  <a:lnTo>
                    <a:pt x="406400" y="393700"/>
                  </a:lnTo>
                </a:path>
                <a:path w="406400" h="749300">
                  <a:moveTo>
                    <a:pt x="203200" y="558800"/>
                  </a:moveTo>
                  <a:lnTo>
                    <a:pt x="38100" y="749300"/>
                  </a:lnTo>
                </a:path>
                <a:path w="406400" h="749300">
                  <a:moveTo>
                    <a:pt x="203200" y="558800"/>
                  </a:moveTo>
                  <a:lnTo>
                    <a:pt x="368300" y="749300"/>
                  </a:lnTo>
                </a:path>
              </a:pathLst>
            </a:custGeom>
            <a:ln w="16510">
              <a:solidFill>
                <a:srgbClr val="1D3A5E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937000" y="1689099"/>
              <a:ext cx="8737600" cy="8723630"/>
            </a:xfrm>
            <a:custGeom>
              <a:avLst/>
              <a:gdLst/>
              <a:ahLst/>
              <a:cxnLst/>
              <a:rect l="l" t="t" r="r" b="b"/>
              <a:pathLst>
                <a:path w="8737600" h="8723630">
                  <a:moveTo>
                    <a:pt x="0" y="7899400"/>
                  </a:moveTo>
                  <a:lnTo>
                    <a:pt x="0" y="8723500"/>
                  </a:lnTo>
                </a:path>
                <a:path w="8737600" h="8723630">
                  <a:moveTo>
                    <a:pt x="0" y="3886200"/>
                  </a:moveTo>
                  <a:lnTo>
                    <a:pt x="0" y="7747000"/>
                  </a:lnTo>
                </a:path>
                <a:path w="8737600" h="8723630">
                  <a:moveTo>
                    <a:pt x="0" y="2463800"/>
                  </a:moveTo>
                  <a:lnTo>
                    <a:pt x="0" y="3733800"/>
                  </a:lnTo>
                </a:path>
                <a:path w="8737600" h="8723630">
                  <a:moveTo>
                    <a:pt x="0" y="1625600"/>
                  </a:moveTo>
                  <a:lnTo>
                    <a:pt x="0" y="2311400"/>
                  </a:lnTo>
                </a:path>
                <a:path w="8737600" h="8723630">
                  <a:moveTo>
                    <a:pt x="0" y="787400"/>
                  </a:moveTo>
                  <a:lnTo>
                    <a:pt x="0" y="1473200"/>
                  </a:lnTo>
                </a:path>
                <a:path w="8737600" h="8723630">
                  <a:moveTo>
                    <a:pt x="0" y="0"/>
                  </a:moveTo>
                  <a:lnTo>
                    <a:pt x="0" y="635000"/>
                  </a:lnTo>
                </a:path>
                <a:path w="8737600" h="8723630">
                  <a:moveTo>
                    <a:pt x="2260600" y="3073400"/>
                  </a:moveTo>
                  <a:lnTo>
                    <a:pt x="2260600" y="8723500"/>
                  </a:lnTo>
                </a:path>
                <a:path w="8737600" h="8723630">
                  <a:moveTo>
                    <a:pt x="2260600" y="1092200"/>
                  </a:moveTo>
                  <a:lnTo>
                    <a:pt x="2260600" y="2794000"/>
                  </a:lnTo>
                </a:path>
                <a:path w="8737600" h="8723630">
                  <a:moveTo>
                    <a:pt x="2260600" y="0"/>
                  </a:moveTo>
                  <a:lnTo>
                    <a:pt x="2260600" y="812800"/>
                  </a:lnTo>
                </a:path>
                <a:path w="8737600" h="8723630">
                  <a:moveTo>
                    <a:pt x="4394200" y="1930400"/>
                  </a:moveTo>
                  <a:lnTo>
                    <a:pt x="4394200" y="8723500"/>
                  </a:lnTo>
                </a:path>
                <a:path w="8737600" h="8723630">
                  <a:moveTo>
                    <a:pt x="4394200" y="0"/>
                  </a:moveTo>
                  <a:lnTo>
                    <a:pt x="4394200" y="1651000"/>
                  </a:lnTo>
                </a:path>
                <a:path w="8737600" h="8723630">
                  <a:moveTo>
                    <a:pt x="6604000" y="8204200"/>
                  </a:moveTo>
                  <a:lnTo>
                    <a:pt x="6604000" y="8723500"/>
                  </a:lnTo>
                </a:path>
                <a:path w="8737600" h="8723630">
                  <a:moveTo>
                    <a:pt x="6604000" y="7061200"/>
                  </a:moveTo>
                  <a:lnTo>
                    <a:pt x="6604000" y="7950200"/>
                  </a:lnTo>
                </a:path>
                <a:path w="8737600" h="8723630">
                  <a:moveTo>
                    <a:pt x="6604000" y="6223000"/>
                  </a:moveTo>
                  <a:lnTo>
                    <a:pt x="6604000" y="6908800"/>
                  </a:lnTo>
                </a:path>
                <a:path w="8737600" h="8723630">
                  <a:moveTo>
                    <a:pt x="6604000" y="5181600"/>
                  </a:moveTo>
                  <a:lnTo>
                    <a:pt x="6604000" y="6070600"/>
                  </a:lnTo>
                </a:path>
                <a:path w="8737600" h="8723630">
                  <a:moveTo>
                    <a:pt x="6604000" y="4368800"/>
                  </a:moveTo>
                  <a:lnTo>
                    <a:pt x="6604000" y="5029200"/>
                  </a:lnTo>
                </a:path>
                <a:path w="8737600" h="8723630">
                  <a:moveTo>
                    <a:pt x="6604000" y="2768600"/>
                  </a:moveTo>
                  <a:lnTo>
                    <a:pt x="6604000" y="3911600"/>
                  </a:lnTo>
                </a:path>
                <a:path w="8737600" h="8723630">
                  <a:moveTo>
                    <a:pt x="6604000" y="0"/>
                  </a:moveTo>
                  <a:lnTo>
                    <a:pt x="6604000" y="2489200"/>
                  </a:lnTo>
                </a:path>
                <a:path w="8737600" h="8723630">
                  <a:moveTo>
                    <a:pt x="8737600" y="7415400"/>
                  </a:moveTo>
                  <a:lnTo>
                    <a:pt x="8737600" y="8723500"/>
                  </a:lnTo>
                </a:path>
                <a:path w="8737600" h="8723630">
                  <a:moveTo>
                    <a:pt x="8737600" y="5664200"/>
                  </a:moveTo>
                  <a:lnTo>
                    <a:pt x="8737600" y="6273800"/>
                  </a:lnTo>
                </a:path>
                <a:path w="8737600" h="8723630">
                  <a:moveTo>
                    <a:pt x="8737600" y="0"/>
                  </a:moveTo>
                  <a:lnTo>
                    <a:pt x="8737600" y="5207000"/>
                  </a:lnTo>
                </a:path>
              </a:pathLst>
            </a:custGeom>
            <a:ln w="10159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198600" y="1689099"/>
              <a:ext cx="0" cy="8723630"/>
            </a:xfrm>
            <a:custGeom>
              <a:avLst/>
              <a:gdLst/>
              <a:ahLst/>
              <a:cxnLst/>
              <a:rect l="l" t="t" r="r" b="b"/>
              <a:pathLst>
                <a:path h="8723630">
                  <a:moveTo>
                    <a:pt x="0" y="7415400"/>
                  </a:moveTo>
                  <a:lnTo>
                    <a:pt x="0" y="8723500"/>
                  </a:lnTo>
                </a:path>
                <a:path h="8723630">
                  <a:moveTo>
                    <a:pt x="0" y="0"/>
                  </a:moveTo>
                  <a:lnTo>
                    <a:pt x="0" y="6272400"/>
                  </a:lnTo>
                </a:path>
              </a:pathLst>
            </a:custGeom>
            <a:ln w="1016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57800" y="990599"/>
            <a:ext cx="1879600" cy="330200"/>
          </a:xfrm>
          <a:prstGeom prst="rect">
            <a:avLst/>
          </a:prstGeom>
          <a:solidFill>
            <a:srgbClr val="1D3A5E"/>
          </a:solidFill>
          <a:ln w="12700">
            <a:solidFill>
              <a:srgbClr val="2A6BAF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531495">
              <a:lnSpc>
                <a:spcPct val="100000"/>
              </a:lnSpc>
              <a:spcBef>
                <a:spcPts val="8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:PurchaseOrder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1900" y="990599"/>
            <a:ext cx="1498600" cy="330200"/>
          </a:xfrm>
          <a:prstGeom prst="rect">
            <a:avLst/>
          </a:prstGeom>
          <a:solidFill>
            <a:srgbClr val="1D3A5E"/>
          </a:solidFill>
          <a:ln w="12700">
            <a:solidFill>
              <a:srgbClr val="2A6BAF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440055">
              <a:lnSpc>
                <a:spcPct val="100000"/>
              </a:lnSpc>
              <a:spcBef>
                <a:spcPts val="8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:Warehouse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79000" y="990599"/>
            <a:ext cx="1524000" cy="330200"/>
          </a:xfrm>
          <a:prstGeom prst="rect">
            <a:avLst/>
          </a:prstGeom>
          <a:solidFill>
            <a:srgbClr val="1D3A5E"/>
          </a:solidFill>
          <a:ln w="12700">
            <a:solidFill>
              <a:srgbClr val="2A6BAF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8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:Shipment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76100" y="990599"/>
            <a:ext cx="1397000" cy="330200"/>
          </a:xfrm>
          <a:prstGeom prst="rect">
            <a:avLst/>
          </a:prstGeom>
          <a:solidFill>
            <a:srgbClr val="1D3A5E"/>
          </a:solidFill>
          <a:ln w="12700">
            <a:solidFill>
              <a:srgbClr val="2A6BAF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:Invoice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373100" y="990599"/>
            <a:ext cx="1651000" cy="330200"/>
          </a:xfrm>
          <a:prstGeom prst="rect">
            <a:avLst/>
          </a:prstGeom>
          <a:solidFill>
            <a:srgbClr val="1D3A5E"/>
          </a:solidFill>
          <a:ln w="12700">
            <a:solidFill>
              <a:srgbClr val="2A6BAF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510540">
              <a:lnSpc>
                <a:spcPct val="100000"/>
              </a:lnSpc>
              <a:spcBef>
                <a:spcPts val="8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:Notification</a:t>
            </a:r>
            <a:endParaRPr sz="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03295" y="1700509"/>
            <a:ext cx="1226185" cy="220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265">
              <a:lnSpc>
                <a:spcPts val="830"/>
              </a:lnSpc>
              <a:spcBef>
                <a:spcPts val="100"/>
              </a:spcBef>
            </a:pPr>
            <a:r>
              <a:rPr sz="800" b="1" spc="-10" dirty="0">
                <a:solidFill>
                  <a:srgbClr val="1A1F2B"/>
                </a:solidFill>
                <a:latin typeface="Arial"/>
                <a:cs typeface="Arial"/>
              </a:rPr>
              <a:t>Supplier</a:t>
            </a:r>
            <a:endParaRPr sz="800" dirty="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1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1: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Verify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Order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Status</a:t>
            </a:r>
            <a:endParaRPr sz="700" dirty="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55720" y="2319019"/>
            <a:ext cx="162560" cy="162560"/>
            <a:chOff x="3855720" y="2319019"/>
            <a:chExt cx="162560" cy="162560"/>
          </a:xfrm>
        </p:grpSpPr>
        <p:sp>
          <p:nvSpPr>
            <p:cNvPr id="26" name="object 26"/>
            <p:cNvSpPr/>
            <p:nvPr/>
          </p:nvSpPr>
          <p:spPr>
            <a:xfrm>
              <a:off x="3860800" y="23240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60800" y="23240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146425" y="1990724"/>
            <a:ext cx="2482850" cy="447675"/>
            <a:chOff x="3146425" y="1990724"/>
            <a:chExt cx="2482850" cy="447675"/>
          </a:xfrm>
        </p:grpSpPr>
        <p:sp>
          <p:nvSpPr>
            <p:cNvPr id="29" name="object 29"/>
            <p:cNvSpPr/>
            <p:nvPr/>
          </p:nvSpPr>
          <p:spPr>
            <a:xfrm>
              <a:off x="3149600" y="1993899"/>
              <a:ext cx="2476500" cy="0"/>
            </a:xfrm>
            <a:custGeom>
              <a:avLst/>
              <a:gdLst/>
              <a:ahLst/>
              <a:cxnLst/>
              <a:rect l="l" t="t" r="r" b="b"/>
              <a:pathLst>
                <a:path w="2476500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ln w="6350">
              <a:solidFill>
                <a:srgbClr val="BDE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13200" y="2400299"/>
              <a:ext cx="1244600" cy="0"/>
            </a:xfrm>
            <a:custGeom>
              <a:avLst/>
              <a:gdLst/>
              <a:ahLst/>
              <a:cxnLst/>
              <a:rect l="l" t="t" r="r" b="b"/>
              <a:pathLst>
                <a:path w="1244600">
                  <a:moveTo>
                    <a:pt x="0" y="0"/>
                  </a:moveTo>
                  <a:lnTo>
                    <a:pt x="12446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68900" y="23621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74102" y="2228850"/>
            <a:ext cx="5232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getStatus()</a:t>
            </a:r>
            <a:endParaRPr sz="7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36900" y="22860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008437" y="2496819"/>
            <a:ext cx="2270760" cy="289560"/>
            <a:chOff x="4008437" y="2496819"/>
            <a:chExt cx="2270760" cy="289560"/>
          </a:xfrm>
        </p:grpSpPr>
        <p:sp>
          <p:nvSpPr>
            <p:cNvPr id="35" name="object 35"/>
            <p:cNvSpPr/>
            <p:nvPr/>
          </p:nvSpPr>
          <p:spPr>
            <a:xfrm>
              <a:off x="6121400" y="25018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121400" y="25018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13200" y="2705099"/>
              <a:ext cx="1244600" cy="0"/>
            </a:xfrm>
            <a:custGeom>
              <a:avLst/>
              <a:gdLst/>
              <a:ahLst/>
              <a:cxnLst/>
              <a:rect l="l" t="t" r="r" b="b"/>
              <a:pathLst>
                <a:path w="1244600">
                  <a:moveTo>
                    <a:pt x="12446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8755" y="2662554"/>
              <a:ext cx="72390" cy="8509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065708" y="2540000"/>
            <a:ext cx="113982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status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=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APPROVED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36900" y="25908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36900" y="2705100"/>
            <a:ext cx="158178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2: Check Warehouse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Capacity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146425" y="2828924"/>
            <a:ext cx="4441825" cy="490855"/>
            <a:chOff x="3146425" y="2828924"/>
            <a:chExt cx="4441825" cy="490855"/>
          </a:xfrm>
        </p:grpSpPr>
        <p:sp>
          <p:nvSpPr>
            <p:cNvPr id="43" name="object 43"/>
            <p:cNvSpPr/>
            <p:nvPr/>
          </p:nvSpPr>
          <p:spPr>
            <a:xfrm>
              <a:off x="3149600" y="2832099"/>
              <a:ext cx="2730500" cy="0"/>
            </a:xfrm>
            <a:custGeom>
              <a:avLst/>
              <a:gdLst/>
              <a:ahLst/>
              <a:cxnLst/>
              <a:rect l="l" t="t" r="r" b="b"/>
              <a:pathLst>
                <a:path w="2730500">
                  <a:moveTo>
                    <a:pt x="0" y="0"/>
                  </a:moveTo>
                  <a:lnTo>
                    <a:pt x="2730500" y="0"/>
                  </a:lnTo>
                </a:path>
              </a:pathLst>
            </a:custGeom>
            <a:ln w="6350">
              <a:solidFill>
                <a:srgbClr val="BDE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60800" y="31622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60800" y="31622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13200" y="3238499"/>
              <a:ext cx="3568700" cy="0"/>
            </a:xfrm>
            <a:custGeom>
              <a:avLst/>
              <a:gdLst/>
              <a:ahLst/>
              <a:cxnLst/>
              <a:rect l="l" t="t" r="r" b="b"/>
              <a:pathLst>
                <a:path w="3568700">
                  <a:moveTo>
                    <a:pt x="0" y="0"/>
                  </a:moveTo>
                  <a:lnTo>
                    <a:pt x="35687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493000" y="32003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274071" y="3067050"/>
            <a:ext cx="10471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getAvailableCapacity()</a:t>
            </a:r>
            <a:endParaRPr sz="7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136900" y="31242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008437" y="3335019"/>
            <a:ext cx="4404360" cy="289560"/>
            <a:chOff x="4008437" y="3335019"/>
            <a:chExt cx="4404360" cy="289560"/>
          </a:xfrm>
        </p:grpSpPr>
        <p:sp>
          <p:nvSpPr>
            <p:cNvPr id="51" name="object 51"/>
            <p:cNvSpPr/>
            <p:nvPr/>
          </p:nvSpPr>
          <p:spPr>
            <a:xfrm>
              <a:off x="8255000" y="33400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255000" y="33400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13200" y="3543299"/>
              <a:ext cx="3568700" cy="0"/>
            </a:xfrm>
            <a:custGeom>
              <a:avLst/>
              <a:gdLst/>
              <a:ahLst/>
              <a:cxnLst/>
              <a:rect l="l" t="t" r="r" b="b"/>
              <a:pathLst>
                <a:path w="3568700">
                  <a:moveTo>
                    <a:pt x="35687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8755" y="3500754"/>
              <a:ext cx="72390" cy="8509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078361" y="3378200"/>
            <a:ext cx="14389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availableCapacity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(sufficient)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136900" y="34290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136900" y="3543300"/>
            <a:ext cx="11226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3: Create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Shipment</a:t>
            </a:r>
            <a:endParaRPr sz="7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860800" y="40004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0160">
            <a:solidFill>
              <a:srgbClr val="2A6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3146425" y="3667124"/>
            <a:ext cx="6638290" cy="485775"/>
            <a:chOff x="3146425" y="3667124"/>
            <a:chExt cx="6638290" cy="485775"/>
          </a:xfrm>
        </p:grpSpPr>
        <p:sp>
          <p:nvSpPr>
            <p:cNvPr id="60" name="object 60"/>
            <p:cNvSpPr/>
            <p:nvPr/>
          </p:nvSpPr>
          <p:spPr>
            <a:xfrm>
              <a:off x="3149600" y="3670299"/>
              <a:ext cx="1968500" cy="0"/>
            </a:xfrm>
            <a:custGeom>
              <a:avLst/>
              <a:gdLst/>
              <a:ahLst/>
              <a:cxnLst/>
              <a:rect l="l" t="t" r="r" b="b"/>
              <a:pathLst>
                <a:path w="1968500">
                  <a:moveTo>
                    <a:pt x="0" y="0"/>
                  </a:moveTo>
                  <a:lnTo>
                    <a:pt x="1968500" y="0"/>
                  </a:lnTo>
                </a:path>
              </a:pathLst>
            </a:custGeom>
            <a:ln w="6350">
              <a:solidFill>
                <a:srgbClr val="BDE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860800" y="40004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13200" y="4076699"/>
              <a:ext cx="5765800" cy="0"/>
            </a:xfrm>
            <a:custGeom>
              <a:avLst/>
              <a:gdLst/>
              <a:ahLst/>
              <a:cxnLst/>
              <a:rect l="l" t="t" r="r" b="b"/>
              <a:pathLst>
                <a:path w="5765800">
                  <a:moveTo>
                    <a:pt x="0" y="0"/>
                  </a:moveTo>
                  <a:lnTo>
                    <a:pt x="5765800" y="0"/>
                  </a:lnTo>
                </a:path>
              </a:pathLst>
            </a:custGeom>
            <a:ln w="11430">
              <a:solidFill>
                <a:srgbClr val="2A6BA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690100" y="40385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107874" y="3905250"/>
            <a:ext cx="15767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&lt;&lt;create&gt;&gt; </a:t>
            </a: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createShipment(order)</a:t>
            </a:r>
            <a:endParaRPr sz="7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136900" y="39624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251450" y="4173219"/>
            <a:ext cx="5370830" cy="289560"/>
            <a:chOff x="5251450" y="4173219"/>
            <a:chExt cx="5370830" cy="289560"/>
          </a:xfrm>
        </p:grpSpPr>
        <p:sp>
          <p:nvSpPr>
            <p:cNvPr id="67" name="object 67"/>
            <p:cNvSpPr/>
            <p:nvPr/>
          </p:nvSpPr>
          <p:spPr>
            <a:xfrm>
              <a:off x="10464800" y="41782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399"/>
                  </a:lnTo>
                  <a:lnTo>
                    <a:pt x="152400" y="2793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464800" y="41782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399"/>
                  </a:moveTo>
                  <a:lnTo>
                    <a:pt x="152400" y="2793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399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257800" y="4381499"/>
              <a:ext cx="4521200" cy="0"/>
            </a:xfrm>
            <a:custGeom>
              <a:avLst/>
              <a:gdLst/>
              <a:ahLst/>
              <a:cxnLst/>
              <a:rect l="l" t="t" r="r" b="b"/>
              <a:pathLst>
                <a:path w="4521200">
                  <a:moveTo>
                    <a:pt x="45212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257800" y="43433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0" y="38100"/>
                  </a:lnTo>
                  <a:lnTo>
                    <a:pt x="88900" y="76200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202679" y="4210049"/>
            <a:ext cx="21234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getStatus()</a:t>
            </a:r>
            <a:endParaRPr sz="7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136900" y="42671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5253037" y="4478019"/>
            <a:ext cx="4530725" cy="289560"/>
            <a:chOff x="5253037" y="4478019"/>
            <a:chExt cx="4530725" cy="289560"/>
          </a:xfrm>
        </p:grpSpPr>
        <p:sp>
          <p:nvSpPr>
            <p:cNvPr id="74" name="object 74"/>
            <p:cNvSpPr/>
            <p:nvPr/>
          </p:nvSpPr>
          <p:spPr>
            <a:xfrm>
              <a:off x="6121400" y="44830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121400" y="44830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257800" y="4686299"/>
              <a:ext cx="4521200" cy="0"/>
            </a:xfrm>
            <a:custGeom>
              <a:avLst/>
              <a:gdLst/>
              <a:ahLst/>
              <a:cxnLst/>
              <a:rect l="l" t="t" r="r" b="b"/>
              <a:pathLst>
                <a:path w="4521200">
                  <a:moveTo>
                    <a:pt x="0" y="0"/>
                  </a:moveTo>
                  <a:lnTo>
                    <a:pt x="452120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1054" y="4643754"/>
              <a:ext cx="72390" cy="85090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7117874" y="4521199"/>
            <a:ext cx="80137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APPROVED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136900" y="45719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7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4008437" y="4923154"/>
            <a:ext cx="5775325" cy="85090"/>
            <a:chOff x="4008437" y="4923154"/>
            <a:chExt cx="5775325" cy="85090"/>
          </a:xfrm>
        </p:grpSpPr>
        <p:sp>
          <p:nvSpPr>
            <p:cNvPr id="81" name="object 81"/>
            <p:cNvSpPr/>
            <p:nvPr/>
          </p:nvSpPr>
          <p:spPr>
            <a:xfrm>
              <a:off x="4013200" y="4965699"/>
              <a:ext cx="5765800" cy="0"/>
            </a:xfrm>
            <a:custGeom>
              <a:avLst/>
              <a:gdLst/>
              <a:ahLst/>
              <a:cxnLst/>
              <a:rect l="l" t="t" r="r" b="b"/>
              <a:pathLst>
                <a:path w="5765800">
                  <a:moveTo>
                    <a:pt x="57658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8755" y="4923154"/>
              <a:ext cx="72390" cy="85090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6153442" y="4800599"/>
            <a:ext cx="148590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:Shipment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(status=PENDING)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136900" y="48513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8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136900" y="4965699"/>
            <a:ext cx="122110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4: Dispatch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Shipment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3855720" y="5417819"/>
            <a:ext cx="162560" cy="162560"/>
            <a:chOff x="3855720" y="5417819"/>
            <a:chExt cx="162560" cy="162560"/>
          </a:xfrm>
        </p:grpSpPr>
        <p:sp>
          <p:nvSpPr>
            <p:cNvPr id="87" name="object 87"/>
            <p:cNvSpPr/>
            <p:nvPr/>
          </p:nvSpPr>
          <p:spPr>
            <a:xfrm>
              <a:off x="3860800" y="54228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860800" y="54228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9" name="object 89"/>
          <p:cNvGrpSpPr/>
          <p:nvPr/>
        </p:nvGrpSpPr>
        <p:grpSpPr>
          <a:xfrm>
            <a:off x="3146425" y="5089524"/>
            <a:ext cx="6638925" cy="447675"/>
            <a:chOff x="3146425" y="5089524"/>
            <a:chExt cx="6638925" cy="447675"/>
          </a:xfrm>
        </p:grpSpPr>
        <p:sp>
          <p:nvSpPr>
            <p:cNvPr id="90" name="object 90"/>
            <p:cNvSpPr/>
            <p:nvPr/>
          </p:nvSpPr>
          <p:spPr>
            <a:xfrm>
              <a:off x="3149600" y="5092699"/>
              <a:ext cx="2159000" cy="0"/>
            </a:xfrm>
            <a:custGeom>
              <a:avLst/>
              <a:gdLst/>
              <a:ahLst/>
              <a:cxnLst/>
              <a:rect l="l" t="t" r="r" b="b"/>
              <a:pathLst>
                <a:path w="2159000">
                  <a:moveTo>
                    <a:pt x="0" y="0"/>
                  </a:moveTo>
                  <a:lnTo>
                    <a:pt x="2159000" y="0"/>
                  </a:lnTo>
                </a:path>
              </a:pathLst>
            </a:custGeom>
            <a:ln w="6350">
              <a:solidFill>
                <a:srgbClr val="BDE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013200" y="5499099"/>
              <a:ext cx="5765800" cy="0"/>
            </a:xfrm>
            <a:custGeom>
              <a:avLst/>
              <a:gdLst/>
              <a:ahLst/>
              <a:cxnLst/>
              <a:rect l="l" t="t" r="r" b="b"/>
              <a:pathLst>
                <a:path w="5765800">
                  <a:moveTo>
                    <a:pt x="0" y="0"/>
                  </a:moveTo>
                  <a:lnTo>
                    <a:pt x="57658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690100" y="54609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6115923" y="5327649"/>
            <a:ext cx="156083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dispatch(carrier,</a:t>
            </a:r>
            <a:r>
              <a:rPr sz="750" b="1" spc="-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trackingNumber)</a:t>
            </a:r>
            <a:endParaRPr sz="7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136900" y="53847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9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10459719" y="5595619"/>
            <a:ext cx="696595" cy="467359"/>
            <a:chOff x="10459719" y="5595619"/>
            <a:chExt cx="696595" cy="467359"/>
          </a:xfrm>
        </p:grpSpPr>
        <p:sp>
          <p:nvSpPr>
            <p:cNvPr id="96" name="object 96"/>
            <p:cNvSpPr/>
            <p:nvPr/>
          </p:nvSpPr>
          <p:spPr>
            <a:xfrm>
              <a:off x="10464799" y="5600699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1524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52400" y="4572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0464799" y="5600699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0" y="457200"/>
                  </a:moveTo>
                  <a:lnTo>
                    <a:pt x="152400" y="4572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0617199" y="5803899"/>
              <a:ext cx="533400" cy="203200"/>
            </a:xfrm>
            <a:custGeom>
              <a:avLst/>
              <a:gdLst/>
              <a:ahLst/>
              <a:cxnLst/>
              <a:rect l="l" t="t" r="r" b="b"/>
              <a:pathLst>
                <a:path w="533400" h="203200">
                  <a:moveTo>
                    <a:pt x="0" y="0"/>
                  </a:moveTo>
                  <a:lnTo>
                    <a:pt x="533400" y="0"/>
                  </a:lnTo>
                </a:path>
                <a:path w="533400" h="203200">
                  <a:moveTo>
                    <a:pt x="533400" y="0"/>
                  </a:moveTo>
                  <a:lnTo>
                    <a:pt x="533400" y="203200"/>
                  </a:lnTo>
                </a:path>
                <a:path w="533400" h="203200">
                  <a:moveTo>
                    <a:pt x="533400" y="203200"/>
                  </a:moveTo>
                  <a:lnTo>
                    <a:pt x="0" y="203200"/>
                  </a:lnTo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0617199" y="5968999"/>
              <a:ext cx="63500" cy="76200"/>
            </a:xfrm>
            <a:custGeom>
              <a:avLst/>
              <a:gdLst/>
              <a:ahLst/>
              <a:cxnLst/>
              <a:rect l="l" t="t" r="r" b="b"/>
              <a:pathLst>
                <a:path w="63500" h="76200">
                  <a:moveTo>
                    <a:pt x="63500" y="0"/>
                  </a:moveTo>
                  <a:lnTo>
                    <a:pt x="0" y="38100"/>
                  </a:lnTo>
                  <a:lnTo>
                    <a:pt x="63500" y="762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10680700" y="5651499"/>
            <a:ext cx="122618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updateStatus(DISPATCHED)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4008437" y="6218554"/>
            <a:ext cx="5775325" cy="85090"/>
            <a:chOff x="4008437" y="6218554"/>
            <a:chExt cx="5775325" cy="85090"/>
          </a:xfrm>
        </p:grpSpPr>
        <p:sp>
          <p:nvSpPr>
            <p:cNvPr id="102" name="object 102"/>
            <p:cNvSpPr/>
            <p:nvPr/>
          </p:nvSpPr>
          <p:spPr>
            <a:xfrm>
              <a:off x="4013200" y="6261099"/>
              <a:ext cx="5765800" cy="0"/>
            </a:xfrm>
            <a:custGeom>
              <a:avLst/>
              <a:gdLst/>
              <a:ahLst/>
              <a:cxnLst/>
              <a:rect l="l" t="t" r="r" b="b"/>
              <a:pathLst>
                <a:path w="5765800">
                  <a:moveTo>
                    <a:pt x="57658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8755" y="6218554"/>
              <a:ext cx="72390" cy="85090"/>
            </a:xfrm>
            <a:prstGeom prst="rect">
              <a:avLst/>
            </a:prstGeom>
          </p:spPr>
        </p:pic>
      </p:grpSp>
      <p:sp>
        <p:nvSpPr>
          <p:cNvPr id="104" name="object 104"/>
          <p:cNvSpPr txBox="1"/>
          <p:nvPr/>
        </p:nvSpPr>
        <p:spPr>
          <a:xfrm>
            <a:off x="6202679" y="6095999"/>
            <a:ext cx="212344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status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=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DISPATCHED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136900" y="6146799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136900" y="6261099"/>
            <a:ext cx="147320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5: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Generate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&amp;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Issue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Invoice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3146425" y="6384924"/>
            <a:ext cx="8836025" cy="490855"/>
            <a:chOff x="3146425" y="6384924"/>
            <a:chExt cx="8836025" cy="490855"/>
          </a:xfrm>
        </p:grpSpPr>
        <p:sp>
          <p:nvSpPr>
            <p:cNvPr id="108" name="object 108"/>
            <p:cNvSpPr/>
            <p:nvPr/>
          </p:nvSpPr>
          <p:spPr>
            <a:xfrm>
              <a:off x="3149600" y="6388099"/>
              <a:ext cx="2730500" cy="0"/>
            </a:xfrm>
            <a:custGeom>
              <a:avLst/>
              <a:gdLst/>
              <a:ahLst/>
              <a:cxnLst/>
              <a:rect l="l" t="t" r="r" b="b"/>
              <a:pathLst>
                <a:path w="2730500">
                  <a:moveTo>
                    <a:pt x="0" y="0"/>
                  </a:moveTo>
                  <a:lnTo>
                    <a:pt x="2730500" y="0"/>
                  </a:lnTo>
                </a:path>
              </a:pathLst>
            </a:custGeom>
            <a:ln w="6350">
              <a:solidFill>
                <a:srgbClr val="BDE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0464800" y="67182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399"/>
                  </a:lnTo>
                  <a:lnTo>
                    <a:pt x="152400" y="1523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0464800" y="67182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399"/>
                  </a:moveTo>
                  <a:lnTo>
                    <a:pt x="152400" y="1523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399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9779000" y="6794499"/>
              <a:ext cx="2197100" cy="0"/>
            </a:xfrm>
            <a:custGeom>
              <a:avLst/>
              <a:gdLst/>
              <a:ahLst/>
              <a:cxnLst/>
              <a:rect l="l" t="t" r="r" b="b"/>
              <a:pathLst>
                <a:path w="2197100">
                  <a:moveTo>
                    <a:pt x="0" y="0"/>
                  </a:moveTo>
                  <a:lnTo>
                    <a:pt x="21971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1887200" y="67563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199"/>
                  </a:lnTo>
                  <a:lnTo>
                    <a:pt x="889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10634630" y="6623050"/>
            <a:ext cx="486409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generate()</a:t>
            </a:r>
            <a:endParaRPr sz="75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136900" y="66802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12593319" y="6891019"/>
            <a:ext cx="696595" cy="467359"/>
            <a:chOff x="12593319" y="6891019"/>
            <a:chExt cx="696595" cy="467359"/>
          </a:xfrm>
        </p:grpSpPr>
        <p:sp>
          <p:nvSpPr>
            <p:cNvPr id="116" name="object 116"/>
            <p:cNvSpPr/>
            <p:nvPr/>
          </p:nvSpPr>
          <p:spPr>
            <a:xfrm>
              <a:off x="12598399" y="6896099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1524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52400" y="4571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2598399" y="6896099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0" y="457199"/>
                  </a:moveTo>
                  <a:lnTo>
                    <a:pt x="152400" y="4571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57199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2750799" y="7099299"/>
              <a:ext cx="533400" cy="203200"/>
            </a:xfrm>
            <a:custGeom>
              <a:avLst/>
              <a:gdLst/>
              <a:ahLst/>
              <a:cxnLst/>
              <a:rect l="l" t="t" r="r" b="b"/>
              <a:pathLst>
                <a:path w="533400" h="203200">
                  <a:moveTo>
                    <a:pt x="0" y="0"/>
                  </a:moveTo>
                  <a:lnTo>
                    <a:pt x="533400" y="0"/>
                  </a:lnTo>
                </a:path>
                <a:path w="533400" h="203200">
                  <a:moveTo>
                    <a:pt x="533400" y="0"/>
                  </a:moveTo>
                  <a:lnTo>
                    <a:pt x="533400" y="203199"/>
                  </a:lnTo>
                </a:path>
                <a:path w="533400" h="203200">
                  <a:moveTo>
                    <a:pt x="533400" y="203199"/>
                  </a:moveTo>
                  <a:lnTo>
                    <a:pt x="0" y="203199"/>
                  </a:lnTo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2750799" y="7264399"/>
              <a:ext cx="63500" cy="76200"/>
            </a:xfrm>
            <a:custGeom>
              <a:avLst/>
              <a:gdLst/>
              <a:ahLst/>
              <a:cxnLst/>
              <a:rect l="l" t="t" r="r" b="b"/>
              <a:pathLst>
                <a:path w="63500" h="76200">
                  <a:moveTo>
                    <a:pt x="63500" y="0"/>
                  </a:moveTo>
                  <a:lnTo>
                    <a:pt x="0" y="38099"/>
                  </a:lnTo>
                  <a:lnTo>
                    <a:pt x="63500" y="76199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12814300" y="6946900"/>
            <a:ext cx="61849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calculateTax()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9774237" y="7513954"/>
            <a:ext cx="2206625" cy="85090"/>
            <a:chOff x="9774237" y="7513954"/>
            <a:chExt cx="2206625" cy="85090"/>
          </a:xfrm>
        </p:grpSpPr>
        <p:sp>
          <p:nvSpPr>
            <p:cNvPr id="122" name="object 122"/>
            <p:cNvSpPr/>
            <p:nvPr/>
          </p:nvSpPr>
          <p:spPr>
            <a:xfrm>
              <a:off x="9779000" y="7556499"/>
              <a:ext cx="2197100" cy="0"/>
            </a:xfrm>
            <a:custGeom>
              <a:avLst/>
              <a:gdLst/>
              <a:ahLst/>
              <a:cxnLst/>
              <a:rect l="l" t="t" r="r" b="b"/>
              <a:pathLst>
                <a:path w="2197100">
                  <a:moveTo>
                    <a:pt x="21971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4555" y="7513954"/>
              <a:ext cx="72390" cy="85089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10236193" y="7391400"/>
            <a:ext cx="128333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:Invoice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(status=DRAFT)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136900" y="74422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9772650" y="7754619"/>
            <a:ext cx="2209800" cy="162560"/>
            <a:chOff x="9772650" y="7754619"/>
            <a:chExt cx="2209800" cy="162560"/>
          </a:xfrm>
        </p:grpSpPr>
        <p:sp>
          <p:nvSpPr>
            <p:cNvPr id="127" name="object 127"/>
            <p:cNvSpPr/>
            <p:nvPr/>
          </p:nvSpPr>
          <p:spPr>
            <a:xfrm>
              <a:off x="10464800" y="77596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0464800" y="77596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9779000" y="7835899"/>
              <a:ext cx="2197100" cy="0"/>
            </a:xfrm>
            <a:custGeom>
              <a:avLst/>
              <a:gdLst/>
              <a:ahLst/>
              <a:cxnLst/>
              <a:rect l="l" t="t" r="r" b="b"/>
              <a:pathLst>
                <a:path w="2197100">
                  <a:moveTo>
                    <a:pt x="0" y="0"/>
                  </a:moveTo>
                  <a:lnTo>
                    <a:pt x="21971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1887200" y="77977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10711355" y="7664450"/>
            <a:ext cx="3327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issue()</a:t>
            </a:r>
            <a:endParaRPr sz="75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136900" y="77216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13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9774237" y="7957819"/>
            <a:ext cx="2981960" cy="264160"/>
            <a:chOff x="9774237" y="7957819"/>
            <a:chExt cx="2981960" cy="264160"/>
          </a:xfrm>
        </p:grpSpPr>
        <p:sp>
          <p:nvSpPr>
            <p:cNvPr id="134" name="object 134"/>
            <p:cNvSpPr/>
            <p:nvPr/>
          </p:nvSpPr>
          <p:spPr>
            <a:xfrm>
              <a:off x="12598400" y="7962899"/>
              <a:ext cx="152400" cy="254000"/>
            </a:xfrm>
            <a:custGeom>
              <a:avLst/>
              <a:gdLst/>
              <a:ahLst/>
              <a:cxnLst/>
              <a:rect l="l" t="t" r="r" b="b"/>
              <a:pathLst>
                <a:path w="152400" h="254000">
                  <a:moveTo>
                    <a:pt x="0" y="254000"/>
                  </a:moveTo>
                  <a:lnTo>
                    <a:pt x="152400" y="2540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9779000" y="8140699"/>
              <a:ext cx="2197100" cy="0"/>
            </a:xfrm>
            <a:custGeom>
              <a:avLst/>
              <a:gdLst/>
              <a:ahLst/>
              <a:cxnLst/>
              <a:rect l="l" t="t" r="r" b="b"/>
              <a:pathLst>
                <a:path w="2197100">
                  <a:moveTo>
                    <a:pt x="21971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4555" y="8098154"/>
              <a:ext cx="72390" cy="85089"/>
            </a:xfrm>
            <a:prstGeom prst="rect">
              <a:avLst/>
            </a:prstGeom>
          </p:spPr>
        </p:pic>
      </p:grpSp>
      <p:sp>
        <p:nvSpPr>
          <p:cNvPr id="137" name="object 137"/>
          <p:cNvSpPr txBox="1"/>
          <p:nvPr/>
        </p:nvSpPr>
        <p:spPr>
          <a:xfrm>
            <a:off x="10389279" y="7975600"/>
            <a:ext cx="97663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status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=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ISSUED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3136900" y="80264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3136900" y="8140700"/>
            <a:ext cx="15570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1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6: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Notify</a:t>
            </a:r>
            <a:r>
              <a:rPr sz="700" b="1" spc="-1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Retailer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of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Shipment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3146425" y="8264525"/>
            <a:ext cx="9439910" cy="490855"/>
            <a:chOff x="3146425" y="8264525"/>
            <a:chExt cx="9439910" cy="490855"/>
          </a:xfrm>
        </p:grpSpPr>
        <p:sp>
          <p:nvSpPr>
            <p:cNvPr id="141" name="object 141"/>
            <p:cNvSpPr/>
            <p:nvPr/>
          </p:nvSpPr>
          <p:spPr>
            <a:xfrm>
              <a:off x="3149600" y="8267700"/>
              <a:ext cx="2921000" cy="0"/>
            </a:xfrm>
            <a:custGeom>
              <a:avLst/>
              <a:gdLst/>
              <a:ahLst/>
              <a:cxnLst/>
              <a:rect l="l" t="t" r="r" b="b"/>
              <a:pathLst>
                <a:path w="2921000">
                  <a:moveTo>
                    <a:pt x="0" y="0"/>
                  </a:moveTo>
                  <a:lnTo>
                    <a:pt x="2921000" y="0"/>
                  </a:lnTo>
                </a:path>
              </a:pathLst>
            </a:custGeom>
            <a:ln w="6350">
              <a:solidFill>
                <a:srgbClr val="BDE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0464800" y="85979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0464800" y="85979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9779000" y="8674100"/>
              <a:ext cx="2801620" cy="0"/>
            </a:xfrm>
            <a:custGeom>
              <a:avLst/>
              <a:gdLst/>
              <a:ahLst/>
              <a:cxnLst/>
              <a:rect l="l" t="t" r="r" b="b"/>
              <a:pathLst>
                <a:path w="2801620">
                  <a:moveTo>
                    <a:pt x="0" y="0"/>
                  </a:moveTo>
                  <a:lnTo>
                    <a:pt x="2801000" y="0"/>
                  </a:lnTo>
                </a:path>
              </a:pathLst>
            </a:custGeom>
            <a:ln w="11429">
              <a:solidFill>
                <a:srgbClr val="2A6BA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10687336" y="8502650"/>
            <a:ext cx="177800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&lt;&lt;create&gt;&gt; </a:t>
            </a: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send(SHIPMENT_UPDATE)</a:t>
            </a:r>
            <a:endParaRPr sz="750">
              <a:latin typeface="Arial"/>
              <a:cs typeface="Arial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3136900" y="85598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15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9774237" y="8936354"/>
            <a:ext cx="2811145" cy="85090"/>
            <a:chOff x="9774237" y="8936354"/>
            <a:chExt cx="2811145" cy="85090"/>
          </a:xfrm>
        </p:grpSpPr>
        <p:sp>
          <p:nvSpPr>
            <p:cNvPr id="148" name="object 148"/>
            <p:cNvSpPr/>
            <p:nvPr/>
          </p:nvSpPr>
          <p:spPr>
            <a:xfrm>
              <a:off x="9779000" y="8978899"/>
              <a:ext cx="2801620" cy="0"/>
            </a:xfrm>
            <a:custGeom>
              <a:avLst/>
              <a:gdLst/>
              <a:ahLst/>
              <a:cxnLst/>
              <a:rect l="l" t="t" r="r" b="b"/>
              <a:pathLst>
                <a:path w="2801620">
                  <a:moveTo>
                    <a:pt x="0" y="0"/>
                  </a:moveTo>
                  <a:lnTo>
                    <a:pt x="280100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4555" y="8936354"/>
              <a:ext cx="72390" cy="85089"/>
            </a:xfrm>
            <a:prstGeom prst="rect">
              <a:avLst/>
            </a:prstGeom>
          </p:spPr>
        </p:pic>
      </p:grpSp>
      <p:sp>
        <p:nvSpPr>
          <p:cNvPr id="150" name="object 150"/>
          <p:cNvSpPr txBox="1"/>
          <p:nvPr/>
        </p:nvSpPr>
        <p:spPr>
          <a:xfrm>
            <a:off x="10546080" y="8813800"/>
            <a:ext cx="203898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notification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708095"/>
                </a:solidFill>
                <a:latin typeface="Arial MT"/>
                <a:cs typeface="Arial MT"/>
              </a:rPr>
              <a:t>sent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3136900" y="88646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3136900" y="8978900"/>
            <a:ext cx="13500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7: Retrieve Tracking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20" dirty="0">
                <a:solidFill>
                  <a:srgbClr val="1D3A5E"/>
                </a:solidFill>
                <a:latin typeface="Arial"/>
                <a:cs typeface="Arial"/>
              </a:rPr>
              <a:t>Info</a:t>
            </a:r>
            <a:endParaRPr sz="700">
              <a:latin typeface="Arial"/>
              <a:cs typeface="Arial"/>
            </a:endParaRPr>
          </a:p>
        </p:txBody>
      </p:sp>
      <p:sp>
        <p:nvSpPr>
          <p:cNvPr id="153" name="object 153"/>
          <p:cNvSpPr/>
          <p:nvPr/>
        </p:nvSpPr>
        <p:spPr>
          <a:xfrm>
            <a:off x="3860800" y="9436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0160">
            <a:solidFill>
              <a:srgbClr val="2A6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4" name="object 154"/>
          <p:cNvGrpSpPr/>
          <p:nvPr/>
        </p:nvGrpSpPr>
        <p:grpSpPr>
          <a:xfrm>
            <a:off x="3146425" y="9102725"/>
            <a:ext cx="6638925" cy="485775"/>
            <a:chOff x="3146425" y="9102725"/>
            <a:chExt cx="6638925" cy="485775"/>
          </a:xfrm>
        </p:grpSpPr>
        <p:sp>
          <p:nvSpPr>
            <p:cNvPr id="155" name="object 155"/>
            <p:cNvSpPr/>
            <p:nvPr/>
          </p:nvSpPr>
          <p:spPr>
            <a:xfrm>
              <a:off x="3149600" y="9105900"/>
              <a:ext cx="2540000" cy="0"/>
            </a:xfrm>
            <a:custGeom>
              <a:avLst/>
              <a:gdLst/>
              <a:ahLst/>
              <a:cxnLst/>
              <a:rect l="l" t="t" r="r" b="b"/>
              <a:pathLst>
                <a:path w="2540000">
                  <a:moveTo>
                    <a:pt x="0" y="0"/>
                  </a:moveTo>
                  <a:lnTo>
                    <a:pt x="2540000" y="0"/>
                  </a:lnTo>
                </a:path>
              </a:pathLst>
            </a:custGeom>
            <a:ln w="6350">
              <a:solidFill>
                <a:srgbClr val="BDE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860800" y="94361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013200" y="9512300"/>
              <a:ext cx="5765800" cy="0"/>
            </a:xfrm>
            <a:custGeom>
              <a:avLst/>
              <a:gdLst/>
              <a:ahLst/>
              <a:cxnLst/>
              <a:rect l="l" t="t" r="r" b="b"/>
              <a:pathLst>
                <a:path w="5765800">
                  <a:moveTo>
                    <a:pt x="0" y="0"/>
                  </a:moveTo>
                  <a:lnTo>
                    <a:pt x="57658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9690100" y="9474200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6507146" y="9340850"/>
            <a:ext cx="7905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getTrackingInfo()</a:t>
            </a:r>
            <a:endParaRPr sz="75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3136900" y="93980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17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4008437" y="9634220"/>
            <a:ext cx="6614159" cy="264160"/>
            <a:chOff x="4008437" y="9634220"/>
            <a:chExt cx="6614159" cy="264160"/>
          </a:xfrm>
        </p:grpSpPr>
        <p:sp>
          <p:nvSpPr>
            <p:cNvPr id="162" name="object 162"/>
            <p:cNvSpPr/>
            <p:nvPr/>
          </p:nvSpPr>
          <p:spPr>
            <a:xfrm>
              <a:off x="10464800" y="9639300"/>
              <a:ext cx="152400" cy="254000"/>
            </a:xfrm>
            <a:custGeom>
              <a:avLst/>
              <a:gdLst/>
              <a:ahLst/>
              <a:cxnLst/>
              <a:rect l="l" t="t" r="r" b="b"/>
              <a:pathLst>
                <a:path w="152400" h="254000">
                  <a:moveTo>
                    <a:pt x="152400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152400" y="2540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0464800" y="9639300"/>
              <a:ext cx="152400" cy="254000"/>
            </a:xfrm>
            <a:custGeom>
              <a:avLst/>
              <a:gdLst/>
              <a:ahLst/>
              <a:cxnLst/>
              <a:rect l="l" t="t" r="r" b="b"/>
              <a:pathLst>
                <a:path w="152400" h="254000">
                  <a:moveTo>
                    <a:pt x="0" y="254000"/>
                  </a:moveTo>
                  <a:lnTo>
                    <a:pt x="152400" y="2540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013200" y="9817100"/>
              <a:ext cx="5765800" cy="0"/>
            </a:xfrm>
            <a:custGeom>
              <a:avLst/>
              <a:gdLst/>
              <a:ahLst/>
              <a:cxnLst/>
              <a:rect l="l" t="t" r="r" b="b"/>
              <a:pathLst>
                <a:path w="5765800">
                  <a:moveTo>
                    <a:pt x="57658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8755" y="9774555"/>
              <a:ext cx="72390" cy="85089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5900343" y="9652000"/>
            <a:ext cx="242633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trackingNumber,</a:t>
            </a:r>
            <a:r>
              <a:rPr sz="700" spc="20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carrier,</a:t>
            </a:r>
            <a:r>
              <a:rPr sz="700" spc="20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estimatedDelivery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136900" y="97028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18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12575554" y="7957055"/>
            <a:ext cx="2294890" cy="1151890"/>
            <a:chOff x="12575554" y="7957055"/>
            <a:chExt cx="2294890" cy="1151890"/>
          </a:xfrm>
        </p:grpSpPr>
        <p:sp>
          <p:nvSpPr>
            <p:cNvPr id="169" name="object 169"/>
            <p:cNvSpPr/>
            <p:nvPr/>
          </p:nvSpPr>
          <p:spPr>
            <a:xfrm>
              <a:off x="12579999" y="7961500"/>
              <a:ext cx="2286000" cy="1143000"/>
            </a:xfrm>
            <a:custGeom>
              <a:avLst/>
              <a:gdLst/>
              <a:ahLst/>
              <a:cxnLst/>
              <a:rect l="l" t="t" r="r" b="b"/>
              <a:pathLst>
                <a:path w="2286000" h="1143000">
                  <a:moveTo>
                    <a:pt x="2285999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2285999" y="1143000"/>
                  </a:lnTo>
                  <a:lnTo>
                    <a:pt x="2285999" y="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2579999" y="7961500"/>
              <a:ext cx="2286000" cy="1143000"/>
            </a:xfrm>
            <a:custGeom>
              <a:avLst/>
              <a:gdLst/>
              <a:ahLst/>
              <a:cxnLst/>
              <a:rect l="l" t="t" r="r" b="b"/>
              <a:pathLst>
                <a:path w="2286000" h="1143000">
                  <a:moveTo>
                    <a:pt x="0" y="1143000"/>
                  </a:moveTo>
                  <a:lnTo>
                    <a:pt x="2285999" y="1143000"/>
                  </a:lnTo>
                  <a:lnTo>
                    <a:pt x="2285999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8890">
              <a:solidFill>
                <a:srgbClr val="CAD4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12630800" y="7980550"/>
            <a:ext cx="3644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D3A5E"/>
                </a:solidFill>
                <a:latin typeface="Arial"/>
                <a:cs typeface="Arial"/>
              </a:rPr>
              <a:t>Legend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12637785" y="8185655"/>
            <a:ext cx="289560" cy="607060"/>
            <a:chOff x="12637785" y="8185655"/>
            <a:chExt cx="289560" cy="607060"/>
          </a:xfrm>
        </p:grpSpPr>
        <p:sp>
          <p:nvSpPr>
            <p:cNvPr id="173" name="object 173"/>
            <p:cNvSpPr/>
            <p:nvPr/>
          </p:nvSpPr>
          <p:spPr>
            <a:xfrm>
              <a:off x="12643500" y="82282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4" name="object 17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54952" y="8185655"/>
              <a:ext cx="72390" cy="85089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12643500" y="83933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6" name="object 17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54952" y="8350755"/>
              <a:ext cx="72390" cy="85089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12643500" y="85584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2A6BA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54952" y="8515855"/>
              <a:ext cx="72390" cy="85089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12643500" y="8660000"/>
              <a:ext cx="254000" cy="127000"/>
            </a:xfrm>
            <a:custGeom>
              <a:avLst/>
              <a:gdLst/>
              <a:ahLst/>
              <a:cxnLst/>
              <a:rect l="l" t="t" r="r" b="b"/>
              <a:pathLst>
                <a:path w="254000" h="127000">
                  <a:moveTo>
                    <a:pt x="254000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54000" y="127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2643500" y="8660000"/>
              <a:ext cx="254000" cy="127000"/>
            </a:xfrm>
            <a:custGeom>
              <a:avLst/>
              <a:gdLst/>
              <a:ahLst/>
              <a:cxnLst/>
              <a:rect l="l" t="t" r="r" b="b"/>
              <a:pathLst>
                <a:path w="254000" h="127000">
                  <a:moveTo>
                    <a:pt x="0" y="127000"/>
                  </a:moveTo>
                  <a:lnTo>
                    <a:pt x="254000" y="127000"/>
                  </a:lnTo>
                  <a:lnTo>
                    <a:pt x="254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1" name="object 181"/>
          <p:cNvSpPr txBox="1"/>
          <p:nvPr/>
        </p:nvSpPr>
        <p:spPr>
          <a:xfrm>
            <a:off x="12986398" y="8171050"/>
            <a:ext cx="117729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Synchronous</a:t>
            </a:r>
            <a:r>
              <a:rPr sz="650" spc="-4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message</a:t>
            </a:r>
            <a:endParaRPr sz="6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Return message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(dashed)</a:t>
            </a:r>
            <a:endParaRPr sz="650" dirty="0">
              <a:latin typeface="Arial MT"/>
              <a:cs typeface="Arial MT"/>
            </a:endParaRPr>
          </a:p>
          <a:p>
            <a:pPr marL="12700" marR="5080">
              <a:lnSpc>
                <a:spcPct val="166700"/>
              </a:lnSpc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&lt;&lt;create&gt;&gt;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instantiation</a:t>
            </a:r>
            <a:r>
              <a:rPr sz="65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Activation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box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(focus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of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 control)</a:t>
            </a:r>
            <a:endParaRPr sz="65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400" y="154135"/>
            <a:ext cx="2329180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BulkCart</a:t>
            </a:r>
            <a:r>
              <a:rPr sz="1200" b="1" spc="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2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Sequence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Diagram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44659"/>
            <a:ext cx="2667000" cy="3796790"/>
            <a:chOff x="0" y="-270798"/>
            <a:chExt cx="2667000" cy="10708927"/>
          </a:xfrm>
        </p:grpSpPr>
        <p:sp>
          <p:nvSpPr>
            <p:cNvPr id="6" name="object 6"/>
            <p:cNvSpPr/>
            <p:nvPr/>
          </p:nvSpPr>
          <p:spPr>
            <a:xfrm>
              <a:off x="0" y="457199"/>
              <a:ext cx="2667000" cy="9980930"/>
            </a:xfrm>
            <a:custGeom>
              <a:avLst/>
              <a:gdLst/>
              <a:ahLst/>
              <a:cxnLst/>
              <a:rect l="l" t="t" r="r" b="b"/>
              <a:pathLst>
                <a:path w="2667000" h="9980930">
                  <a:moveTo>
                    <a:pt x="2667000" y="0"/>
                  </a:moveTo>
                  <a:lnTo>
                    <a:pt x="0" y="0"/>
                  </a:lnTo>
                  <a:lnTo>
                    <a:pt x="0" y="9980800"/>
                  </a:lnTo>
                  <a:lnTo>
                    <a:pt x="2667000" y="99808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FF7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57199"/>
              <a:ext cx="2667000" cy="9980930"/>
            </a:xfrm>
            <a:custGeom>
              <a:avLst/>
              <a:gdLst/>
              <a:ahLst/>
              <a:cxnLst/>
              <a:rect l="l" t="t" r="r" b="b"/>
              <a:pathLst>
                <a:path w="2667000" h="9980930">
                  <a:moveTo>
                    <a:pt x="0" y="9980800"/>
                  </a:moveTo>
                  <a:lnTo>
                    <a:pt x="2667000" y="99808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9980800"/>
                  </a:lnTo>
                  <a:close/>
                </a:path>
              </a:pathLst>
            </a:custGeom>
            <a:ln w="12700">
              <a:solidFill>
                <a:srgbClr val="F4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-270798"/>
              <a:ext cx="2667000" cy="727999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2667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667000" y="4572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1828" y="622300"/>
            <a:ext cx="861622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Story</a:t>
            </a:r>
            <a:r>
              <a:rPr sz="9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Outline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612" y="1147566"/>
            <a:ext cx="1055370" cy="4572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03.01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r>
              <a:rPr sz="700" b="1" dirty="0">
                <a:solidFill>
                  <a:srgbClr val="1A1F2B"/>
                </a:solidFill>
                <a:latin typeface="Arial"/>
                <a:cs typeface="Arial"/>
              </a:rPr>
              <a:t>Manage Product </a:t>
            </a: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Catalog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r>
              <a:rPr sz="700" b="1" dirty="0">
                <a:solidFill>
                  <a:srgbClr val="1A1F2B"/>
                </a:solidFill>
                <a:latin typeface="Arial"/>
                <a:cs typeface="Arial"/>
              </a:rPr>
              <a:t>Supplier </a:t>
            </a: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(Vendor)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512" y="1147566"/>
            <a:ext cx="274955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525">
              <a:lnSpc>
                <a:spcPct val="119000"/>
              </a:lnSpc>
              <a:spcBef>
                <a:spcPts val="100"/>
              </a:spcBef>
            </a:pP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Story:</a:t>
            </a:r>
            <a:r>
              <a:rPr sz="700" b="1" spc="50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Title:</a:t>
            </a:r>
            <a:endParaRPr sz="700">
              <a:latin typeface="Arial"/>
              <a:cs typeface="Arial"/>
            </a:endParaRPr>
          </a:p>
          <a:p>
            <a:pPr marR="5080">
              <a:lnSpc>
                <a:spcPct val="119000"/>
              </a:lnSpc>
              <a:spcBef>
                <a:spcPts val="400"/>
              </a:spcBef>
            </a:pP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Actor:</a:t>
            </a:r>
            <a:r>
              <a:rPr sz="700" b="1" spc="50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Goal: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512" y="1706366"/>
            <a:ext cx="1688464" cy="2498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414655">
              <a:lnSpc>
                <a:spcPct val="119000"/>
              </a:lnSpc>
              <a:spcBef>
                <a:spcPts val="100"/>
              </a:spcBef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Supplier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views,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creates,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edits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and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deactivates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products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in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their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catalog.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Categories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and</a:t>
            </a:r>
            <a:endParaRPr sz="700" dirty="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160"/>
              </a:spcBef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units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are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selected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from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ref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tables.</a:t>
            </a:r>
            <a:endParaRPr sz="7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Key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Steps:</a:t>
            </a:r>
            <a:endParaRPr sz="700" dirty="0">
              <a:latin typeface="Arial"/>
              <a:cs typeface="Arial"/>
            </a:endParaRPr>
          </a:p>
          <a:p>
            <a:pPr marL="114300" marR="227329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Supplier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views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their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current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product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listings</a:t>
            </a:r>
            <a:endParaRPr sz="700" dirty="0">
              <a:latin typeface="Arial MT"/>
              <a:cs typeface="Arial MT"/>
            </a:endParaRPr>
          </a:p>
          <a:p>
            <a:pPr marL="114300" marR="48895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Supplier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creates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new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product,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system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persists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to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Products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table</a:t>
            </a:r>
            <a:endParaRPr sz="700" dirty="0">
              <a:latin typeface="Arial MT"/>
              <a:cs typeface="Arial MT"/>
            </a:endParaRPr>
          </a:p>
          <a:p>
            <a:pPr marL="114300" marR="5080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Supplier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assigns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category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from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ProductCategory_Ref</a:t>
            </a:r>
            <a:endParaRPr sz="700" dirty="0">
              <a:latin typeface="Arial MT"/>
              <a:cs typeface="Arial MT"/>
            </a:endParaRPr>
          </a:p>
          <a:p>
            <a:pPr marL="114300" marR="306070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Supplier assigns a unit 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of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measure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from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Unit_Ref</a:t>
            </a:r>
            <a:endParaRPr sz="700" dirty="0">
              <a:latin typeface="Arial MT"/>
              <a:cs typeface="Arial MT"/>
            </a:endParaRPr>
          </a:p>
          <a:p>
            <a:pPr marL="114300" marR="158115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System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calculates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applicable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price via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getApplicablePrice()</a:t>
            </a:r>
            <a:endParaRPr sz="700" dirty="0">
              <a:latin typeface="Arial MT"/>
              <a:cs typeface="Arial MT"/>
            </a:endParaRPr>
          </a:p>
          <a:p>
            <a:pPr marL="114300" marR="113664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Supplier edits existing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product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details via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updateDetails()</a:t>
            </a:r>
            <a:endParaRPr sz="700" dirty="0">
              <a:latin typeface="Arial MT"/>
              <a:cs typeface="Arial MT"/>
            </a:endParaRPr>
          </a:p>
          <a:p>
            <a:pPr marL="114300" marR="103505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Supplier deactivates a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product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via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setActive(false)</a:t>
            </a:r>
            <a:endParaRPr sz="7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50945" y="982344"/>
            <a:ext cx="9106535" cy="9359265"/>
            <a:chOff x="3750945" y="982344"/>
            <a:chExt cx="9106535" cy="9359265"/>
          </a:xfrm>
        </p:grpSpPr>
        <p:sp>
          <p:nvSpPr>
            <p:cNvPr id="14" name="object 14"/>
            <p:cNvSpPr/>
            <p:nvPr/>
          </p:nvSpPr>
          <p:spPr>
            <a:xfrm>
              <a:off x="3759200" y="990599"/>
              <a:ext cx="406400" cy="749300"/>
            </a:xfrm>
            <a:custGeom>
              <a:avLst/>
              <a:gdLst/>
              <a:ahLst/>
              <a:cxnLst/>
              <a:rect l="l" t="t" r="r" b="b"/>
              <a:pathLst>
                <a:path w="406400" h="749300">
                  <a:moveTo>
                    <a:pt x="342900" y="139700"/>
                  </a:moveTo>
                  <a:lnTo>
                    <a:pt x="335777" y="95544"/>
                  </a:lnTo>
                  <a:lnTo>
                    <a:pt x="315945" y="57195"/>
                  </a:lnTo>
                  <a:lnTo>
                    <a:pt x="285704" y="26954"/>
                  </a:lnTo>
                  <a:lnTo>
                    <a:pt x="247355" y="7122"/>
                  </a:lnTo>
                  <a:lnTo>
                    <a:pt x="203200" y="0"/>
                  </a:lnTo>
                  <a:lnTo>
                    <a:pt x="159044" y="7122"/>
                  </a:lnTo>
                  <a:lnTo>
                    <a:pt x="120695" y="26954"/>
                  </a:lnTo>
                  <a:lnTo>
                    <a:pt x="90454" y="57195"/>
                  </a:lnTo>
                  <a:lnTo>
                    <a:pt x="70622" y="95544"/>
                  </a:lnTo>
                  <a:lnTo>
                    <a:pt x="63500" y="139700"/>
                  </a:lnTo>
                  <a:lnTo>
                    <a:pt x="70622" y="183856"/>
                  </a:lnTo>
                  <a:lnTo>
                    <a:pt x="90454" y="222205"/>
                  </a:lnTo>
                  <a:lnTo>
                    <a:pt x="120695" y="252446"/>
                  </a:lnTo>
                  <a:lnTo>
                    <a:pt x="159044" y="272278"/>
                  </a:lnTo>
                  <a:lnTo>
                    <a:pt x="203200" y="279400"/>
                  </a:lnTo>
                  <a:lnTo>
                    <a:pt x="247355" y="272278"/>
                  </a:lnTo>
                  <a:lnTo>
                    <a:pt x="285704" y="252446"/>
                  </a:lnTo>
                  <a:lnTo>
                    <a:pt x="315945" y="222205"/>
                  </a:lnTo>
                  <a:lnTo>
                    <a:pt x="335777" y="183856"/>
                  </a:lnTo>
                  <a:lnTo>
                    <a:pt x="342900" y="139700"/>
                  </a:lnTo>
                </a:path>
                <a:path w="406400" h="749300">
                  <a:moveTo>
                    <a:pt x="203200" y="279400"/>
                  </a:moveTo>
                  <a:lnTo>
                    <a:pt x="203200" y="558800"/>
                  </a:lnTo>
                </a:path>
                <a:path w="406400" h="749300">
                  <a:moveTo>
                    <a:pt x="0" y="393700"/>
                  </a:moveTo>
                  <a:lnTo>
                    <a:pt x="406400" y="393700"/>
                  </a:lnTo>
                </a:path>
                <a:path w="406400" h="749300">
                  <a:moveTo>
                    <a:pt x="203200" y="558800"/>
                  </a:moveTo>
                  <a:lnTo>
                    <a:pt x="38100" y="749300"/>
                  </a:lnTo>
                </a:path>
                <a:path w="406400" h="749300">
                  <a:moveTo>
                    <a:pt x="203200" y="558800"/>
                  </a:moveTo>
                  <a:lnTo>
                    <a:pt x="368300" y="749300"/>
                  </a:lnTo>
                </a:path>
              </a:pathLst>
            </a:custGeom>
            <a:ln w="16510">
              <a:solidFill>
                <a:srgbClr val="1D3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1689099"/>
              <a:ext cx="8890000" cy="8647430"/>
            </a:xfrm>
            <a:custGeom>
              <a:avLst/>
              <a:gdLst/>
              <a:ahLst/>
              <a:cxnLst/>
              <a:rect l="l" t="t" r="r" b="b"/>
              <a:pathLst>
                <a:path w="8890000" h="8647430">
                  <a:moveTo>
                    <a:pt x="0" y="5892800"/>
                  </a:moveTo>
                  <a:lnTo>
                    <a:pt x="0" y="8647300"/>
                  </a:lnTo>
                </a:path>
                <a:path w="8890000" h="8647430">
                  <a:moveTo>
                    <a:pt x="0" y="5308600"/>
                  </a:moveTo>
                  <a:lnTo>
                    <a:pt x="0" y="5740400"/>
                  </a:lnTo>
                </a:path>
                <a:path w="8890000" h="8647430">
                  <a:moveTo>
                    <a:pt x="0" y="3898900"/>
                  </a:moveTo>
                  <a:lnTo>
                    <a:pt x="0" y="5156200"/>
                  </a:lnTo>
                </a:path>
                <a:path w="8890000" h="8647430">
                  <a:moveTo>
                    <a:pt x="0" y="2489200"/>
                  </a:moveTo>
                  <a:lnTo>
                    <a:pt x="0" y="3746500"/>
                  </a:lnTo>
                </a:path>
                <a:path w="8890000" h="8647430">
                  <a:moveTo>
                    <a:pt x="0" y="1638300"/>
                  </a:moveTo>
                  <a:lnTo>
                    <a:pt x="0" y="2336800"/>
                  </a:lnTo>
                </a:path>
                <a:path w="8890000" h="8647430">
                  <a:moveTo>
                    <a:pt x="0" y="787400"/>
                  </a:moveTo>
                  <a:lnTo>
                    <a:pt x="0" y="1485900"/>
                  </a:lnTo>
                </a:path>
                <a:path w="8890000" h="8647430">
                  <a:moveTo>
                    <a:pt x="0" y="0"/>
                  </a:moveTo>
                  <a:lnTo>
                    <a:pt x="0" y="635000"/>
                  </a:lnTo>
                </a:path>
                <a:path w="8890000" h="8647430">
                  <a:moveTo>
                    <a:pt x="2794000" y="6197600"/>
                  </a:moveTo>
                  <a:lnTo>
                    <a:pt x="2794000" y="8647300"/>
                  </a:lnTo>
                </a:path>
                <a:path w="8890000" h="8647430">
                  <a:moveTo>
                    <a:pt x="2794000" y="5613400"/>
                  </a:moveTo>
                  <a:lnTo>
                    <a:pt x="2794000" y="5943600"/>
                  </a:lnTo>
                </a:path>
                <a:path w="8890000" h="8647430">
                  <a:moveTo>
                    <a:pt x="2794000" y="4483100"/>
                  </a:moveTo>
                  <a:lnTo>
                    <a:pt x="2794000" y="5334000"/>
                  </a:lnTo>
                </a:path>
                <a:path w="8890000" h="8647430">
                  <a:moveTo>
                    <a:pt x="2794000" y="3073400"/>
                  </a:moveTo>
                  <a:lnTo>
                    <a:pt x="2794000" y="4330700"/>
                  </a:lnTo>
                </a:path>
                <a:path w="8890000" h="8647430">
                  <a:moveTo>
                    <a:pt x="2794000" y="1943100"/>
                  </a:moveTo>
                  <a:lnTo>
                    <a:pt x="2794000" y="2921000"/>
                  </a:lnTo>
                </a:path>
                <a:path w="8890000" h="8647430">
                  <a:moveTo>
                    <a:pt x="2794000" y="1092200"/>
                  </a:moveTo>
                  <a:lnTo>
                    <a:pt x="2794000" y="1663700"/>
                  </a:lnTo>
                </a:path>
                <a:path w="8890000" h="8647430">
                  <a:moveTo>
                    <a:pt x="2794000" y="0"/>
                  </a:moveTo>
                  <a:lnTo>
                    <a:pt x="2794000" y="812800"/>
                  </a:lnTo>
                </a:path>
                <a:path w="8890000" h="8647430">
                  <a:moveTo>
                    <a:pt x="5969000" y="2794000"/>
                  </a:moveTo>
                  <a:lnTo>
                    <a:pt x="5969000" y="8647300"/>
                  </a:lnTo>
                </a:path>
                <a:path w="8890000" h="8647430">
                  <a:moveTo>
                    <a:pt x="5969000" y="0"/>
                  </a:moveTo>
                  <a:lnTo>
                    <a:pt x="5969000" y="2514600"/>
                  </a:lnTo>
                </a:path>
                <a:path w="8890000" h="8647430">
                  <a:moveTo>
                    <a:pt x="8890000" y="4203700"/>
                  </a:moveTo>
                  <a:lnTo>
                    <a:pt x="8890000" y="7466200"/>
                  </a:lnTo>
                </a:path>
                <a:path w="8890000" h="8647430">
                  <a:moveTo>
                    <a:pt x="8890000" y="0"/>
                  </a:moveTo>
                  <a:lnTo>
                    <a:pt x="8890000" y="3924300"/>
                  </a:lnTo>
                </a:path>
              </a:pathLst>
            </a:custGeom>
            <a:ln w="10159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899150" y="990599"/>
            <a:ext cx="1714500" cy="330200"/>
          </a:xfrm>
          <a:prstGeom prst="rect">
            <a:avLst/>
          </a:prstGeom>
          <a:solidFill>
            <a:srgbClr val="1D3A5E"/>
          </a:solidFill>
          <a:ln w="12700">
            <a:solidFill>
              <a:srgbClr val="2A6BA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i="1" spc="-10" dirty="0">
                <a:solidFill>
                  <a:srgbClr val="FFFF99"/>
                </a:solidFill>
                <a:latin typeface="Arial"/>
                <a:cs typeface="Arial"/>
              </a:rPr>
              <a:t>«entity»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:Product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83650" y="990599"/>
            <a:ext cx="2095500" cy="330200"/>
          </a:xfrm>
          <a:prstGeom prst="rect">
            <a:avLst/>
          </a:prstGeom>
          <a:solidFill>
            <a:srgbClr val="266749"/>
          </a:solidFill>
          <a:ln w="12700">
            <a:solidFill>
              <a:srgbClr val="2A6BA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i="1" spc="-10" dirty="0">
                <a:solidFill>
                  <a:srgbClr val="FFFF99"/>
                </a:solidFill>
                <a:latin typeface="Arial"/>
                <a:cs typeface="Arial"/>
              </a:rPr>
              <a:t>«ref»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:ProductCategory_Ref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153900" y="990599"/>
            <a:ext cx="1397000" cy="330200"/>
          </a:xfrm>
          <a:prstGeom prst="rect">
            <a:avLst/>
          </a:prstGeom>
          <a:solidFill>
            <a:srgbClr val="266749"/>
          </a:solidFill>
          <a:ln w="12700">
            <a:solidFill>
              <a:srgbClr val="2A6BA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i="1" spc="-10" dirty="0">
                <a:solidFill>
                  <a:srgbClr val="FFFF99"/>
                </a:solidFill>
                <a:latin typeface="Arial"/>
                <a:cs typeface="Arial"/>
              </a:rPr>
              <a:t>«ref»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:Unit_Ref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8300" y="1778000"/>
            <a:ext cx="1344930" cy="220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265">
              <a:lnSpc>
                <a:spcPts val="830"/>
              </a:lnSpc>
              <a:spcBef>
                <a:spcPts val="100"/>
              </a:spcBef>
            </a:pPr>
            <a:r>
              <a:rPr sz="800" b="1" spc="-10" dirty="0">
                <a:solidFill>
                  <a:srgbClr val="1A1F2B"/>
                </a:solidFill>
                <a:latin typeface="Arial"/>
                <a:cs typeface="Arial"/>
              </a:rPr>
              <a:t>Supplier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1: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View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Product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Listings</a:t>
            </a:r>
            <a:endParaRPr sz="7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86200" y="23240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0160">
            <a:solidFill>
              <a:srgbClr val="2A6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2917825" y="1990724"/>
            <a:ext cx="2994025" cy="485775"/>
            <a:chOff x="2917825" y="1990724"/>
            <a:chExt cx="2994025" cy="485775"/>
          </a:xfrm>
        </p:grpSpPr>
        <p:sp>
          <p:nvSpPr>
            <p:cNvPr id="22" name="object 22"/>
            <p:cNvSpPr/>
            <p:nvPr/>
          </p:nvSpPr>
          <p:spPr>
            <a:xfrm>
              <a:off x="2921000" y="1993899"/>
              <a:ext cx="2349500" cy="0"/>
            </a:xfrm>
            <a:custGeom>
              <a:avLst/>
              <a:gdLst/>
              <a:ahLst/>
              <a:cxnLst/>
              <a:rect l="l" t="t" r="r" b="b"/>
              <a:pathLst>
                <a:path w="2349500">
                  <a:moveTo>
                    <a:pt x="0" y="0"/>
                  </a:moveTo>
                  <a:lnTo>
                    <a:pt x="23495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86200" y="23240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38600" y="24002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16600" y="23621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14770" y="2228850"/>
            <a:ext cx="91503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viewOwnProducts()</a:t>
            </a:r>
            <a:endParaRPr sz="7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08300" y="22860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33837" y="2496819"/>
            <a:ext cx="2804160" cy="289560"/>
            <a:chOff x="4033837" y="2496819"/>
            <a:chExt cx="2804160" cy="289560"/>
          </a:xfrm>
        </p:grpSpPr>
        <p:sp>
          <p:nvSpPr>
            <p:cNvPr id="29" name="object 29"/>
            <p:cNvSpPr/>
            <p:nvPr/>
          </p:nvSpPr>
          <p:spPr>
            <a:xfrm>
              <a:off x="6680200" y="25018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80200" y="25018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38600" y="27050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18669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2662554"/>
              <a:ext cx="72390" cy="8509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544275" y="2540000"/>
            <a:ext cx="8559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List&lt;Product&gt;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08300" y="25908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08300" y="2717800"/>
            <a:ext cx="12611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2: Create New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Product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917825" y="2841624"/>
            <a:ext cx="2993390" cy="490855"/>
            <a:chOff x="2917825" y="2841624"/>
            <a:chExt cx="2993390" cy="490855"/>
          </a:xfrm>
        </p:grpSpPr>
        <p:sp>
          <p:nvSpPr>
            <p:cNvPr id="37" name="object 37"/>
            <p:cNvSpPr/>
            <p:nvPr/>
          </p:nvSpPr>
          <p:spPr>
            <a:xfrm>
              <a:off x="2921000" y="2844799"/>
              <a:ext cx="2260600" cy="0"/>
            </a:xfrm>
            <a:custGeom>
              <a:avLst/>
              <a:gdLst/>
              <a:ahLst/>
              <a:cxnLst/>
              <a:rect l="l" t="t" r="r" b="b"/>
              <a:pathLst>
                <a:path w="2260600">
                  <a:moveTo>
                    <a:pt x="0" y="0"/>
                  </a:moveTo>
                  <a:lnTo>
                    <a:pt x="22606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86200" y="31749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86200" y="31749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38600" y="32511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ln w="11430">
              <a:solidFill>
                <a:srgbClr val="2A6BA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16600" y="32130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784155" y="3079750"/>
            <a:ext cx="23761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&lt;&lt;create&gt;&gt;</a:t>
            </a:r>
            <a:r>
              <a:rPr sz="750" b="1" spc="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addProduct(name,</a:t>
            </a:r>
            <a:r>
              <a:rPr sz="750" b="1" spc="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sku,</a:t>
            </a:r>
            <a:r>
              <a:rPr sz="750" b="1" spc="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price,</a:t>
            </a:r>
            <a:r>
              <a:rPr sz="750" b="1" spc="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inventory)</a:t>
            </a:r>
            <a:endParaRPr sz="7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08300" y="31369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033837" y="3347719"/>
            <a:ext cx="2804160" cy="289560"/>
            <a:chOff x="4033837" y="3347719"/>
            <a:chExt cx="2804160" cy="289560"/>
          </a:xfrm>
        </p:grpSpPr>
        <p:sp>
          <p:nvSpPr>
            <p:cNvPr id="45" name="object 45"/>
            <p:cNvSpPr/>
            <p:nvPr/>
          </p:nvSpPr>
          <p:spPr>
            <a:xfrm>
              <a:off x="6680200" y="33527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80200" y="33527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38600" y="35559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18669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3513454"/>
              <a:ext cx="72390" cy="85090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4310957" y="3390900"/>
            <a:ext cx="132270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:Product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(isActive=TRUE)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908300" y="34417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08300" y="3568700"/>
            <a:ext cx="205613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3: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Assign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Category from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Reference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Table</a:t>
            </a:r>
            <a:endParaRPr sz="7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886200" y="40258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0160">
            <a:solidFill>
              <a:srgbClr val="2A6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2917825" y="3692524"/>
            <a:ext cx="5978525" cy="485775"/>
            <a:chOff x="2917825" y="3692524"/>
            <a:chExt cx="5978525" cy="485775"/>
          </a:xfrm>
        </p:grpSpPr>
        <p:sp>
          <p:nvSpPr>
            <p:cNvPr id="54" name="object 54"/>
            <p:cNvSpPr/>
            <p:nvPr/>
          </p:nvSpPr>
          <p:spPr>
            <a:xfrm>
              <a:off x="2921000" y="3695699"/>
              <a:ext cx="3238500" cy="0"/>
            </a:xfrm>
            <a:custGeom>
              <a:avLst/>
              <a:gdLst/>
              <a:ahLst/>
              <a:cxnLst/>
              <a:rect l="l" t="t" r="r" b="b"/>
              <a:pathLst>
                <a:path w="3238500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86200" y="40258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38600" y="4102099"/>
              <a:ext cx="4851400" cy="0"/>
            </a:xfrm>
            <a:custGeom>
              <a:avLst/>
              <a:gdLst/>
              <a:ahLst/>
              <a:cxnLst/>
              <a:rect l="l" t="t" r="r" b="b"/>
              <a:pathLst>
                <a:path w="4851400">
                  <a:moveTo>
                    <a:pt x="0" y="0"/>
                  </a:moveTo>
                  <a:lnTo>
                    <a:pt x="48514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801100" y="40639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959395" y="3930650"/>
            <a:ext cx="101028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getActiveCategories()</a:t>
            </a:r>
            <a:endParaRPr sz="7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908300" y="39878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033837" y="4198619"/>
            <a:ext cx="5979160" cy="289560"/>
            <a:chOff x="4033837" y="4198619"/>
            <a:chExt cx="5979160" cy="289560"/>
          </a:xfrm>
        </p:grpSpPr>
        <p:sp>
          <p:nvSpPr>
            <p:cNvPr id="61" name="object 61"/>
            <p:cNvSpPr/>
            <p:nvPr/>
          </p:nvSpPr>
          <p:spPr>
            <a:xfrm>
              <a:off x="9855200" y="42036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855200" y="42036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038600" y="4406899"/>
              <a:ext cx="4851400" cy="0"/>
            </a:xfrm>
            <a:custGeom>
              <a:avLst/>
              <a:gdLst/>
              <a:ahLst/>
              <a:cxnLst/>
              <a:rect l="l" t="t" r="r" b="b"/>
              <a:pathLst>
                <a:path w="4851400">
                  <a:moveTo>
                    <a:pt x="48514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4364354"/>
              <a:ext cx="72390" cy="85090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5890818" y="4241799"/>
            <a:ext cx="11474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List&lt;CategoryName&gt;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908300" y="42925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4032250" y="4605019"/>
            <a:ext cx="2805430" cy="162560"/>
            <a:chOff x="4032250" y="4605019"/>
            <a:chExt cx="2805430" cy="162560"/>
          </a:xfrm>
        </p:grpSpPr>
        <p:sp>
          <p:nvSpPr>
            <p:cNvPr id="68" name="object 68"/>
            <p:cNvSpPr/>
            <p:nvPr/>
          </p:nvSpPr>
          <p:spPr>
            <a:xfrm>
              <a:off x="6680200" y="46100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680200" y="46100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038600" y="46862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816600" y="46481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297790" y="4514849"/>
            <a:ext cx="13487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updateDetails(categoryId </a:t>
            </a:r>
            <a:r>
              <a:rPr sz="750" b="1" spc="-25" dirty="0">
                <a:solidFill>
                  <a:srgbClr val="1A1F2B"/>
                </a:solidFill>
                <a:latin typeface="Arial"/>
                <a:cs typeface="Arial"/>
              </a:rPr>
              <a:t>FK)</a:t>
            </a:r>
            <a:endParaRPr sz="7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908300" y="45719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7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4033837" y="4923154"/>
            <a:ext cx="1876425" cy="85090"/>
            <a:chOff x="4033837" y="4923154"/>
            <a:chExt cx="1876425" cy="85090"/>
          </a:xfrm>
        </p:grpSpPr>
        <p:sp>
          <p:nvSpPr>
            <p:cNvPr id="75" name="object 75"/>
            <p:cNvSpPr/>
            <p:nvPr/>
          </p:nvSpPr>
          <p:spPr>
            <a:xfrm>
              <a:off x="4038600" y="49656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18669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4923154"/>
              <a:ext cx="72390" cy="85090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4457820" y="4800599"/>
            <a:ext cx="102870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category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assigned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908300" y="48513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8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908300" y="4978399"/>
            <a:ext cx="233807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4: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Assign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Unit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of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Measure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from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Reference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Table</a:t>
            </a:r>
            <a:endParaRPr sz="70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886200" y="54355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0160">
            <a:solidFill>
              <a:srgbClr val="2A6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1" name="object 81"/>
          <p:cNvGrpSpPr/>
          <p:nvPr/>
        </p:nvGrpSpPr>
        <p:grpSpPr>
          <a:xfrm>
            <a:off x="2917825" y="5102224"/>
            <a:ext cx="9242425" cy="485775"/>
            <a:chOff x="2917825" y="5102224"/>
            <a:chExt cx="9242425" cy="485775"/>
          </a:xfrm>
        </p:grpSpPr>
        <p:sp>
          <p:nvSpPr>
            <p:cNvPr id="82" name="object 82"/>
            <p:cNvSpPr/>
            <p:nvPr/>
          </p:nvSpPr>
          <p:spPr>
            <a:xfrm>
              <a:off x="2921000" y="5105399"/>
              <a:ext cx="3556000" cy="0"/>
            </a:xfrm>
            <a:custGeom>
              <a:avLst/>
              <a:gdLst/>
              <a:ahLst/>
              <a:cxnLst/>
              <a:rect l="l" t="t" r="r" b="b"/>
              <a:pathLst>
                <a:path w="3556000">
                  <a:moveTo>
                    <a:pt x="0" y="0"/>
                  </a:moveTo>
                  <a:lnTo>
                    <a:pt x="35560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886200" y="54355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038600" y="5511799"/>
              <a:ext cx="8115300" cy="0"/>
            </a:xfrm>
            <a:custGeom>
              <a:avLst/>
              <a:gdLst/>
              <a:ahLst/>
              <a:cxnLst/>
              <a:rect l="l" t="t" r="r" b="b"/>
              <a:pathLst>
                <a:path w="8115300">
                  <a:moveTo>
                    <a:pt x="0" y="0"/>
                  </a:moveTo>
                  <a:lnTo>
                    <a:pt x="81153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2065000" y="54736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7718408" y="5340349"/>
            <a:ext cx="75628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getActiveUnits()</a:t>
            </a:r>
            <a:endParaRPr sz="75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908300" y="53974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9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4033837" y="5608319"/>
            <a:ext cx="8900160" cy="289560"/>
            <a:chOff x="4033837" y="5608319"/>
            <a:chExt cx="8900160" cy="289560"/>
          </a:xfrm>
        </p:grpSpPr>
        <p:sp>
          <p:nvSpPr>
            <p:cNvPr id="89" name="object 89"/>
            <p:cNvSpPr/>
            <p:nvPr/>
          </p:nvSpPr>
          <p:spPr>
            <a:xfrm>
              <a:off x="12776200" y="56133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2776200" y="56133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038600" y="5816599"/>
              <a:ext cx="8115300" cy="0"/>
            </a:xfrm>
            <a:custGeom>
              <a:avLst/>
              <a:gdLst/>
              <a:ahLst/>
              <a:cxnLst/>
              <a:rect l="l" t="t" r="r" b="b"/>
              <a:pathLst>
                <a:path w="8115300">
                  <a:moveTo>
                    <a:pt x="81153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5774054"/>
              <a:ext cx="72390" cy="85090"/>
            </a:xfrm>
            <a:prstGeom prst="rect">
              <a:avLst/>
            </a:prstGeom>
          </p:spPr>
        </p:pic>
      </p:grpSp>
      <p:sp>
        <p:nvSpPr>
          <p:cNvPr id="93" name="object 93"/>
          <p:cNvSpPr txBox="1"/>
          <p:nvPr/>
        </p:nvSpPr>
        <p:spPr>
          <a:xfrm>
            <a:off x="6761480" y="5651499"/>
            <a:ext cx="316484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4555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List&lt;UnitLabel&gt;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908300" y="5702299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10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4032250" y="6014719"/>
            <a:ext cx="2805430" cy="162560"/>
            <a:chOff x="4032250" y="6014719"/>
            <a:chExt cx="2805430" cy="162560"/>
          </a:xfrm>
        </p:grpSpPr>
        <p:sp>
          <p:nvSpPr>
            <p:cNvPr id="96" name="object 96"/>
            <p:cNvSpPr/>
            <p:nvPr/>
          </p:nvSpPr>
          <p:spPr>
            <a:xfrm>
              <a:off x="6680200" y="60197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680200" y="60197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038600" y="60959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816600" y="60578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4451333" y="5924549"/>
            <a:ext cx="104140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updateDetails(unit</a:t>
            </a:r>
            <a:r>
              <a:rPr sz="750" b="1" spc="11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spc="-25" dirty="0">
                <a:solidFill>
                  <a:srgbClr val="1A1F2B"/>
                </a:solidFill>
                <a:latin typeface="Arial"/>
                <a:cs typeface="Arial"/>
              </a:rPr>
              <a:t>FK)</a:t>
            </a:r>
            <a:endParaRPr sz="75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908300" y="5981699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4033837" y="6332854"/>
            <a:ext cx="1876425" cy="85090"/>
            <a:chOff x="4033837" y="6332854"/>
            <a:chExt cx="1876425" cy="85090"/>
          </a:xfrm>
        </p:grpSpPr>
        <p:sp>
          <p:nvSpPr>
            <p:cNvPr id="103" name="object 103"/>
            <p:cNvSpPr/>
            <p:nvPr/>
          </p:nvSpPr>
          <p:spPr>
            <a:xfrm>
              <a:off x="4038600" y="63753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18669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6332854"/>
              <a:ext cx="72390" cy="85090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4556633" y="6210299"/>
            <a:ext cx="83121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unit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assigned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2908300" y="6261099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2908300" y="6388099"/>
            <a:ext cx="18192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5: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Edit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Details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&amp;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Deactivate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Product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2917825" y="6511925"/>
            <a:ext cx="3181350" cy="490855"/>
            <a:chOff x="2917825" y="6511925"/>
            <a:chExt cx="3181350" cy="490855"/>
          </a:xfrm>
        </p:grpSpPr>
        <p:sp>
          <p:nvSpPr>
            <p:cNvPr id="109" name="object 109"/>
            <p:cNvSpPr/>
            <p:nvPr/>
          </p:nvSpPr>
          <p:spPr>
            <a:xfrm>
              <a:off x="2921000" y="6515100"/>
              <a:ext cx="3175000" cy="0"/>
            </a:xfrm>
            <a:custGeom>
              <a:avLst/>
              <a:gdLst/>
              <a:ahLst/>
              <a:cxnLst/>
              <a:rect l="l" t="t" r="r" b="b"/>
              <a:pathLst>
                <a:path w="3175000">
                  <a:moveTo>
                    <a:pt x="0" y="0"/>
                  </a:moveTo>
                  <a:lnTo>
                    <a:pt x="31750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886200" y="6845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399"/>
                  </a:lnTo>
                  <a:lnTo>
                    <a:pt x="152400" y="1523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886200" y="6845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399"/>
                  </a:moveTo>
                  <a:lnTo>
                    <a:pt x="152400" y="1523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399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038600" y="6921500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816600" y="6883400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199"/>
                  </a:lnTo>
                  <a:lnTo>
                    <a:pt x="889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3977513" y="6750050"/>
            <a:ext cx="198945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updateDetails(price,</a:t>
            </a:r>
            <a:r>
              <a:rPr sz="750" b="1" spc="-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inventory,</a:t>
            </a:r>
            <a:r>
              <a:rPr sz="750" b="1" spc="-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description)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2908300" y="68072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13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4033837" y="7018019"/>
            <a:ext cx="2804160" cy="289560"/>
            <a:chOff x="4033837" y="7018019"/>
            <a:chExt cx="2804160" cy="289560"/>
          </a:xfrm>
        </p:grpSpPr>
        <p:sp>
          <p:nvSpPr>
            <p:cNvPr id="117" name="object 117"/>
            <p:cNvSpPr/>
            <p:nvPr/>
          </p:nvSpPr>
          <p:spPr>
            <a:xfrm>
              <a:off x="6680200" y="70230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399"/>
                  </a:lnTo>
                  <a:lnTo>
                    <a:pt x="152400" y="2793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680200" y="70230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399"/>
                  </a:moveTo>
                  <a:lnTo>
                    <a:pt x="152400" y="2793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399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038600" y="72262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18669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7183754"/>
              <a:ext cx="72390" cy="85090"/>
            </a:xfrm>
            <a:prstGeom prst="rect">
              <a:avLst/>
            </a:prstGeom>
          </p:spPr>
        </p:pic>
      </p:grpSp>
      <p:sp>
        <p:nvSpPr>
          <p:cNvPr id="121" name="object 121"/>
          <p:cNvSpPr txBox="1"/>
          <p:nvPr/>
        </p:nvSpPr>
        <p:spPr>
          <a:xfrm>
            <a:off x="4492358" y="7061200"/>
            <a:ext cx="95948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Product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updated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908300" y="71120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3886200" y="7429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0160">
            <a:solidFill>
              <a:srgbClr val="2A6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4" name="object 124"/>
          <p:cNvGrpSpPr/>
          <p:nvPr/>
        </p:nvGrpSpPr>
        <p:grpSpPr>
          <a:xfrm>
            <a:off x="3886200" y="7429500"/>
            <a:ext cx="2025650" cy="152400"/>
            <a:chOff x="3886200" y="7429500"/>
            <a:chExt cx="2025650" cy="152400"/>
          </a:xfrm>
        </p:grpSpPr>
        <p:sp>
          <p:nvSpPr>
            <p:cNvPr id="125" name="object 125"/>
            <p:cNvSpPr/>
            <p:nvPr/>
          </p:nvSpPr>
          <p:spPr>
            <a:xfrm>
              <a:off x="3886200" y="74295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038600" y="7505700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816600" y="7467600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4607352" y="7334250"/>
            <a:ext cx="7296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setActive(false)</a:t>
            </a:r>
            <a:endParaRPr sz="75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2908300" y="73914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15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4033837" y="7627619"/>
            <a:ext cx="2804160" cy="264160"/>
            <a:chOff x="4033837" y="7627619"/>
            <a:chExt cx="2804160" cy="264160"/>
          </a:xfrm>
        </p:grpSpPr>
        <p:sp>
          <p:nvSpPr>
            <p:cNvPr id="131" name="object 131"/>
            <p:cNvSpPr/>
            <p:nvPr/>
          </p:nvSpPr>
          <p:spPr>
            <a:xfrm>
              <a:off x="6680200" y="7632699"/>
              <a:ext cx="152400" cy="254000"/>
            </a:xfrm>
            <a:custGeom>
              <a:avLst/>
              <a:gdLst/>
              <a:ahLst/>
              <a:cxnLst/>
              <a:rect l="l" t="t" r="r" b="b"/>
              <a:pathLst>
                <a:path w="152400" h="254000">
                  <a:moveTo>
                    <a:pt x="152400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152400" y="2540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680200" y="7632699"/>
              <a:ext cx="152400" cy="254000"/>
            </a:xfrm>
            <a:custGeom>
              <a:avLst/>
              <a:gdLst/>
              <a:ahLst/>
              <a:cxnLst/>
              <a:rect l="l" t="t" r="r" b="b"/>
              <a:pathLst>
                <a:path w="152400" h="254000">
                  <a:moveTo>
                    <a:pt x="0" y="254000"/>
                  </a:moveTo>
                  <a:lnTo>
                    <a:pt x="152400" y="2540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038600" y="78104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18669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7767954"/>
              <a:ext cx="72390" cy="85089"/>
            </a:xfrm>
            <a:prstGeom prst="rect">
              <a:avLst/>
            </a:prstGeom>
          </p:spPr>
        </p:pic>
      </p:grpSp>
      <p:sp>
        <p:nvSpPr>
          <p:cNvPr id="135" name="object 135"/>
          <p:cNvSpPr txBox="1"/>
          <p:nvPr/>
        </p:nvSpPr>
        <p:spPr>
          <a:xfrm>
            <a:off x="4473911" y="7645400"/>
            <a:ext cx="99631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isActive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=</a:t>
            </a:r>
            <a:r>
              <a:rPr sz="700" spc="-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FALSE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2908300" y="76962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16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385054" y="9150855"/>
            <a:ext cx="2320290" cy="1228090"/>
            <a:chOff x="12385054" y="9150855"/>
            <a:chExt cx="2320290" cy="1228090"/>
          </a:xfrm>
        </p:grpSpPr>
        <p:sp>
          <p:nvSpPr>
            <p:cNvPr id="138" name="object 138"/>
            <p:cNvSpPr/>
            <p:nvPr/>
          </p:nvSpPr>
          <p:spPr>
            <a:xfrm>
              <a:off x="12389499" y="9155300"/>
              <a:ext cx="2311400" cy="1219200"/>
            </a:xfrm>
            <a:custGeom>
              <a:avLst/>
              <a:gdLst/>
              <a:ahLst/>
              <a:cxnLst/>
              <a:rect l="l" t="t" r="r" b="b"/>
              <a:pathLst>
                <a:path w="2311400" h="1219200">
                  <a:moveTo>
                    <a:pt x="2311399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2311399" y="1219200"/>
                  </a:lnTo>
                  <a:lnTo>
                    <a:pt x="2311399" y="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389499" y="9155300"/>
              <a:ext cx="2311400" cy="1219200"/>
            </a:xfrm>
            <a:custGeom>
              <a:avLst/>
              <a:gdLst/>
              <a:ahLst/>
              <a:cxnLst/>
              <a:rect l="l" t="t" r="r" b="b"/>
              <a:pathLst>
                <a:path w="2311400" h="1219200">
                  <a:moveTo>
                    <a:pt x="0" y="1219200"/>
                  </a:moveTo>
                  <a:lnTo>
                    <a:pt x="2311399" y="1219200"/>
                  </a:lnTo>
                  <a:lnTo>
                    <a:pt x="2311399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8890">
              <a:solidFill>
                <a:srgbClr val="CAD4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52999" y="94220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64454" y="9379455"/>
              <a:ext cx="72387" cy="85089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12452999" y="95998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64454" y="9557255"/>
              <a:ext cx="72387" cy="85089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12452999" y="97776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2A6BA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64454" y="9735055"/>
              <a:ext cx="72387" cy="85089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12452999" y="9891900"/>
              <a:ext cx="254000" cy="127000"/>
            </a:xfrm>
            <a:custGeom>
              <a:avLst/>
              <a:gdLst/>
              <a:ahLst/>
              <a:cxnLst/>
              <a:rect l="l" t="t" r="r" b="b"/>
              <a:pathLst>
                <a:path w="254000" h="127000">
                  <a:moveTo>
                    <a:pt x="254000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54000" y="127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2452999" y="9891900"/>
              <a:ext cx="254000" cy="127000"/>
            </a:xfrm>
            <a:custGeom>
              <a:avLst/>
              <a:gdLst/>
              <a:ahLst/>
              <a:cxnLst/>
              <a:rect l="l" t="t" r="r" b="b"/>
              <a:pathLst>
                <a:path w="254000" h="127000">
                  <a:moveTo>
                    <a:pt x="0" y="127000"/>
                  </a:moveTo>
                  <a:lnTo>
                    <a:pt x="254000" y="127000"/>
                  </a:lnTo>
                  <a:lnTo>
                    <a:pt x="254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12440300" y="9174350"/>
            <a:ext cx="13354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D3A5E"/>
                </a:solidFill>
                <a:latin typeface="Arial"/>
                <a:cs typeface="Arial"/>
              </a:rPr>
              <a:t>Legend</a:t>
            </a:r>
            <a:endParaRPr sz="750">
              <a:latin typeface="Arial"/>
              <a:cs typeface="Arial"/>
            </a:endParaRPr>
          </a:p>
          <a:p>
            <a:pPr marL="367665" marR="5080">
              <a:lnSpc>
                <a:spcPts val="1400"/>
              </a:lnSpc>
              <a:spcBef>
                <a:spcPts val="130"/>
              </a:spcBef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Synchronous</a:t>
            </a:r>
            <a:r>
              <a:rPr sz="650" spc="-4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message</a:t>
            </a:r>
            <a:r>
              <a:rPr sz="65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Return message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(dashed)</a:t>
            </a:r>
            <a:endParaRPr sz="650">
              <a:latin typeface="Arial MT"/>
              <a:cs typeface="Arial MT"/>
            </a:endParaRPr>
          </a:p>
          <a:p>
            <a:pPr marL="367665" marR="73660">
              <a:lnSpc>
                <a:spcPts val="1400"/>
              </a:lnSpc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&lt;&lt;create&gt;&gt;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instantiation</a:t>
            </a:r>
            <a:r>
              <a:rPr sz="65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Activation</a:t>
            </a:r>
            <a:r>
              <a:rPr sz="650" spc="-3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5" dirty="0">
                <a:solidFill>
                  <a:srgbClr val="1A1F2B"/>
                </a:solidFill>
                <a:latin typeface="Arial MT"/>
                <a:cs typeface="Arial MT"/>
              </a:rPr>
              <a:t>box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49" name="object 14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150" name="object 1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Actors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objects</a:t>
            </a:r>
            <a:r>
              <a:rPr spc="-15" dirty="0"/>
              <a:t> </a:t>
            </a:r>
            <a:r>
              <a:rPr dirty="0"/>
              <a:t>verified</a:t>
            </a:r>
            <a:r>
              <a:rPr spc="-15" dirty="0"/>
              <a:t> </a:t>
            </a:r>
            <a:r>
              <a:rPr dirty="0"/>
              <a:t>against</a:t>
            </a:r>
            <a:r>
              <a:rPr spc="-10" dirty="0"/>
              <a:t> </a:t>
            </a:r>
            <a:r>
              <a:rPr dirty="0"/>
              <a:t>Class</a:t>
            </a:r>
            <a:r>
              <a:rPr spc="-15" dirty="0"/>
              <a:t> </a:t>
            </a:r>
            <a:r>
              <a:rPr dirty="0"/>
              <a:t>Diagram</a:t>
            </a:r>
            <a:r>
              <a:rPr spc="145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Academic</a:t>
            </a:r>
            <a:r>
              <a:rPr spc="-1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spc="-20" dirty="0"/>
              <a:t>Only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400" y="154135"/>
            <a:ext cx="2329180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BulkCart</a:t>
            </a:r>
            <a:r>
              <a:rPr sz="1200" b="1" spc="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2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Sequence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Diagram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33385" y="675302"/>
            <a:ext cx="2667000" cy="3675717"/>
            <a:chOff x="0" y="-343714"/>
            <a:chExt cx="2667000" cy="10781843"/>
          </a:xfrm>
        </p:grpSpPr>
        <p:sp>
          <p:nvSpPr>
            <p:cNvPr id="6" name="object 6"/>
            <p:cNvSpPr/>
            <p:nvPr/>
          </p:nvSpPr>
          <p:spPr>
            <a:xfrm>
              <a:off x="0" y="457199"/>
              <a:ext cx="2667000" cy="9980930"/>
            </a:xfrm>
            <a:custGeom>
              <a:avLst/>
              <a:gdLst/>
              <a:ahLst/>
              <a:cxnLst/>
              <a:rect l="l" t="t" r="r" b="b"/>
              <a:pathLst>
                <a:path w="2667000" h="9980930">
                  <a:moveTo>
                    <a:pt x="2667000" y="0"/>
                  </a:moveTo>
                  <a:lnTo>
                    <a:pt x="0" y="0"/>
                  </a:lnTo>
                  <a:lnTo>
                    <a:pt x="0" y="9980800"/>
                  </a:lnTo>
                  <a:lnTo>
                    <a:pt x="2667000" y="99808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FF7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57199"/>
              <a:ext cx="2667000" cy="9980930"/>
            </a:xfrm>
            <a:custGeom>
              <a:avLst/>
              <a:gdLst/>
              <a:ahLst/>
              <a:cxnLst/>
              <a:rect l="l" t="t" r="r" b="b"/>
              <a:pathLst>
                <a:path w="2667000" h="9980930">
                  <a:moveTo>
                    <a:pt x="0" y="9980800"/>
                  </a:moveTo>
                  <a:lnTo>
                    <a:pt x="2667000" y="99808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9980800"/>
                  </a:lnTo>
                  <a:close/>
                </a:path>
              </a:pathLst>
            </a:custGeom>
            <a:ln w="12700">
              <a:solidFill>
                <a:srgbClr val="F4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-343714"/>
              <a:ext cx="2667000" cy="800916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2667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667000" y="4572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690" y="769714"/>
            <a:ext cx="9559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Story</a:t>
            </a:r>
            <a:r>
              <a:rPr sz="9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Outline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790" y="1092199"/>
            <a:ext cx="1045210" cy="4572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03.03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r>
              <a:rPr sz="700" b="1" dirty="0">
                <a:solidFill>
                  <a:srgbClr val="1A1F2B"/>
                </a:solidFill>
                <a:latin typeface="Arial"/>
                <a:cs typeface="Arial"/>
              </a:rPr>
              <a:t>Browse Product </a:t>
            </a: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Catalog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r>
              <a:rPr sz="700" b="1" dirty="0">
                <a:solidFill>
                  <a:srgbClr val="1A1F2B"/>
                </a:solidFill>
                <a:latin typeface="Arial"/>
                <a:cs typeface="Arial"/>
              </a:rPr>
              <a:t>Retailer</a:t>
            </a:r>
            <a:r>
              <a:rPr sz="700" b="1" spc="-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(Customer)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690" y="1092199"/>
            <a:ext cx="274955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525">
              <a:lnSpc>
                <a:spcPct val="119000"/>
              </a:lnSpc>
              <a:spcBef>
                <a:spcPts val="100"/>
              </a:spcBef>
            </a:pP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Story:</a:t>
            </a:r>
            <a:r>
              <a:rPr sz="700" b="1" spc="50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Title:</a:t>
            </a:r>
            <a:endParaRPr sz="700">
              <a:latin typeface="Arial"/>
              <a:cs typeface="Arial"/>
            </a:endParaRPr>
          </a:p>
          <a:p>
            <a:pPr marR="5080">
              <a:lnSpc>
                <a:spcPct val="119000"/>
              </a:lnSpc>
              <a:spcBef>
                <a:spcPts val="400"/>
              </a:spcBef>
            </a:pP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Actor:</a:t>
            </a:r>
            <a:r>
              <a:rPr sz="700" b="1" spc="50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Goal: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690" y="1650999"/>
            <a:ext cx="1723389" cy="2236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469265">
              <a:lnSpc>
                <a:spcPct val="119000"/>
              </a:lnSpc>
              <a:spcBef>
                <a:spcPts val="100"/>
              </a:spcBef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Retailer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browses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the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product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catalog: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filters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by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category,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views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product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details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and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gets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retailer-specific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pricing.</a:t>
            </a:r>
            <a:endParaRPr sz="7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Key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Steps:</a:t>
            </a:r>
            <a:endParaRPr sz="700" dirty="0">
              <a:latin typeface="Arial"/>
              <a:cs typeface="Arial"/>
            </a:endParaRPr>
          </a:p>
          <a:p>
            <a:pPr marL="114300" marR="394970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Retailer loads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catalog;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system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returns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active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products</a:t>
            </a:r>
            <a:endParaRPr sz="700" dirty="0">
              <a:latin typeface="Arial MT"/>
              <a:cs typeface="Arial MT"/>
            </a:endParaRPr>
          </a:p>
          <a:p>
            <a:pPr marL="114300" marR="163195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Retailer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requests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category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list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from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ProductCategory_Ref</a:t>
            </a:r>
            <a:endParaRPr sz="700" dirty="0">
              <a:latin typeface="Arial MT"/>
              <a:cs typeface="Arial MT"/>
            </a:endParaRPr>
          </a:p>
          <a:p>
            <a:pPr marL="114300" marR="138430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Retailer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applies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category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filter;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system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returns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filtered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products</a:t>
            </a:r>
            <a:endParaRPr sz="700" dirty="0">
              <a:latin typeface="Arial MT"/>
              <a:cs typeface="Arial MT"/>
            </a:endParaRPr>
          </a:p>
          <a:p>
            <a:pPr marL="114300" marR="64135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Retailer views a specific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product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and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requests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applicable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price</a:t>
            </a:r>
            <a:endParaRPr sz="700" dirty="0">
              <a:latin typeface="Arial MT"/>
              <a:cs typeface="Arial MT"/>
            </a:endParaRPr>
          </a:p>
          <a:p>
            <a:pPr marL="114300" marR="5080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Product calls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getApplicablePrice()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returning retailer-specific 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rate</a:t>
            </a:r>
            <a:endParaRPr sz="700" dirty="0">
              <a:latin typeface="Arial MT"/>
              <a:cs typeface="Arial MT"/>
            </a:endParaRPr>
          </a:p>
          <a:p>
            <a:pPr marL="114300" marR="142875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Retailer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views unit of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measure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details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from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 err="1">
                <a:solidFill>
                  <a:srgbClr val="1A1F2B"/>
                </a:solidFill>
                <a:latin typeface="Arial MT"/>
                <a:cs typeface="Arial MT"/>
              </a:rPr>
              <a:t>Unit_Ref</a:t>
            </a:r>
            <a:endParaRPr sz="7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50945" y="982344"/>
            <a:ext cx="9170035" cy="9359265"/>
            <a:chOff x="3750945" y="982344"/>
            <a:chExt cx="9170035" cy="9359265"/>
          </a:xfrm>
        </p:grpSpPr>
        <p:sp>
          <p:nvSpPr>
            <p:cNvPr id="14" name="object 14"/>
            <p:cNvSpPr/>
            <p:nvPr/>
          </p:nvSpPr>
          <p:spPr>
            <a:xfrm>
              <a:off x="3759200" y="990599"/>
              <a:ext cx="406400" cy="749300"/>
            </a:xfrm>
            <a:custGeom>
              <a:avLst/>
              <a:gdLst/>
              <a:ahLst/>
              <a:cxnLst/>
              <a:rect l="l" t="t" r="r" b="b"/>
              <a:pathLst>
                <a:path w="406400" h="749300">
                  <a:moveTo>
                    <a:pt x="342900" y="139700"/>
                  </a:moveTo>
                  <a:lnTo>
                    <a:pt x="335777" y="95544"/>
                  </a:lnTo>
                  <a:lnTo>
                    <a:pt x="315945" y="57195"/>
                  </a:lnTo>
                  <a:lnTo>
                    <a:pt x="285704" y="26954"/>
                  </a:lnTo>
                  <a:lnTo>
                    <a:pt x="247355" y="7122"/>
                  </a:lnTo>
                  <a:lnTo>
                    <a:pt x="203200" y="0"/>
                  </a:lnTo>
                  <a:lnTo>
                    <a:pt x="159044" y="7122"/>
                  </a:lnTo>
                  <a:lnTo>
                    <a:pt x="120695" y="26954"/>
                  </a:lnTo>
                  <a:lnTo>
                    <a:pt x="90454" y="57195"/>
                  </a:lnTo>
                  <a:lnTo>
                    <a:pt x="70622" y="95544"/>
                  </a:lnTo>
                  <a:lnTo>
                    <a:pt x="63500" y="139700"/>
                  </a:lnTo>
                  <a:lnTo>
                    <a:pt x="70622" y="183856"/>
                  </a:lnTo>
                  <a:lnTo>
                    <a:pt x="90454" y="222205"/>
                  </a:lnTo>
                  <a:lnTo>
                    <a:pt x="120695" y="252446"/>
                  </a:lnTo>
                  <a:lnTo>
                    <a:pt x="159044" y="272278"/>
                  </a:lnTo>
                  <a:lnTo>
                    <a:pt x="203200" y="279400"/>
                  </a:lnTo>
                  <a:lnTo>
                    <a:pt x="247355" y="272278"/>
                  </a:lnTo>
                  <a:lnTo>
                    <a:pt x="285704" y="252446"/>
                  </a:lnTo>
                  <a:lnTo>
                    <a:pt x="315945" y="222205"/>
                  </a:lnTo>
                  <a:lnTo>
                    <a:pt x="335777" y="183856"/>
                  </a:lnTo>
                  <a:lnTo>
                    <a:pt x="342900" y="139700"/>
                  </a:lnTo>
                </a:path>
                <a:path w="406400" h="749300">
                  <a:moveTo>
                    <a:pt x="203200" y="279400"/>
                  </a:moveTo>
                  <a:lnTo>
                    <a:pt x="203200" y="558800"/>
                  </a:lnTo>
                </a:path>
                <a:path w="406400" h="749300">
                  <a:moveTo>
                    <a:pt x="0" y="393700"/>
                  </a:moveTo>
                  <a:lnTo>
                    <a:pt x="406400" y="393700"/>
                  </a:lnTo>
                </a:path>
                <a:path w="406400" h="749300">
                  <a:moveTo>
                    <a:pt x="203200" y="558800"/>
                  </a:moveTo>
                  <a:lnTo>
                    <a:pt x="38100" y="749300"/>
                  </a:lnTo>
                </a:path>
                <a:path w="406400" h="749300">
                  <a:moveTo>
                    <a:pt x="203200" y="558800"/>
                  </a:moveTo>
                  <a:lnTo>
                    <a:pt x="368300" y="749300"/>
                  </a:lnTo>
                </a:path>
              </a:pathLst>
            </a:custGeom>
            <a:ln w="16510">
              <a:solidFill>
                <a:srgbClr val="1D3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1689099"/>
              <a:ext cx="8953500" cy="8647430"/>
            </a:xfrm>
            <a:custGeom>
              <a:avLst/>
              <a:gdLst/>
              <a:ahLst/>
              <a:cxnLst/>
              <a:rect l="l" t="t" r="r" b="b"/>
              <a:pathLst>
                <a:path w="8953500" h="8647430">
                  <a:moveTo>
                    <a:pt x="0" y="4991100"/>
                  </a:moveTo>
                  <a:lnTo>
                    <a:pt x="0" y="8647300"/>
                  </a:lnTo>
                </a:path>
                <a:path w="8953500" h="8647430">
                  <a:moveTo>
                    <a:pt x="0" y="4406900"/>
                  </a:moveTo>
                  <a:lnTo>
                    <a:pt x="0" y="4838700"/>
                  </a:lnTo>
                </a:path>
                <a:path w="8953500" h="8647430">
                  <a:moveTo>
                    <a:pt x="0" y="3073400"/>
                  </a:moveTo>
                  <a:lnTo>
                    <a:pt x="0" y="4254500"/>
                  </a:lnTo>
                </a:path>
                <a:path w="8953500" h="8647430">
                  <a:moveTo>
                    <a:pt x="0" y="2222500"/>
                  </a:moveTo>
                  <a:lnTo>
                    <a:pt x="0" y="2921000"/>
                  </a:lnTo>
                </a:path>
                <a:path w="8953500" h="8647430">
                  <a:moveTo>
                    <a:pt x="0" y="1638300"/>
                  </a:moveTo>
                  <a:lnTo>
                    <a:pt x="0" y="2070100"/>
                  </a:lnTo>
                </a:path>
                <a:path w="8953500" h="8647430">
                  <a:moveTo>
                    <a:pt x="0" y="787400"/>
                  </a:moveTo>
                  <a:lnTo>
                    <a:pt x="0" y="1485900"/>
                  </a:lnTo>
                </a:path>
                <a:path w="8953500" h="8647430">
                  <a:moveTo>
                    <a:pt x="0" y="0"/>
                  </a:moveTo>
                  <a:lnTo>
                    <a:pt x="0" y="635000"/>
                  </a:lnTo>
                </a:path>
                <a:path w="8953500" h="8647430">
                  <a:moveTo>
                    <a:pt x="2794000" y="5295900"/>
                  </a:moveTo>
                  <a:lnTo>
                    <a:pt x="2794000" y="8647300"/>
                  </a:lnTo>
                </a:path>
                <a:path w="8953500" h="8647430">
                  <a:moveTo>
                    <a:pt x="2794000" y="3581400"/>
                  </a:moveTo>
                  <a:lnTo>
                    <a:pt x="2794000" y="5041900"/>
                  </a:lnTo>
                </a:path>
                <a:path w="8953500" h="8647430">
                  <a:moveTo>
                    <a:pt x="2794000" y="2527300"/>
                  </a:moveTo>
                  <a:lnTo>
                    <a:pt x="2794000" y="3098800"/>
                  </a:lnTo>
                </a:path>
                <a:path w="8953500" h="8647430">
                  <a:moveTo>
                    <a:pt x="2794000" y="1092200"/>
                  </a:moveTo>
                  <a:lnTo>
                    <a:pt x="2794000" y="2247900"/>
                  </a:lnTo>
                </a:path>
                <a:path w="8953500" h="8647430">
                  <a:moveTo>
                    <a:pt x="2794000" y="0"/>
                  </a:moveTo>
                  <a:lnTo>
                    <a:pt x="2794000" y="812800"/>
                  </a:lnTo>
                </a:path>
                <a:path w="8953500" h="8647430">
                  <a:moveTo>
                    <a:pt x="6032500" y="1943100"/>
                  </a:moveTo>
                  <a:lnTo>
                    <a:pt x="6032500" y="8647300"/>
                  </a:lnTo>
                </a:path>
                <a:path w="8953500" h="8647430">
                  <a:moveTo>
                    <a:pt x="6032500" y="0"/>
                  </a:moveTo>
                  <a:lnTo>
                    <a:pt x="6032500" y="1663700"/>
                  </a:lnTo>
                </a:path>
                <a:path w="8953500" h="8647430">
                  <a:moveTo>
                    <a:pt x="8953500" y="4711700"/>
                  </a:moveTo>
                  <a:lnTo>
                    <a:pt x="8953500" y="7466200"/>
                  </a:lnTo>
                </a:path>
                <a:path w="8953500" h="8647430">
                  <a:moveTo>
                    <a:pt x="8953500" y="0"/>
                  </a:moveTo>
                  <a:lnTo>
                    <a:pt x="8953500" y="4432300"/>
                  </a:lnTo>
                </a:path>
              </a:pathLst>
            </a:custGeom>
            <a:ln w="10159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899150" y="990599"/>
            <a:ext cx="1714500" cy="330200"/>
          </a:xfrm>
          <a:prstGeom prst="rect">
            <a:avLst/>
          </a:prstGeom>
          <a:solidFill>
            <a:srgbClr val="1D3A5E"/>
          </a:solidFill>
          <a:ln w="12700">
            <a:solidFill>
              <a:srgbClr val="2A6BA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i="1" spc="-10" dirty="0">
                <a:solidFill>
                  <a:srgbClr val="FFFF99"/>
                </a:solidFill>
                <a:latin typeface="Arial"/>
                <a:cs typeface="Arial"/>
              </a:rPr>
              <a:t>«entity»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:Product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47150" y="990599"/>
            <a:ext cx="2095500" cy="330200"/>
          </a:xfrm>
          <a:prstGeom prst="rect">
            <a:avLst/>
          </a:prstGeom>
          <a:solidFill>
            <a:srgbClr val="266749"/>
          </a:solidFill>
          <a:ln w="12700">
            <a:solidFill>
              <a:srgbClr val="2A6BA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i="1" spc="-10" dirty="0">
                <a:solidFill>
                  <a:srgbClr val="FFFF99"/>
                </a:solidFill>
                <a:latin typeface="Arial"/>
                <a:cs typeface="Arial"/>
              </a:rPr>
              <a:t>«ref»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:ProductCategory_Ref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217400" y="990599"/>
            <a:ext cx="1397000" cy="330200"/>
          </a:xfrm>
          <a:prstGeom prst="rect">
            <a:avLst/>
          </a:prstGeom>
          <a:solidFill>
            <a:srgbClr val="266749"/>
          </a:solidFill>
          <a:ln w="12700">
            <a:solidFill>
              <a:srgbClr val="2A6BA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i="1" spc="-10" dirty="0">
                <a:solidFill>
                  <a:srgbClr val="FFFF99"/>
                </a:solidFill>
                <a:latin typeface="Arial"/>
                <a:cs typeface="Arial"/>
              </a:rPr>
              <a:t>«ref»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:Unit_Ref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8300" y="1778000"/>
            <a:ext cx="1631314" cy="220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7410">
              <a:lnSpc>
                <a:spcPts val="830"/>
              </a:lnSpc>
              <a:spcBef>
                <a:spcPts val="100"/>
              </a:spcBef>
            </a:pPr>
            <a:r>
              <a:rPr sz="800" b="1" spc="-10" dirty="0">
                <a:solidFill>
                  <a:srgbClr val="1A1F2B"/>
                </a:solidFill>
                <a:latin typeface="Arial"/>
                <a:cs typeface="Arial"/>
              </a:rPr>
              <a:t>Retailer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1: Load Active Product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Catalog</a:t>
            </a:r>
            <a:endParaRPr sz="7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86200" y="23240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0160">
            <a:solidFill>
              <a:srgbClr val="2A6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2917825" y="1990724"/>
            <a:ext cx="2994025" cy="485775"/>
            <a:chOff x="2917825" y="1990724"/>
            <a:chExt cx="2994025" cy="485775"/>
          </a:xfrm>
        </p:grpSpPr>
        <p:sp>
          <p:nvSpPr>
            <p:cNvPr id="22" name="object 22"/>
            <p:cNvSpPr/>
            <p:nvPr/>
          </p:nvSpPr>
          <p:spPr>
            <a:xfrm>
              <a:off x="2921000" y="1993899"/>
              <a:ext cx="2730500" cy="0"/>
            </a:xfrm>
            <a:custGeom>
              <a:avLst/>
              <a:gdLst/>
              <a:ahLst/>
              <a:cxnLst/>
              <a:rect l="l" t="t" r="r" b="b"/>
              <a:pathLst>
                <a:path w="2730500">
                  <a:moveTo>
                    <a:pt x="0" y="0"/>
                  </a:moveTo>
                  <a:lnTo>
                    <a:pt x="27305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86200" y="23240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38600" y="24002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16600" y="23621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54490" y="2228850"/>
            <a:ext cx="83566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browseProducts()</a:t>
            </a:r>
            <a:endParaRPr sz="7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08300" y="22860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33837" y="2496819"/>
            <a:ext cx="2804160" cy="289560"/>
            <a:chOff x="4033837" y="2496819"/>
            <a:chExt cx="2804160" cy="289560"/>
          </a:xfrm>
        </p:grpSpPr>
        <p:sp>
          <p:nvSpPr>
            <p:cNvPr id="29" name="object 29"/>
            <p:cNvSpPr/>
            <p:nvPr/>
          </p:nvSpPr>
          <p:spPr>
            <a:xfrm>
              <a:off x="6680200" y="25018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80200" y="25018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38600" y="27050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18669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2662554"/>
              <a:ext cx="72390" cy="8509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202233" y="2540000"/>
            <a:ext cx="15398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3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List&lt;Product&gt;</a:t>
            </a:r>
            <a:r>
              <a:rPr sz="700" spc="-30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(isActive=TRUE)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08300" y="25908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08300" y="2717800"/>
            <a:ext cx="11722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2: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Filter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by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Category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881120" y="3169919"/>
            <a:ext cx="162560" cy="162560"/>
            <a:chOff x="3881120" y="3169919"/>
            <a:chExt cx="162560" cy="162560"/>
          </a:xfrm>
        </p:grpSpPr>
        <p:sp>
          <p:nvSpPr>
            <p:cNvPr id="37" name="object 37"/>
            <p:cNvSpPr/>
            <p:nvPr/>
          </p:nvSpPr>
          <p:spPr>
            <a:xfrm>
              <a:off x="3886200" y="31749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86200" y="31749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2917825" y="2841624"/>
            <a:ext cx="6042025" cy="447675"/>
            <a:chOff x="2917825" y="2841624"/>
            <a:chExt cx="6042025" cy="447675"/>
          </a:xfrm>
        </p:grpSpPr>
        <p:sp>
          <p:nvSpPr>
            <p:cNvPr id="40" name="object 40"/>
            <p:cNvSpPr/>
            <p:nvPr/>
          </p:nvSpPr>
          <p:spPr>
            <a:xfrm>
              <a:off x="2921000" y="2844799"/>
              <a:ext cx="2159000" cy="0"/>
            </a:xfrm>
            <a:custGeom>
              <a:avLst/>
              <a:gdLst/>
              <a:ahLst/>
              <a:cxnLst/>
              <a:rect l="l" t="t" r="r" b="b"/>
              <a:pathLst>
                <a:path w="2159000">
                  <a:moveTo>
                    <a:pt x="0" y="0"/>
                  </a:moveTo>
                  <a:lnTo>
                    <a:pt x="21590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38600" y="3251199"/>
              <a:ext cx="4914900" cy="0"/>
            </a:xfrm>
            <a:custGeom>
              <a:avLst/>
              <a:gdLst/>
              <a:ahLst/>
              <a:cxnLst/>
              <a:rect l="l" t="t" r="r" b="b"/>
              <a:pathLst>
                <a:path w="4914900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864600" y="32130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991145" y="3079750"/>
            <a:ext cx="101028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getActiveCategories()</a:t>
            </a:r>
            <a:endParaRPr sz="7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08300" y="31369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033837" y="3347719"/>
            <a:ext cx="6042660" cy="289560"/>
            <a:chOff x="4033837" y="3347719"/>
            <a:chExt cx="6042660" cy="289560"/>
          </a:xfrm>
        </p:grpSpPr>
        <p:sp>
          <p:nvSpPr>
            <p:cNvPr id="46" name="object 46"/>
            <p:cNvSpPr/>
            <p:nvPr/>
          </p:nvSpPr>
          <p:spPr>
            <a:xfrm>
              <a:off x="9918700" y="33527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918700" y="33527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38600" y="3555999"/>
              <a:ext cx="4914900" cy="0"/>
            </a:xfrm>
            <a:custGeom>
              <a:avLst/>
              <a:gdLst/>
              <a:ahLst/>
              <a:cxnLst/>
              <a:rect l="l" t="t" r="r" b="b"/>
              <a:pathLst>
                <a:path w="4914900">
                  <a:moveTo>
                    <a:pt x="49149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3513454"/>
              <a:ext cx="72390" cy="8509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5922568" y="3390900"/>
            <a:ext cx="11474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List&lt;CategoryName&gt;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08300" y="34417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881120" y="3754119"/>
            <a:ext cx="162560" cy="162560"/>
            <a:chOff x="3881120" y="3754119"/>
            <a:chExt cx="162560" cy="162560"/>
          </a:xfrm>
        </p:grpSpPr>
        <p:sp>
          <p:nvSpPr>
            <p:cNvPr id="53" name="object 53"/>
            <p:cNvSpPr/>
            <p:nvPr/>
          </p:nvSpPr>
          <p:spPr>
            <a:xfrm>
              <a:off x="3886200" y="37591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6200" y="37591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4032250" y="3797299"/>
            <a:ext cx="1879600" cy="76200"/>
            <a:chOff x="4032250" y="3797299"/>
            <a:chExt cx="1879600" cy="76200"/>
          </a:xfrm>
        </p:grpSpPr>
        <p:sp>
          <p:nvSpPr>
            <p:cNvPr id="56" name="object 56"/>
            <p:cNvSpPr/>
            <p:nvPr/>
          </p:nvSpPr>
          <p:spPr>
            <a:xfrm>
              <a:off x="4038600" y="38353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816600" y="37972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239545" y="3663950"/>
            <a:ext cx="146558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browseProducts(categoryFilter)</a:t>
            </a:r>
            <a:endParaRPr sz="7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908300" y="37211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033837" y="3931919"/>
            <a:ext cx="2804160" cy="289560"/>
            <a:chOff x="4033837" y="3931919"/>
            <a:chExt cx="2804160" cy="289560"/>
          </a:xfrm>
        </p:grpSpPr>
        <p:sp>
          <p:nvSpPr>
            <p:cNvPr id="61" name="object 61"/>
            <p:cNvSpPr/>
            <p:nvPr/>
          </p:nvSpPr>
          <p:spPr>
            <a:xfrm>
              <a:off x="6680200" y="39369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399"/>
                  </a:lnTo>
                  <a:lnTo>
                    <a:pt x="152400" y="2793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680200" y="39369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399"/>
                  </a:moveTo>
                  <a:lnTo>
                    <a:pt x="152400" y="2793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399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038600" y="41401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18669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4097654"/>
              <a:ext cx="72390" cy="85090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4398524" y="3975100"/>
            <a:ext cx="11474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filtered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List&lt;Product&gt;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908300" y="40259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908300" y="4152899"/>
            <a:ext cx="1977389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3: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View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Product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Details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&amp;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Retailer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Price</a:t>
            </a:r>
            <a:endParaRPr sz="7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886200" y="46100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0160">
            <a:solidFill>
              <a:srgbClr val="2A6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2917825" y="4276724"/>
            <a:ext cx="3409950" cy="485775"/>
            <a:chOff x="2917825" y="4276724"/>
            <a:chExt cx="3409950" cy="485775"/>
          </a:xfrm>
        </p:grpSpPr>
        <p:sp>
          <p:nvSpPr>
            <p:cNvPr id="70" name="object 70"/>
            <p:cNvSpPr/>
            <p:nvPr/>
          </p:nvSpPr>
          <p:spPr>
            <a:xfrm>
              <a:off x="2921000" y="4279899"/>
              <a:ext cx="3403600" cy="0"/>
            </a:xfrm>
            <a:custGeom>
              <a:avLst/>
              <a:gdLst/>
              <a:ahLst/>
              <a:cxnLst/>
              <a:rect l="l" t="t" r="r" b="b"/>
              <a:pathLst>
                <a:path w="3403600">
                  <a:moveTo>
                    <a:pt x="0" y="0"/>
                  </a:moveTo>
                  <a:lnTo>
                    <a:pt x="34036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86200" y="46100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038600" y="46862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816600" y="46481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4340034" y="4514849"/>
            <a:ext cx="126428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getApplicablePrice(retailer)</a:t>
            </a:r>
            <a:endParaRPr sz="7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908300" y="45719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7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675119" y="4782819"/>
            <a:ext cx="721995" cy="492759"/>
            <a:chOff x="6675119" y="4782819"/>
            <a:chExt cx="721995" cy="492759"/>
          </a:xfrm>
        </p:grpSpPr>
        <p:sp>
          <p:nvSpPr>
            <p:cNvPr id="77" name="object 77"/>
            <p:cNvSpPr/>
            <p:nvPr/>
          </p:nvSpPr>
          <p:spPr>
            <a:xfrm>
              <a:off x="6680199" y="4787899"/>
              <a:ext cx="152400" cy="482600"/>
            </a:xfrm>
            <a:custGeom>
              <a:avLst/>
              <a:gdLst/>
              <a:ahLst/>
              <a:cxnLst/>
              <a:rect l="l" t="t" r="r" b="b"/>
              <a:pathLst>
                <a:path w="152400" h="482600">
                  <a:moveTo>
                    <a:pt x="152400" y="0"/>
                  </a:moveTo>
                  <a:lnTo>
                    <a:pt x="0" y="0"/>
                  </a:lnTo>
                  <a:lnTo>
                    <a:pt x="0" y="482600"/>
                  </a:lnTo>
                  <a:lnTo>
                    <a:pt x="152400" y="4826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680199" y="4787899"/>
              <a:ext cx="152400" cy="482600"/>
            </a:xfrm>
            <a:custGeom>
              <a:avLst/>
              <a:gdLst/>
              <a:ahLst/>
              <a:cxnLst/>
              <a:rect l="l" t="t" r="r" b="b"/>
              <a:pathLst>
                <a:path w="152400" h="482600">
                  <a:moveTo>
                    <a:pt x="0" y="482600"/>
                  </a:moveTo>
                  <a:lnTo>
                    <a:pt x="152400" y="4826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826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832599" y="4991099"/>
              <a:ext cx="558800" cy="203200"/>
            </a:xfrm>
            <a:custGeom>
              <a:avLst/>
              <a:gdLst/>
              <a:ahLst/>
              <a:cxnLst/>
              <a:rect l="l" t="t" r="r" b="b"/>
              <a:pathLst>
                <a:path w="558800" h="203200">
                  <a:moveTo>
                    <a:pt x="0" y="0"/>
                  </a:moveTo>
                  <a:lnTo>
                    <a:pt x="558800" y="0"/>
                  </a:lnTo>
                </a:path>
                <a:path w="558800" h="203200">
                  <a:moveTo>
                    <a:pt x="558800" y="0"/>
                  </a:moveTo>
                  <a:lnTo>
                    <a:pt x="558800" y="203200"/>
                  </a:lnTo>
                </a:path>
                <a:path w="558800" h="203200">
                  <a:moveTo>
                    <a:pt x="558800" y="203200"/>
                  </a:moveTo>
                  <a:lnTo>
                    <a:pt x="0" y="203200"/>
                  </a:lnTo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832599" y="5156199"/>
              <a:ext cx="63500" cy="76200"/>
            </a:xfrm>
            <a:custGeom>
              <a:avLst/>
              <a:gdLst/>
              <a:ahLst/>
              <a:cxnLst/>
              <a:rect l="l" t="t" r="r" b="b"/>
              <a:pathLst>
                <a:path w="63500" h="76200">
                  <a:moveTo>
                    <a:pt x="63500" y="0"/>
                  </a:moveTo>
                  <a:lnTo>
                    <a:pt x="0" y="38100"/>
                  </a:lnTo>
                  <a:lnTo>
                    <a:pt x="63500" y="762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6896100" y="4838699"/>
            <a:ext cx="93980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resolveRetailerPrice()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4033837" y="5431154"/>
            <a:ext cx="1876425" cy="85090"/>
            <a:chOff x="4033837" y="5431154"/>
            <a:chExt cx="1876425" cy="85090"/>
          </a:xfrm>
        </p:grpSpPr>
        <p:sp>
          <p:nvSpPr>
            <p:cNvPr id="83" name="object 83"/>
            <p:cNvSpPr/>
            <p:nvPr/>
          </p:nvSpPr>
          <p:spPr>
            <a:xfrm>
              <a:off x="4038600" y="54736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18669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5431154"/>
              <a:ext cx="72390" cy="85090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4314691" y="5308599"/>
            <a:ext cx="131508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applicablePrice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(Decimal)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908300" y="53593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8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908300" y="5486399"/>
            <a:ext cx="131000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4: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View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Unit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of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Measure</a:t>
            </a:r>
            <a:endParaRPr sz="7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3886200" y="59435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0160">
            <a:solidFill>
              <a:srgbClr val="2A6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89"/>
          <p:cNvGrpSpPr/>
          <p:nvPr/>
        </p:nvGrpSpPr>
        <p:grpSpPr>
          <a:xfrm>
            <a:off x="2917825" y="5610224"/>
            <a:ext cx="9305925" cy="485775"/>
            <a:chOff x="2917825" y="5610224"/>
            <a:chExt cx="9305925" cy="485775"/>
          </a:xfrm>
        </p:grpSpPr>
        <p:sp>
          <p:nvSpPr>
            <p:cNvPr id="90" name="object 90"/>
            <p:cNvSpPr/>
            <p:nvPr/>
          </p:nvSpPr>
          <p:spPr>
            <a:xfrm>
              <a:off x="2921000" y="5613399"/>
              <a:ext cx="2324100" cy="0"/>
            </a:xfrm>
            <a:custGeom>
              <a:avLst/>
              <a:gdLst/>
              <a:ahLst/>
              <a:cxnLst/>
              <a:rect l="l" t="t" r="r" b="b"/>
              <a:pathLst>
                <a:path w="2324100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886200" y="59435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038600" y="6019799"/>
              <a:ext cx="8178800" cy="0"/>
            </a:xfrm>
            <a:custGeom>
              <a:avLst/>
              <a:gdLst/>
              <a:ahLst/>
              <a:cxnLst/>
              <a:rect l="l" t="t" r="r" b="b"/>
              <a:pathLst>
                <a:path w="8178800">
                  <a:moveTo>
                    <a:pt x="0" y="0"/>
                  </a:moveTo>
                  <a:lnTo>
                    <a:pt x="81788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2128500" y="59816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7750158" y="5848349"/>
            <a:ext cx="75628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getActiveUnits()</a:t>
            </a:r>
            <a:endParaRPr sz="7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908300" y="59054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9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4033837" y="6116319"/>
            <a:ext cx="8963660" cy="289560"/>
            <a:chOff x="4033837" y="6116319"/>
            <a:chExt cx="8963660" cy="289560"/>
          </a:xfrm>
        </p:grpSpPr>
        <p:sp>
          <p:nvSpPr>
            <p:cNvPr id="97" name="object 97"/>
            <p:cNvSpPr/>
            <p:nvPr/>
          </p:nvSpPr>
          <p:spPr>
            <a:xfrm>
              <a:off x="12839700" y="61213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2839700" y="61213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038600" y="6324599"/>
              <a:ext cx="8178800" cy="0"/>
            </a:xfrm>
            <a:custGeom>
              <a:avLst/>
              <a:gdLst/>
              <a:ahLst/>
              <a:cxnLst/>
              <a:rect l="l" t="t" r="r" b="b"/>
              <a:pathLst>
                <a:path w="8178800">
                  <a:moveTo>
                    <a:pt x="81788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6282054"/>
              <a:ext cx="72390" cy="85090"/>
            </a:xfrm>
            <a:prstGeom prst="rect">
              <a:avLst/>
            </a:prstGeom>
          </p:spPr>
        </p:pic>
      </p:grpSp>
      <p:sp>
        <p:nvSpPr>
          <p:cNvPr id="101" name="object 101"/>
          <p:cNvSpPr txBox="1"/>
          <p:nvPr/>
        </p:nvSpPr>
        <p:spPr>
          <a:xfrm>
            <a:off x="6761480" y="6159499"/>
            <a:ext cx="322834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374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List&lt;UnitLabel,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UnitType&gt;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908300" y="6210299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3886200" y="6527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399"/>
                </a:moveTo>
                <a:lnTo>
                  <a:pt x="152400" y="152399"/>
                </a:lnTo>
                <a:lnTo>
                  <a:pt x="152400" y="0"/>
                </a:lnTo>
                <a:lnTo>
                  <a:pt x="0" y="0"/>
                </a:lnTo>
                <a:lnTo>
                  <a:pt x="0" y="152399"/>
                </a:lnTo>
                <a:close/>
              </a:path>
            </a:pathLst>
          </a:custGeom>
          <a:ln w="10160">
            <a:solidFill>
              <a:srgbClr val="2A6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4" name="object 104"/>
          <p:cNvGrpSpPr/>
          <p:nvPr/>
        </p:nvGrpSpPr>
        <p:grpSpPr>
          <a:xfrm>
            <a:off x="3886200" y="6527800"/>
            <a:ext cx="2025650" cy="152400"/>
            <a:chOff x="3886200" y="6527800"/>
            <a:chExt cx="2025650" cy="152400"/>
          </a:xfrm>
        </p:grpSpPr>
        <p:sp>
          <p:nvSpPr>
            <p:cNvPr id="105" name="object 105"/>
            <p:cNvSpPr/>
            <p:nvPr/>
          </p:nvSpPr>
          <p:spPr>
            <a:xfrm>
              <a:off x="3886200" y="6527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399"/>
                  </a:lnTo>
                  <a:lnTo>
                    <a:pt x="152400" y="1523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038600" y="6604000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816600" y="6565900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199"/>
                  </a:lnTo>
                  <a:lnTo>
                    <a:pt x="889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4557062" y="6432549"/>
            <a:ext cx="83058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reserveStock(qty)</a:t>
            </a:r>
            <a:endParaRPr sz="75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2908300" y="6489699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4033837" y="6725919"/>
            <a:ext cx="2804160" cy="264160"/>
            <a:chOff x="4033837" y="6725919"/>
            <a:chExt cx="2804160" cy="264160"/>
          </a:xfrm>
        </p:grpSpPr>
        <p:sp>
          <p:nvSpPr>
            <p:cNvPr id="111" name="object 111"/>
            <p:cNvSpPr/>
            <p:nvPr/>
          </p:nvSpPr>
          <p:spPr>
            <a:xfrm>
              <a:off x="6680200" y="6730999"/>
              <a:ext cx="152400" cy="254000"/>
            </a:xfrm>
            <a:custGeom>
              <a:avLst/>
              <a:gdLst/>
              <a:ahLst/>
              <a:cxnLst/>
              <a:rect l="l" t="t" r="r" b="b"/>
              <a:pathLst>
                <a:path w="152400" h="254000">
                  <a:moveTo>
                    <a:pt x="152400" y="0"/>
                  </a:moveTo>
                  <a:lnTo>
                    <a:pt x="0" y="0"/>
                  </a:lnTo>
                  <a:lnTo>
                    <a:pt x="0" y="253999"/>
                  </a:lnTo>
                  <a:lnTo>
                    <a:pt x="152400" y="2539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680200" y="6730999"/>
              <a:ext cx="152400" cy="254000"/>
            </a:xfrm>
            <a:custGeom>
              <a:avLst/>
              <a:gdLst/>
              <a:ahLst/>
              <a:cxnLst/>
              <a:rect l="l" t="t" r="r" b="b"/>
              <a:pathLst>
                <a:path w="152400" h="254000">
                  <a:moveTo>
                    <a:pt x="0" y="253999"/>
                  </a:moveTo>
                  <a:lnTo>
                    <a:pt x="152400" y="2539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53999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038600" y="6908799"/>
              <a:ext cx="1866900" cy="0"/>
            </a:xfrm>
            <a:custGeom>
              <a:avLst/>
              <a:gdLst/>
              <a:ahLst/>
              <a:cxnLst/>
              <a:rect l="l" t="t" r="r" b="b"/>
              <a:pathLst>
                <a:path w="1866900">
                  <a:moveTo>
                    <a:pt x="18669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155" y="6866254"/>
              <a:ext cx="72390" cy="85090"/>
            </a:xfrm>
            <a:prstGeom prst="rect">
              <a:avLst/>
            </a:prstGeom>
          </p:spPr>
        </p:pic>
      </p:grpSp>
      <p:sp>
        <p:nvSpPr>
          <p:cNvPr id="115" name="object 115"/>
          <p:cNvSpPr txBox="1"/>
          <p:nvPr/>
        </p:nvSpPr>
        <p:spPr>
          <a:xfrm>
            <a:off x="4324470" y="6743700"/>
            <a:ext cx="129540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Boolean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(stock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reserved)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2908300" y="67945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12385054" y="9150855"/>
            <a:ext cx="2320290" cy="1228090"/>
            <a:chOff x="12385054" y="9150855"/>
            <a:chExt cx="2320290" cy="1228090"/>
          </a:xfrm>
        </p:grpSpPr>
        <p:sp>
          <p:nvSpPr>
            <p:cNvPr id="118" name="object 118"/>
            <p:cNvSpPr/>
            <p:nvPr/>
          </p:nvSpPr>
          <p:spPr>
            <a:xfrm>
              <a:off x="12389499" y="9155300"/>
              <a:ext cx="2311400" cy="1219200"/>
            </a:xfrm>
            <a:custGeom>
              <a:avLst/>
              <a:gdLst/>
              <a:ahLst/>
              <a:cxnLst/>
              <a:rect l="l" t="t" r="r" b="b"/>
              <a:pathLst>
                <a:path w="2311400" h="1219200">
                  <a:moveTo>
                    <a:pt x="2311399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2311399" y="1219200"/>
                  </a:lnTo>
                  <a:lnTo>
                    <a:pt x="2311399" y="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2389499" y="9155300"/>
              <a:ext cx="2311400" cy="1219200"/>
            </a:xfrm>
            <a:custGeom>
              <a:avLst/>
              <a:gdLst/>
              <a:ahLst/>
              <a:cxnLst/>
              <a:rect l="l" t="t" r="r" b="b"/>
              <a:pathLst>
                <a:path w="2311400" h="1219200">
                  <a:moveTo>
                    <a:pt x="0" y="1219200"/>
                  </a:moveTo>
                  <a:lnTo>
                    <a:pt x="2311399" y="1219200"/>
                  </a:lnTo>
                  <a:lnTo>
                    <a:pt x="2311399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8890">
              <a:solidFill>
                <a:srgbClr val="CAD4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2452999" y="94220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64454" y="9379455"/>
              <a:ext cx="72387" cy="85089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12452999" y="95998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64454" y="9557255"/>
              <a:ext cx="72387" cy="85089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12452999" y="97776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2A6BA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" name="object 1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64454" y="9735055"/>
              <a:ext cx="72387" cy="85089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12452999" y="9891900"/>
              <a:ext cx="254000" cy="127000"/>
            </a:xfrm>
            <a:custGeom>
              <a:avLst/>
              <a:gdLst/>
              <a:ahLst/>
              <a:cxnLst/>
              <a:rect l="l" t="t" r="r" b="b"/>
              <a:pathLst>
                <a:path w="254000" h="127000">
                  <a:moveTo>
                    <a:pt x="254000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54000" y="127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2452999" y="9891900"/>
              <a:ext cx="254000" cy="127000"/>
            </a:xfrm>
            <a:custGeom>
              <a:avLst/>
              <a:gdLst/>
              <a:ahLst/>
              <a:cxnLst/>
              <a:rect l="l" t="t" r="r" b="b"/>
              <a:pathLst>
                <a:path w="254000" h="127000">
                  <a:moveTo>
                    <a:pt x="0" y="127000"/>
                  </a:moveTo>
                  <a:lnTo>
                    <a:pt x="254000" y="127000"/>
                  </a:lnTo>
                  <a:lnTo>
                    <a:pt x="254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12440300" y="9174350"/>
            <a:ext cx="13354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D3A5E"/>
                </a:solidFill>
                <a:latin typeface="Arial"/>
                <a:cs typeface="Arial"/>
              </a:rPr>
              <a:t>Legend</a:t>
            </a:r>
            <a:endParaRPr sz="750">
              <a:latin typeface="Arial"/>
              <a:cs typeface="Arial"/>
            </a:endParaRPr>
          </a:p>
          <a:p>
            <a:pPr marL="367665" marR="5080">
              <a:lnSpc>
                <a:spcPts val="1400"/>
              </a:lnSpc>
              <a:spcBef>
                <a:spcPts val="130"/>
              </a:spcBef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Synchronous</a:t>
            </a:r>
            <a:r>
              <a:rPr sz="650" spc="-4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message</a:t>
            </a:r>
            <a:r>
              <a:rPr sz="65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Return message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(dashed)</a:t>
            </a:r>
            <a:endParaRPr sz="650">
              <a:latin typeface="Arial MT"/>
              <a:cs typeface="Arial MT"/>
            </a:endParaRPr>
          </a:p>
          <a:p>
            <a:pPr marL="367665" marR="73660">
              <a:lnSpc>
                <a:spcPts val="1400"/>
              </a:lnSpc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&lt;&lt;create&gt;&gt;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instantiation</a:t>
            </a:r>
            <a:r>
              <a:rPr sz="65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Activation</a:t>
            </a:r>
            <a:r>
              <a:rPr sz="650" spc="-3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5" dirty="0">
                <a:solidFill>
                  <a:srgbClr val="1A1F2B"/>
                </a:solidFill>
                <a:latin typeface="Arial MT"/>
                <a:cs typeface="Arial MT"/>
              </a:rPr>
              <a:t>box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29" name="object 1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130" name="object 1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Actors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objects</a:t>
            </a:r>
            <a:r>
              <a:rPr spc="-15" dirty="0"/>
              <a:t> </a:t>
            </a:r>
            <a:r>
              <a:rPr dirty="0"/>
              <a:t>verified</a:t>
            </a:r>
            <a:r>
              <a:rPr spc="-15" dirty="0"/>
              <a:t> </a:t>
            </a:r>
            <a:r>
              <a:rPr dirty="0"/>
              <a:t>against</a:t>
            </a:r>
            <a:r>
              <a:rPr spc="-10" dirty="0"/>
              <a:t> </a:t>
            </a:r>
            <a:r>
              <a:rPr dirty="0"/>
              <a:t>Class</a:t>
            </a:r>
            <a:r>
              <a:rPr spc="-15" dirty="0"/>
              <a:t> </a:t>
            </a:r>
            <a:r>
              <a:rPr dirty="0"/>
              <a:t>Diagram</a:t>
            </a:r>
            <a:r>
              <a:rPr spc="145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Academic</a:t>
            </a:r>
            <a:r>
              <a:rPr spc="-1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spc="-20" dirty="0"/>
              <a:t>Only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400" y="154135"/>
            <a:ext cx="2329180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BulkCart</a:t>
            </a:r>
            <a:r>
              <a:rPr sz="1200" b="1" spc="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2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Sequence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Diagram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700511"/>
            <a:ext cx="2667000" cy="4364637"/>
            <a:chOff x="0" y="-359690"/>
            <a:chExt cx="2667000" cy="10797819"/>
          </a:xfrm>
        </p:grpSpPr>
        <p:sp>
          <p:nvSpPr>
            <p:cNvPr id="6" name="object 6"/>
            <p:cNvSpPr/>
            <p:nvPr/>
          </p:nvSpPr>
          <p:spPr>
            <a:xfrm>
              <a:off x="0" y="457199"/>
              <a:ext cx="2667000" cy="9980930"/>
            </a:xfrm>
            <a:custGeom>
              <a:avLst/>
              <a:gdLst/>
              <a:ahLst/>
              <a:cxnLst/>
              <a:rect l="l" t="t" r="r" b="b"/>
              <a:pathLst>
                <a:path w="2667000" h="9980930">
                  <a:moveTo>
                    <a:pt x="2667000" y="0"/>
                  </a:moveTo>
                  <a:lnTo>
                    <a:pt x="0" y="0"/>
                  </a:lnTo>
                  <a:lnTo>
                    <a:pt x="0" y="9980800"/>
                  </a:lnTo>
                  <a:lnTo>
                    <a:pt x="2667000" y="99808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FF7E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57199"/>
              <a:ext cx="2667000" cy="9980930"/>
            </a:xfrm>
            <a:custGeom>
              <a:avLst/>
              <a:gdLst/>
              <a:ahLst/>
              <a:cxnLst/>
              <a:rect l="l" t="t" r="r" b="b"/>
              <a:pathLst>
                <a:path w="2667000" h="9980930">
                  <a:moveTo>
                    <a:pt x="0" y="9980800"/>
                  </a:moveTo>
                  <a:lnTo>
                    <a:pt x="2667000" y="99808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9980800"/>
                  </a:lnTo>
                  <a:close/>
                </a:path>
              </a:pathLst>
            </a:custGeom>
            <a:ln w="12700">
              <a:solidFill>
                <a:srgbClr val="F49E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-359690"/>
              <a:ext cx="2667000" cy="816893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2667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667000" y="4572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7469" y="802903"/>
            <a:ext cx="8382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Story</a:t>
            </a:r>
            <a:r>
              <a:rPr sz="9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Outline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3569" y="1231004"/>
            <a:ext cx="838200" cy="4572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05.02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r>
              <a:rPr sz="700" b="1" dirty="0">
                <a:solidFill>
                  <a:srgbClr val="1A1F2B"/>
                </a:solidFill>
                <a:latin typeface="Arial"/>
                <a:cs typeface="Arial"/>
              </a:rPr>
              <a:t>Process </a:t>
            </a: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Payments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r>
              <a:rPr sz="700" b="1" dirty="0">
                <a:solidFill>
                  <a:srgbClr val="1A1F2B"/>
                </a:solidFill>
                <a:latin typeface="Arial"/>
                <a:cs typeface="Arial"/>
              </a:rPr>
              <a:t>Retailer</a:t>
            </a:r>
            <a:r>
              <a:rPr sz="700" b="1" spc="-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(Customer)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469" y="1231004"/>
            <a:ext cx="274955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525">
              <a:lnSpc>
                <a:spcPct val="119000"/>
              </a:lnSpc>
              <a:spcBef>
                <a:spcPts val="100"/>
              </a:spcBef>
            </a:pP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Story:</a:t>
            </a:r>
            <a:r>
              <a:rPr sz="700" b="1" spc="50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Title:</a:t>
            </a:r>
            <a:endParaRPr sz="700">
              <a:latin typeface="Arial"/>
              <a:cs typeface="Arial"/>
            </a:endParaRPr>
          </a:p>
          <a:p>
            <a:pPr marR="5080">
              <a:lnSpc>
                <a:spcPct val="119000"/>
              </a:lnSpc>
              <a:spcBef>
                <a:spcPts val="400"/>
              </a:spcBef>
            </a:pP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Actor:</a:t>
            </a:r>
            <a:r>
              <a:rPr sz="700" b="1" spc="50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Goal: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469" y="1789804"/>
            <a:ext cx="1698625" cy="24931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286385">
              <a:lnSpc>
                <a:spcPct val="119000"/>
              </a:lnSpc>
              <a:spcBef>
                <a:spcPts val="100"/>
              </a:spcBef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Retailer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views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their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approved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order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total,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selects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payment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method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and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completes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payment.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System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records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the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transaction.</a:t>
            </a:r>
            <a:endParaRPr sz="7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Key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Steps:</a:t>
            </a:r>
            <a:endParaRPr sz="700" dirty="0">
              <a:latin typeface="Arial"/>
              <a:cs typeface="Arial"/>
            </a:endParaRPr>
          </a:p>
          <a:p>
            <a:pPr marL="114300" marR="182880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Retailer selects an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approved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order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and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calls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getTotal()</a:t>
            </a:r>
            <a:endParaRPr sz="700" dirty="0">
              <a:latin typeface="Arial MT"/>
              <a:cs typeface="Arial MT"/>
            </a:endParaRPr>
          </a:p>
          <a:p>
            <a:pPr marL="114300" marR="5080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Retailer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requests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accepted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payment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methods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from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PayMethod_Ref</a:t>
            </a:r>
            <a:endParaRPr sz="700" dirty="0">
              <a:latin typeface="Arial MT"/>
              <a:cs typeface="Arial MT"/>
            </a:endParaRPr>
          </a:p>
          <a:p>
            <a:pPr marL="114300" marR="133350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Retailer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selects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a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method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and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submits</a:t>
            </a:r>
            <a:r>
              <a:rPr sz="700" spc="-3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payment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data</a:t>
            </a:r>
            <a:endParaRPr sz="700" dirty="0">
              <a:latin typeface="Arial MT"/>
              <a:cs typeface="Arial MT"/>
            </a:endParaRPr>
          </a:p>
          <a:p>
            <a:pPr marL="114300" marR="44450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System</a:t>
            </a:r>
            <a:r>
              <a:rPr sz="700" spc="-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creates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Payment</a:t>
            </a:r>
            <a:r>
              <a:rPr sz="700" spc="-1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record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linked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to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the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order</a:t>
            </a:r>
            <a:endParaRPr sz="700" dirty="0">
              <a:latin typeface="Arial MT"/>
              <a:cs typeface="Arial MT"/>
            </a:endParaRPr>
          </a:p>
          <a:p>
            <a:pPr marL="114300" marR="262255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Payment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calls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process()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A1F2B"/>
                </a:solidFill>
                <a:latin typeface="Arial MT"/>
                <a:cs typeface="Arial MT"/>
              </a:rPr>
              <a:t>to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initiate gateway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transaction</a:t>
            </a:r>
            <a:endParaRPr sz="700" dirty="0">
              <a:latin typeface="Arial MT"/>
              <a:cs typeface="Arial MT"/>
            </a:endParaRPr>
          </a:p>
          <a:p>
            <a:pPr marL="114300" marR="113664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Payment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status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updated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using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PayStatus_Ref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values</a:t>
            </a:r>
            <a:endParaRPr sz="700" dirty="0">
              <a:latin typeface="Arial MT"/>
              <a:cs typeface="Arial MT"/>
            </a:endParaRPr>
          </a:p>
          <a:p>
            <a:pPr marL="114300" marR="78740" indent="-114300">
              <a:lnSpc>
                <a:spcPct val="119000"/>
              </a:lnSpc>
              <a:buAutoNum type="arabicPeriod"/>
              <a:tabLst>
                <a:tab pos="114300" algn="l"/>
                <a:tab pos="380365" algn="l"/>
              </a:tabLst>
            </a:pP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	PurchaseOrder</a:t>
            </a:r>
            <a:r>
              <a:rPr sz="700" spc="-4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payment</a:t>
            </a:r>
            <a:r>
              <a:rPr sz="700" spc="-3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status</a:t>
            </a:r>
            <a:r>
              <a:rPr sz="70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updated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to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A1F2B"/>
                </a:solidFill>
                <a:latin typeface="Arial MT"/>
                <a:cs typeface="Arial MT"/>
              </a:rPr>
              <a:t>reflect</a:t>
            </a:r>
            <a:r>
              <a:rPr sz="700" spc="-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A1F2B"/>
                </a:solidFill>
                <a:latin typeface="Arial MT"/>
                <a:cs typeface="Arial MT"/>
              </a:rPr>
              <a:t>settlement</a:t>
            </a:r>
            <a:endParaRPr sz="7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96945" y="982344"/>
            <a:ext cx="11630025" cy="765810"/>
            <a:chOff x="3496945" y="982344"/>
            <a:chExt cx="11630025" cy="765810"/>
          </a:xfrm>
        </p:grpSpPr>
        <p:sp>
          <p:nvSpPr>
            <p:cNvPr id="14" name="object 14"/>
            <p:cNvSpPr/>
            <p:nvPr/>
          </p:nvSpPr>
          <p:spPr>
            <a:xfrm>
              <a:off x="3505200" y="990599"/>
              <a:ext cx="406400" cy="749300"/>
            </a:xfrm>
            <a:custGeom>
              <a:avLst/>
              <a:gdLst/>
              <a:ahLst/>
              <a:cxnLst/>
              <a:rect l="l" t="t" r="r" b="b"/>
              <a:pathLst>
                <a:path w="406400" h="749300">
                  <a:moveTo>
                    <a:pt x="342900" y="139700"/>
                  </a:moveTo>
                  <a:lnTo>
                    <a:pt x="335777" y="95544"/>
                  </a:lnTo>
                  <a:lnTo>
                    <a:pt x="315945" y="57195"/>
                  </a:lnTo>
                  <a:lnTo>
                    <a:pt x="285704" y="26954"/>
                  </a:lnTo>
                  <a:lnTo>
                    <a:pt x="247355" y="7122"/>
                  </a:lnTo>
                  <a:lnTo>
                    <a:pt x="203200" y="0"/>
                  </a:lnTo>
                  <a:lnTo>
                    <a:pt x="159044" y="7122"/>
                  </a:lnTo>
                  <a:lnTo>
                    <a:pt x="120695" y="26954"/>
                  </a:lnTo>
                  <a:lnTo>
                    <a:pt x="90454" y="57195"/>
                  </a:lnTo>
                  <a:lnTo>
                    <a:pt x="70622" y="95544"/>
                  </a:lnTo>
                  <a:lnTo>
                    <a:pt x="63500" y="139700"/>
                  </a:lnTo>
                  <a:lnTo>
                    <a:pt x="70622" y="183856"/>
                  </a:lnTo>
                  <a:lnTo>
                    <a:pt x="90454" y="222205"/>
                  </a:lnTo>
                  <a:lnTo>
                    <a:pt x="120695" y="252446"/>
                  </a:lnTo>
                  <a:lnTo>
                    <a:pt x="159044" y="272278"/>
                  </a:lnTo>
                  <a:lnTo>
                    <a:pt x="203200" y="279400"/>
                  </a:lnTo>
                  <a:lnTo>
                    <a:pt x="247355" y="272278"/>
                  </a:lnTo>
                  <a:lnTo>
                    <a:pt x="285704" y="252446"/>
                  </a:lnTo>
                  <a:lnTo>
                    <a:pt x="315945" y="222205"/>
                  </a:lnTo>
                  <a:lnTo>
                    <a:pt x="335777" y="183856"/>
                  </a:lnTo>
                  <a:lnTo>
                    <a:pt x="342900" y="139700"/>
                  </a:lnTo>
                </a:path>
                <a:path w="406400" h="749300">
                  <a:moveTo>
                    <a:pt x="203200" y="279400"/>
                  </a:moveTo>
                  <a:lnTo>
                    <a:pt x="203200" y="558800"/>
                  </a:lnTo>
                </a:path>
                <a:path w="406400" h="749300">
                  <a:moveTo>
                    <a:pt x="0" y="393700"/>
                  </a:moveTo>
                  <a:lnTo>
                    <a:pt x="406400" y="393700"/>
                  </a:lnTo>
                </a:path>
                <a:path w="406400" h="749300">
                  <a:moveTo>
                    <a:pt x="203200" y="558800"/>
                  </a:moveTo>
                  <a:lnTo>
                    <a:pt x="38100" y="749300"/>
                  </a:lnTo>
                </a:path>
                <a:path w="406400" h="749300">
                  <a:moveTo>
                    <a:pt x="203200" y="558800"/>
                  </a:moveTo>
                  <a:lnTo>
                    <a:pt x="368300" y="749300"/>
                  </a:lnTo>
                </a:path>
              </a:pathLst>
            </a:custGeom>
            <a:ln w="16510">
              <a:solidFill>
                <a:srgbClr val="1D3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563600" y="990599"/>
              <a:ext cx="1557020" cy="330200"/>
            </a:xfrm>
            <a:custGeom>
              <a:avLst/>
              <a:gdLst/>
              <a:ahLst/>
              <a:cxnLst/>
              <a:rect l="l" t="t" r="r" b="b"/>
              <a:pathLst>
                <a:path w="1557019" h="330200">
                  <a:moveTo>
                    <a:pt x="1556398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556398" y="330200"/>
                  </a:lnTo>
                  <a:lnTo>
                    <a:pt x="1556398" y="0"/>
                  </a:lnTo>
                  <a:close/>
                </a:path>
              </a:pathLst>
            </a:custGeom>
            <a:solidFill>
              <a:srgbClr val="2667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563600" y="990599"/>
              <a:ext cx="1557020" cy="330200"/>
            </a:xfrm>
            <a:custGeom>
              <a:avLst/>
              <a:gdLst/>
              <a:ahLst/>
              <a:cxnLst/>
              <a:rect l="l" t="t" r="r" b="b"/>
              <a:pathLst>
                <a:path w="1557019" h="330200">
                  <a:moveTo>
                    <a:pt x="1556398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556398" y="33020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81600" y="990599"/>
            <a:ext cx="1879600" cy="330200"/>
          </a:xfrm>
          <a:prstGeom prst="rect">
            <a:avLst/>
          </a:prstGeom>
          <a:solidFill>
            <a:srgbClr val="1D3A5E"/>
          </a:solidFill>
          <a:ln w="12700">
            <a:solidFill>
              <a:srgbClr val="2A6BA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i="1" spc="-10" dirty="0">
                <a:solidFill>
                  <a:srgbClr val="FFFF99"/>
                </a:solidFill>
                <a:latin typeface="Arial"/>
                <a:cs typeface="Arial"/>
              </a:rPr>
              <a:t>«entity»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:PurchaseOrder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93100" y="990599"/>
            <a:ext cx="1498600" cy="330200"/>
          </a:xfrm>
          <a:prstGeom prst="rect">
            <a:avLst/>
          </a:prstGeom>
          <a:solidFill>
            <a:srgbClr val="1D3A5E"/>
          </a:solidFill>
          <a:ln w="12700">
            <a:solidFill>
              <a:srgbClr val="2A6BA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i="1" spc="-10" dirty="0">
                <a:solidFill>
                  <a:srgbClr val="FFFF99"/>
                </a:solidFill>
                <a:latin typeface="Arial"/>
                <a:cs typeface="Arial"/>
              </a:rPr>
              <a:t>«entity»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:Payment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23600" y="990599"/>
            <a:ext cx="1625600" cy="330200"/>
          </a:xfrm>
          <a:prstGeom prst="rect">
            <a:avLst/>
          </a:prstGeom>
          <a:solidFill>
            <a:srgbClr val="266749"/>
          </a:solidFill>
          <a:ln w="12700">
            <a:solidFill>
              <a:srgbClr val="2A6BA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i="1" spc="-10" dirty="0">
                <a:solidFill>
                  <a:srgbClr val="FFFF99"/>
                </a:solidFill>
                <a:latin typeface="Arial"/>
                <a:cs typeface="Arial"/>
              </a:rPr>
              <a:t>«ref»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:PayStatus_Ref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69950" y="988060"/>
            <a:ext cx="1550670" cy="2527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2865" algn="ctr">
              <a:lnSpc>
                <a:spcPct val="100000"/>
              </a:lnSpc>
              <a:spcBef>
                <a:spcPts val="120"/>
              </a:spcBef>
            </a:pPr>
            <a:r>
              <a:rPr sz="600" i="1" spc="-10" dirty="0">
                <a:solidFill>
                  <a:srgbClr val="FFFF99"/>
                </a:solidFill>
                <a:latin typeface="Arial"/>
                <a:cs typeface="Arial"/>
              </a:rPr>
              <a:t>«ref»</a:t>
            </a:r>
            <a:endParaRPr sz="600">
              <a:latin typeface="Arial"/>
              <a:cs typeface="Arial"/>
            </a:endParaRPr>
          </a:p>
          <a:p>
            <a:pPr marL="62865" algn="ctr">
              <a:lnSpc>
                <a:spcPct val="100000"/>
              </a:lnSpc>
              <a:spcBef>
                <a:spcPts val="3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:PayMethod_Ref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527205" y="838200"/>
            <a:ext cx="61849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i="1" spc="-10" dirty="0">
                <a:solidFill>
                  <a:srgbClr val="708095"/>
                </a:solidFill>
                <a:latin typeface="Arial"/>
                <a:cs typeface="Arial"/>
              </a:rPr>
              <a:t>«PayStatus_Ref»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048156" y="838200"/>
            <a:ext cx="65659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i="1" spc="-10" dirty="0">
                <a:solidFill>
                  <a:srgbClr val="708095"/>
                </a:solidFill>
                <a:latin typeface="Arial"/>
                <a:cs typeface="Arial"/>
              </a:rPr>
              <a:t>«PayMethod_Ref»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703320" y="1684019"/>
            <a:ext cx="10678160" cy="8657590"/>
            <a:chOff x="3703320" y="1684019"/>
            <a:chExt cx="10678160" cy="8657590"/>
          </a:xfrm>
        </p:grpSpPr>
        <p:sp>
          <p:nvSpPr>
            <p:cNvPr id="24" name="object 24"/>
            <p:cNvSpPr/>
            <p:nvPr/>
          </p:nvSpPr>
          <p:spPr>
            <a:xfrm>
              <a:off x="3708400" y="1689099"/>
              <a:ext cx="8128000" cy="8647430"/>
            </a:xfrm>
            <a:custGeom>
              <a:avLst/>
              <a:gdLst/>
              <a:ahLst/>
              <a:cxnLst/>
              <a:rect l="l" t="t" r="r" b="b"/>
              <a:pathLst>
                <a:path w="8128000" h="8647430">
                  <a:moveTo>
                    <a:pt x="0" y="3340100"/>
                  </a:moveTo>
                  <a:lnTo>
                    <a:pt x="0" y="8647300"/>
                  </a:lnTo>
                </a:path>
                <a:path w="8128000" h="8647430">
                  <a:moveTo>
                    <a:pt x="0" y="2489200"/>
                  </a:moveTo>
                  <a:lnTo>
                    <a:pt x="0" y="3187700"/>
                  </a:lnTo>
                </a:path>
                <a:path w="8128000" h="8647430">
                  <a:moveTo>
                    <a:pt x="0" y="1638300"/>
                  </a:moveTo>
                  <a:lnTo>
                    <a:pt x="0" y="2336800"/>
                  </a:lnTo>
                </a:path>
                <a:path w="8128000" h="8647430">
                  <a:moveTo>
                    <a:pt x="0" y="787400"/>
                  </a:moveTo>
                  <a:lnTo>
                    <a:pt x="0" y="1485900"/>
                  </a:lnTo>
                </a:path>
                <a:path w="8128000" h="8647430">
                  <a:moveTo>
                    <a:pt x="0" y="0"/>
                  </a:moveTo>
                  <a:lnTo>
                    <a:pt x="0" y="635000"/>
                  </a:lnTo>
                </a:path>
                <a:path w="8128000" h="8647430">
                  <a:moveTo>
                    <a:pt x="2413000" y="6045200"/>
                  </a:moveTo>
                  <a:lnTo>
                    <a:pt x="2413000" y="8647300"/>
                  </a:lnTo>
                </a:path>
                <a:path w="8128000" h="8647430">
                  <a:moveTo>
                    <a:pt x="2413000" y="5740400"/>
                  </a:moveTo>
                  <a:lnTo>
                    <a:pt x="2413000" y="5791200"/>
                  </a:lnTo>
                </a:path>
                <a:path w="8128000" h="8647430">
                  <a:moveTo>
                    <a:pt x="2413000" y="1092200"/>
                  </a:moveTo>
                  <a:lnTo>
                    <a:pt x="2413000" y="5588000"/>
                  </a:lnTo>
                </a:path>
                <a:path w="8128000" h="8647430">
                  <a:moveTo>
                    <a:pt x="2413000" y="0"/>
                  </a:moveTo>
                  <a:lnTo>
                    <a:pt x="2413000" y="812800"/>
                  </a:lnTo>
                </a:path>
                <a:path w="8128000" h="8647430">
                  <a:moveTo>
                    <a:pt x="5334000" y="5461000"/>
                  </a:moveTo>
                  <a:lnTo>
                    <a:pt x="5334000" y="8647300"/>
                  </a:lnTo>
                </a:path>
                <a:path w="8128000" h="8647430">
                  <a:moveTo>
                    <a:pt x="5334000" y="4673600"/>
                  </a:moveTo>
                  <a:lnTo>
                    <a:pt x="5334000" y="5105400"/>
                  </a:lnTo>
                </a:path>
                <a:path w="8128000" h="8647430">
                  <a:moveTo>
                    <a:pt x="5334000" y="3848100"/>
                  </a:moveTo>
                  <a:lnTo>
                    <a:pt x="5334000" y="4521200"/>
                  </a:lnTo>
                </a:path>
                <a:path w="8128000" h="8647430">
                  <a:moveTo>
                    <a:pt x="5334000" y="2794000"/>
                  </a:moveTo>
                  <a:lnTo>
                    <a:pt x="5334000" y="3365500"/>
                  </a:lnTo>
                </a:path>
                <a:path w="8128000" h="8647430">
                  <a:moveTo>
                    <a:pt x="5334000" y="0"/>
                  </a:moveTo>
                  <a:lnTo>
                    <a:pt x="5334000" y="2514600"/>
                  </a:lnTo>
                </a:path>
                <a:path w="8128000" h="8647430">
                  <a:moveTo>
                    <a:pt x="8128000" y="4978400"/>
                  </a:moveTo>
                  <a:lnTo>
                    <a:pt x="8128000" y="8647300"/>
                  </a:lnTo>
                </a:path>
                <a:path w="8128000" h="8647430">
                  <a:moveTo>
                    <a:pt x="8128000" y="0"/>
                  </a:moveTo>
                  <a:lnTo>
                    <a:pt x="8128000" y="4699000"/>
                  </a:lnTo>
                </a:path>
              </a:pathLst>
            </a:custGeom>
            <a:ln w="10159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376400" y="1689099"/>
              <a:ext cx="0" cy="7466330"/>
            </a:xfrm>
            <a:custGeom>
              <a:avLst/>
              <a:gdLst/>
              <a:ahLst/>
              <a:cxnLst/>
              <a:rect l="l" t="t" r="r" b="b"/>
              <a:pathLst>
                <a:path h="7466330">
                  <a:moveTo>
                    <a:pt x="0" y="1943100"/>
                  </a:moveTo>
                  <a:lnTo>
                    <a:pt x="0" y="7466200"/>
                  </a:lnTo>
                </a:path>
                <a:path h="7466330">
                  <a:moveTo>
                    <a:pt x="0" y="0"/>
                  </a:moveTo>
                  <a:lnTo>
                    <a:pt x="0" y="1663700"/>
                  </a:lnTo>
                </a:path>
              </a:pathLst>
            </a:custGeom>
            <a:ln w="1016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908300" y="1778000"/>
            <a:ext cx="1562100" cy="220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ctr">
              <a:lnSpc>
                <a:spcPts val="830"/>
              </a:lnSpc>
              <a:spcBef>
                <a:spcPts val="100"/>
              </a:spcBef>
            </a:pPr>
            <a:r>
              <a:rPr sz="800" b="1" spc="-10" dirty="0">
                <a:solidFill>
                  <a:srgbClr val="1A1F2B"/>
                </a:solidFill>
                <a:latin typeface="Arial"/>
                <a:cs typeface="Arial"/>
              </a:rPr>
              <a:t>Retailer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710"/>
              </a:lnSpc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1: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View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Approved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Order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 Total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917825" y="1990724"/>
            <a:ext cx="2673350" cy="490855"/>
            <a:chOff x="2917825" y="1990724"/>
            <a:chExt cx="2673350" cy="490855"/>
          </a:xfrm>
        </p:grpSpPr>
        <p:sp>
          <p:nvSpPr>
            <p:cNvPr id="28" name="object 28"/>
            <p:cNvSpPr/>
            <p:nvPr/>
          </p:nvSpPr>
          <p:spPr>
            <a:xfrm>
              <a:off x="2921000" y="1993899"/>
              <a:ext cx="2667000" cy="0"/>
            </a:xfrm>
            <a:custGeom>
              <a:avLst/>
              <a:gdLst/>
              <a:ahLst/>
              <a:cxnLst/>
              <a:rect l="l" t="t" r="r" b="b"/>
              <a:pathLst>
                <a:path w="2667000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32200" y="23240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32200" y="23240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84600" y="2400299"/>
              <a:ext cx="1397000" cy="0"/>
            </a:xfrm>
            <a:custGeom>
              <a:avLst/>
              <a:gdLst/>
              <a:ahLst/>
              <a:cxnLst/>
              <a:rect l="l" t="t" r="r" b="b"/>
              <a:pathLst>
                <a:path w="1397000">
                  <a:moveTo>
                    <a:pt x="0" y="0"/>
                  </a:moveTo>
                  <a:lnTo>
                    <a:pt x="13970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92700" y="23621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253467" y="2228850"/>
            <a:ext cx="4597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getTotal()</a:t>
            </a:r>
            <a:endParaRPr sz="7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08300" y="22860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779837" y="2496819"/>
            <a:ext cx="2423160" cy="289560"/>
            <a:chOff x="3779837" y="2496819"/>
            <a:chExt cx="2423160" cy="289560"/>
          </a:xfrm>
        </p:grpSpPr>
        <p:sp>
          <p:nvSpPr>
            <p:cNvPr id="36" name="object 36"/>
            <p:cNvSpPr/>
            <p:nvPr/>
          </p:nvSpPr>
          <p:spPr>
            <a:xfrm>
              <a:off x="6045200" y="25018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45200" y="25018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84600" y="2705099"/>
              <a:ext cx="1397000" cy="0"/>
            </a:xfrm>
            <a:custGeom>
              <a:avLst/>
              <a:gdLst/>
              <a:ahLst/>
              <a:cxnLst/>
              <a:rect l="l" t="t" r="r" b="b"/>
              <a:pathLst>
                <a:path w="1397000">
                  <a:moveTo>
                    <a:pt x="13970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0155" y="2662554"/>
              <a:ext cx="72390" cy="8509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3852856" y="2540000"/>
            <a:ext cx="12611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30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totalAmount</a:t>
            </a:r>
            <a:r>
              <a:rPr sz="700" spc="-30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(DECIMAL)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908300" y="25908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08300" y="2717800"/>
            <a:ext cx="234759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2: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Select Payment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Method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from Reference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Table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917825" y="2841624"/>
            <a:ext cx="10652125" cy="490855"/>
            <a:chOff x="2917825" y="2841624"/>
            <a:chExt cx="10652125" cy="490855"/>
          </a:xfrm>
        </p:grpSpPr>
        <p:sp>
          <p:nvSpPr>
            <p:cNvPr id="44" name="object 44"/>
            <p:cNvSpPr/>
            <p:nvPr/>
          </p:nvSpPr>
          <p:spPr>
            <a:xfrm>
              <a:off x="2921000" y="2844799"/>
              <a:ext cx="3721100" cy="0"/>
            </a:xfrm>
            <a:custGeom>
              <a:avLst/>
              <a:gdLst/>
              <a:ahLst/>
              <a:cxnLst/>
              <a:rect l="l" t="t" r="r" b="b"/>
              <a:pathLst>
                <a:path w="3721100">
                  <a:moveTo>
                    <a:pt x="0" y="0"/>
                  </a:moveTo>
                  <a:lnTo>
                    <a:pt x="37211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32200" y="31749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2200" y="31749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84600" y="3251199"/>
              <a:ext cx="9779000" cy="0"/>
            </a:xfrm>
            <a:custGeom>
              <a:avLst/>
              <a:gdLst/>
              <a:ahLst/>
              <a:cxnLst/>
              <a:rect l="l" t="t" r="r" b="b"/>
              <a:pathLst>
                <a:path w="9779000">
                  <a:moveTo>
                    <a:pt x="0" y="0"/>
                  </a:moveTo>
                  <a:lnTo>
                    <a:pt x="97790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474700" y="32130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219535" y="3079750"/>
            <a:ext cx="909319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getActiveMethods()</a:t>
            </a:r>
            <a:endParaRPr sz="7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908300" y="31369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779837" y="3347719"/>
            <a:ext cx="10678160" cy="289560"/>
            <a:chOff x="3779837" y="3347719"/>
            <a:chExt cx="10678160" cy="289560"/>
          </a:xfrm>
        </p:grpSpPr>
        <p:sp>
          <p:nvSpPr>
            <p:cNvPr id="52" name="object 52"/>
            <p:cNvSpPr/>
            <p:nvPr/>
          </p:nvSpPr>
          <p:spPr>
            <a:xfrm>
              <a:off x="14300200" y="33527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4300200" y="33527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84600" y="3555999"/>
              <a:ext cx="9779000" cy="0"/>
            </a:xfrm>
            <a:custGeom>
              <a:avLst/>
              <a:gdLst/>
              <a:ahLst/>
              <a:cxnLst/>
              <a:rect l="l" t="t" r="r" b="b"/>
              <a:pathLst>
                <a:path w="9779000">
                  <a:moveTo>
                    <a:pt x="97790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0155" y="3513454"/>
              <a:ext cx="72390" cy="8509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7851120" y="3390900"/>
            <a:ext cx="164655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40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List&lt;methodName,</a:t>
            </a:r>
            <a:r>
              <a:rPr sz="700" spc="40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requiresCard&gt;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908300" y="34417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08300" y="3568700"/>
            <a:ext cx="18338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3: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Submit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Payment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&amp;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Create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Record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2917825" y="3692524"/>
            <a:ext cx="5380990" cy="490855"/>
            <a:chOff x="2917825" y="3692524"/>
            <a:chExt cx="5380990" cy="490855"/>
          </a:xfrm>
        </p:grpSpPr>
        <p:sp>
          <p:nvSpPr>
            <p:cNvPr id="60" name="object 60"/>
            <p:cNvSpPr/>
            <p:nvPr/>
          </p:nvSpPr>
          <p:spPr>
            <a:xfrm>
              <a:off x="2921000" y="3695699"/>
              <a:ext cx="2921000" cy="0"/>
            </a:xfrm>
            <a:custGeom>
              <a:avLst/>
              <a:gdLst/>
              <a:ahLst/>
              <a:cxnLst/>
              <a:rect l="l" t="t" r="r" b="b"/>
              <a:pathLst>
                <a:path w="2921000">
                  <a:moveTo>
                    <a:pt x="0" y="0"/>
                  </a:moveTo>
                  <a:lnTo>
                    <a:pt x="29210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632200" y="40258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632200" y="40258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84600" y="4102099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11430">
              <a:solidFill>
                <a:srgbClr val="2A6BA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204200" y="40639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4464716" y="3930650"/>
            <a:ext cx="314833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&lt;&lt;create&gt;&gt;</a:t>
            </a:r>
            <a:r>
              <a:rPr sz="750" b="1" spc="-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submitPayment(orderId,</a:t>
            </a:r>
            <a:r>
              <a:rPr sz="750" b="1" spc="-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amount,</a:t>
            </a:r>
            <a:r>
              <a:rPr sz="750" b="1" spc="-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1A1F2B"/>
                </a:solidFill>
                <a:latin typeface="Arial"/>
                <a:cs typeface="Arial"/>
              </a:rPr>
              <a:t>methodCode,</a:t>
            </a:r>
            <a:r>
              <a:rPr sz="750" b="1" spc="-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cardData)</a:t>
            </a:r>
            <a:endParaRPr sz="7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908300" y="3987800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779837" y="4198619"/>
            <a:ext cx="5344160" cy="289560"/>
            <a:chOff x="3779837" y="4198619"/>
            <a:chExt cx="5344160" cy="289560"/>
          </a:xfrm>
        </p:grpSpPr>
        <p:sp>
          <p:nvSpPr>
            <p:cNvPr id="68" name="object 68"/>
            <p:cNvSpPr/>
            <p:nvPr/>
          </p:nvSpPr>
          <p:spPr>
            <a:xfrm>
              <a:off x="8966200" y="42036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966200" y="42036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784600" y="4406899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45085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0155" y="4364354"/>
              <a:ext cx="72390" cy="85090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5308549" y="4241799"/>
            <a:ext cx="146113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:Payment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(status=PENDING)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908300" y="42925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908300" y="4419599"/>
            <a:ext cx="169608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4: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Process Payment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via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Gateway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917825" y="4543424"/>
            <a:ext cx="5381625" cy="490855"/>
            <a:chOff x="2917825" y="4543424"/>
            <a:chExt cx="5381625" cy="490855"/>
          </a:xfrm>
        </p:grpSpPr>
        <p:sp>
          <p:nvSpPr>
            <p:cNvPr id="76" name="object 76"/>
            <p:cNvSpPr/>
            <p:nvPr/>
          </p:nvSpPr>
          <p:spPr>
            <a:xfrm>
              <a:off x="2921000" y="4546599"/>
              <a:ext cx="2768600" cy="0"/>
            </a:xfrm>
            <a:custGeom>
              <a:avLst/>
              <a:gdLst/>
              <a:ahLst/>
              <a:cxnLst/>
              <a:rect l="l" t="t" r="r" b="b"/>
              <a:pathLst>
                <a:path w="2768600">
                  <a:moveTo>
                    <a:pt x="0" y="0"/>
                  </a:moveTo>
                  <a:lnTo>
                    <a:pt x="27686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632200" y="48767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632200" y="48767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784600" y="4952999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204200" y="49148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5811789" y="4781549"/>
            <a:ext cx="454659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process()</a:t>
            </a:r>
            <a:endParaRPr sz="75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908300" y="48386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7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8961119" y="5049519"/>
            <a:ext cx="721995" cy="492759"/>
            <a:chOff x="8961119" y="5049519"/>
            <a:chExt cx="721995" cy="492759"/>
          </a:xfrm>
        </p:grpSpPr>
        <p:sp>
          <p:nvSpPr>
            <p:cNvPr id="84" name="object 84"/>
            <p:cNvSpPr/>
            <p:nvPr/>
          </p:nvSpPr>
          <p:spPr>
            <a:xfrm>
              <a:off x="8966199" y="5054599"/>
              <a:ext cx="152400" cy="482600"/>
            </a:xfrm>
            <a:custGeom>
              <a:avLst/>
              <a:gdLst/>
              <a:ahLst/>
              <a:cxnLst/>
              <a:rect l="l" t="t" r="r" b="b"/>
              <a:pathLst>
                <a:path w="152400" h="482600">
                  <a:moveTo>
                    <a:pt x="152400" y="0"/>
                  </a:moveTo>
                  <a:lnTo>
                    <a:pt x="0" y="0"/>
                  </a:lnTo>
                  <a:lnTo>
                    <a:pt x="0" y="482600"/>
                  </a:lnTo>
                  <a:lnTo>
                    <a:pt x="152400" y="4826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966199" y="5054599"/>
              <a:ext cx="152400" cy="482600"/>
            </a:xfrm>
            <a:custGeom>
              <a:avLst/>
              <a:gdLst/>
              <a:ahLst/>
              <a:cxnLst/>
              <a:rect l="l" t="t" r="r" b="b"/>
              <a:pathLst>
                <a:path w="152400" h="482600">
                  <a:moveTo>
                    <a:pt x="0" y="482600"/>
                  </a:moveTo>
                  <a:lnTo>
                    <a:pt x="152400" y="4826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826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118599" y="5257799"/>
              <a:ext cx="558800" cy="203200"/>
            </a:xfrm>
            <a:custGeom>
              <a:avLst/>
              <a:gdLst/>
              <a:ahLst/>
              <a:cxnLst/>
              <a:rect l="l" t="t" r="r" b="b"/>
              <a:pathLst>
                <a:path w="558800" h="203200">
                  <a:moveTo>
                    <a:pt x="0" y="0"/>
                  </a:moveTo>
                  <a:lnTo>
                    <a:pt x="558800" y="0"/>
                  </a:lnTo>
                </a:path>
                <a:path w="558800" h="203200">
                  <a:moveTo>
                    <a:pt x="558800" y="0"/>
                  </a:moveTo>
                  <a:lnTo>
                    <a:pt x="558800" y="203200"/>
                  </a:lnTo>
                </a:path>
                <a:path w="558800" h="203200">
                  <a:moveTo>
                    <a:pt x="558800" y="203200"/>
                  </a:moveTo>
                  <a:lnTo>
                    <a:pt x="0" y="203200"/>
                  </a:lnTo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118599" y="5422899"/>
              <a:ext cx="63500" cy="76200"/>
            </a:xfrm>
            <a:custGeom>
              <a:avLst/>
              <a:gdLst/>
              <a:ahLst/>
              <a:cxnLst/>
              <a:rect l="l" t="t" r="r" b="b"/>
              <a:pathLst>
                <a:path w="63500" h="76200">
                  <a:moveTo>
                    <a:pt x="63500" y="0"/>
                  </a:moveTo>
                  <a:lnTo>
                    <a:pt x="0" y="38100"/>
                  </a:lnTo>
                  <a:lnTo>
                    <a:pt x="63500" y="762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9182100" y="5105399"/>
            <a:ext cx="13500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callGateway(amount,</a:t>
            </a:r>
            <a:r>
              <a:rPr sz="700" b="1" spc="114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cardData)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779837" y="5697854"/>
            <a:ext cx="4518025" cy="85090"/>
            <a:chOff x="3779837" y="5697854"/>
            <a:chExt cx="4518025" cy="85090"/>
          </a:xfrm>
        </p:grpSpPr>
        <p:sp>
          <p:nvSpPr>
            <p:cNvPr id="90" name="object 90"/>
            <p:cNvSpPr/>
            <p:nvPr/>
          </p:nvSpPr>
          <p:spPr>
            <a:xfrm>
              <a:off x="3784600" y="5740399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45085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0155" y="5697854"/>
              <a:ext cx="72390" cy="85090"/>
            </a:xfrm>
            <a:prstGeom prst="rect">
              <a:avLst/>
            </a:prstGeom>
          </p:spPr>
        </p:pic>
      </p:grpSp>
      <p:sp>
        <p:nvSpPr>
          <p:cNvPr id="92" name="object 92"/>
          <p:cNvSpPr txBox="1"/>
          <p:nvPr/>
        </p:nvSpPr>
        <p:spPr>
          <a:xfrm>
            <a:off x="5372779" y="5575299"/>
            <a:ext cx="133286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Boolean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(success=TRUE)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908300" y="56260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8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908300" y="5753099"/>
            <a:ext cx="1764664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Phase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5: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Update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Payment &amp;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D3A5E"/>
                </a:solidFill>
                <a:latin typeface="Arial"/>
                <a:cs typeface="Arial"/>
              </a:rPr>
              <a:t>Order</a:t>
            </a:r>
            <a:r>
              <a:rPr sz="700" b="1" spc="-5" dirty="0">
                <a:solidFill>
                  <a:srgbClr val="1D3A5E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D3A5E"/>
                </a:solidFill>
                <a:latin typeface="Arial"/>
                <a:cs typeface="Arial"/>
              </a:rPr>
              <a:t>Status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2917825" y="5876924"/>
            <a:ext cx="8112125" cy="490855"/>
            <a:chOff x="2917825" y="5876924"/>
            <a:chExt cx="8112125" cy="490855"/>
          </a:xfrm>
        </p:grpSpPr>
        <p:sp>
          <p:nvSpPr>
            <p:cNvPr id="96" name="object 96"/>
            <p:cNvSpPr/>
            <p:nvPr/>
          </p:nvSpPr>
          <p:spPr>
            <a:xfrm>
              <a:off x="2921000" y="5880099"/>
              <a:ext cx="2895600" cy="0"/>
            </a:xfrm>
            <a:custGeom>
              <a:avLst/>
              <a:gdLst/>
              <a:ahLst/>
              <a:cxnLst/>
              <a:rect l="l" t="t" r="r" b="b"/>
              <a:pathLst>
                <a:path w="2895600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ln w="6350">
              <a:solidFill>
                <a:srgbClr val="EB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966200" y="62102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966200" y="62102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293100" y="6286499"/>
              <a:ext cx="2730500" cy="0"/>
            </a:xfrm>
            <a:custGeom>
              <a:avLst/>
              <a:gdLst/>
              <a:ahLst/>
              <a:cxnLst/>
              <a:rect l="l" t="t" r="r" b="b"/>
              <a:pathLst>
                <a:path w="2730500">
                  <a:moveTo>
                    <a:pt x="0" y="0"/>
                  </a:moveTo>
                  <a:lnTo>
                    <a:pt x="273050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0934700" y="62483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0"/>
                  </a:moveTo>
                  <a:lnTo>
                    <a:pt x="0" y="76200"/>
                  </a:lnTo>
                  <a:lnTo>
                    <a:pt x="889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9201070" y="6115049"/>
            <a:ext cx="91503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getActiveStatuses()</a:t>
            </a:r>
            <a:endParaRPr sz="75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908300" y="6172199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708095"/>
                </a:solidFill>
                <a:latin typeface="Arial MT"/>
                <a:cs typeface="Arial MT"/>
              </a:rPr>
              <a:t>9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8288337" y="6383019"/>
            <a:ext cx="3629660" cy="289560"/>
            <a:chOff x="8288337" y="6383019"/>
            <a:chExt cx="3629660" cy="289560"/>
          </a:xfrm>
        </p:grpSpPr>
        <p:sp>
          <p:nvSpPr>
            <p:cNvPr id="104" name="object 104"/>
            <p:cNvSpPr/>
            <p:nvPr/>
          </p:nvSpPr>
          <p:spPr>
            <a:xfrm>
              <a:off x="11760200" y="63880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152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52400" y="279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1760200" y="6388099"/>
              <a:ext cx="152400" cy="279400"/>
            </a:xfrm>
            <a:custGeom>
              <a:avLst/>
              <a:gdLst/>
              <a:ahLst/>
              <a:cxnLst/>
              <a:rect l="l" t="t" r="r" b="b"/>
              <a:pathLst>
                <a:path w="152400" h="279400">
                  <a:moveTo>
                    <a:pt x="0" y="279400"/>
                  </a:moveTo>
                  <a:lnTo>
                    <a:pt x="152400" y="279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293100" y="6591299"/>
              <a:ext cx="2730500" cy="0"/>
            </a:xfrm>
            <a:custGeom>
              <a:avLst/>
              <a:gdLst/>
              <a:ahLst/>
              <a:cxnLst/>
              <a:rect l="l" t="t" r="r" b="b"/>
              <a:pathLst>
                <a:path w="2730500">
                  <a:moveTo>
                    <a:pt x="27305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8655" y="6548754"/>
              <a:ext cx="72390" cy="85090"/>
            </a:xfrm>
            <a:prstGeom prst="rect">
              <a:avLst/>
            </a:prstGeom>
          </p:spPr>
        </p:pic>
      </p:grpSp>
      <p:sp>
        <p:nvSpPr>
          <p:cNvPr id="108" name="object 108"/>
          <p:cNvSpPr txBox="1"/>
          <p:nvPr/>
        </p:nvSpPr>
        <p:spPr>
          <a:xfrm>
            <a:off x="9228219" y="6426199"/>
            <a:ext cx="86042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2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COMPLETED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2908300" y="6476999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10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8961119" y="6789419"/>
            <a:ext cx="721995" cy="365760"/>
            <a:chOff x="8961119" y="6789419"/>
            <a:chExt cx="721995" cy="365760"/>
          </a:xfrm>
        </p:grpSpPr>
        <p:sp>
          <p:nvSpPr>
            <p:cNvPr id="111" name="object 111"/>
            <p:cNvSpPr/>
            <p:nvPr/>
          </p:nvSpPr>
          <p:spPr>
            <a:xfrm>
              <a:off x="8966199" y="6794499"/>
              <a:ext cx="152400" cy="355600"/>
            </a:xfrm>
            <a:custGeom>
              <a:avLst/>
              <a:gdLst/>
              <a:ahLst/>
              <a:cxnLst/>
              <a:rect l="l" t="t" r="r" b="b"/>
              <a:pathLst>
                <a:path w="152400" h="355600">
                  <a:moveTo>
                    <a:pt x="152400" y="0"/>
                  </a:moveTo>
                  <a:lnTo>
                    <a:pt x="0" y="0"/>
                  </a:lnTo>
                  <a:lnTo>
                    <a:pt x="0" y="355599"/>
                  </a:lnTo>
                  <a:lnTo>
                    <a:pt x="152400" y="3555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966199" y="6794499"/>
              <a:ext cx="152400" cy="355600"/>
            </a:xfrm>
            <a:custGeom>
              <a:avLst/>
              <a:gdLst/>
              <a:ahLst/>
              <a:cxnLst/>
              <a:rect l="l" t="t" r="r" b="b"/>
              <a:pathLst>
                <a:path w="152400" h="355600">
                  <a:moveTo>
                    <a:pt x="0" y="355599"/>
                  </a:moveTo>
                  <a:lnTo>
                    <a:pt x="152400" y="3555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355599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9118599" y="6870699"/>
              <a:ext cx="558800" cy="203200"/>
            </a:xfrm>
            <a:custGeom>
              <a:avLst/>
              <a:gdLst/>
              <a:ahLst/>
              <a:cxnLst/>
              <a:rect l="l" t="t" r="r" b="b"/>
              <a:pathLst>
                <a:path w="558800" h="203200">
                  <a:moveTo>
                    <a:pt x="0" y="0"/>
                  </a:moveTo>
                  <a:lnTo>
                    <a:pt x="558800" y="0"/>
                  </a:lnTo>
                </a:path>
                <a:path w="558800" h="203200">
                  <a:moveTo>
                    <a:pt x="558800" y="0"/>
                  </a:moveTo>
                  <a:lnTo>
                    <a:pt x="558800" y="203199"/>
                  </a:lnTo>
                </a:path>
                <a:path w="558800" h="203200">
                  <a:moveTo>
                    <a:pt x="558800" y="203199"/>
                  </a:moveTo>
                  <a:lnTo>
                    <a:pt x="0" y="203199"/>
                  </a:lnTo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9118599" y="7035799"/>
              <a:ext cx="63500" cy="76200"/>
            </a:xfrm>
            <a:custGeom>
              <a:avLst/>
              <a:gdLst/>
              <a:ahLst/>
              <a:cxnLst/>
              <a:rect l="l" t="t" r="r" b="b"/>
              <a:pathLst>
                <a:path w="63500" h="76200">
                  <a:moveTo>
                    <a:pt x="63500" y="0"/>
                  </a:moveTo>
                  <a:lnTo>
                    <a:pt x="0" y="38099"/>
                  </a:lnTo>
                  <a:lnTo>
                    <a:pt x="63500" y="76199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9182100" y="6718300"/>
            <a:ext cx="120586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10" dirty="0">
                <a:solidFill>
                  <a:srgbClr val="1A1F2B"/>
                </a:solidFill>
                <a:latin typeface="Arial"/>
                <a:cs typeface="Arial"/>
              </a:rPr>
              <a:t>updateStatus(COMPLETED)</a:t>
            </a:r>
            <a:endParaRPr sz="7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2908300" y="67564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5175250" y="7272019"/>
            <a:ext cx="3124200" cy="162560"/>
            <a:chOff x="5175250" y="7272019"/>
            <a:chExt cx="3124200" cy="162560"/>
          </a:xfrm>
        </p:grpSpPr>
        <p:sp>
          <p:nvSpPr>
            <p:cNvPr id="118" name="object 118"/>
            <p:cNvSpPr/>
            <p:nvPr/>
          </p:nvSpPr>
          <p:spPr>
            <a:xfrm>
              <a:off x="6045200" y="72770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399"/>
                  </a:lnTo>
                  <a:lnTo>
                    <a:pt x="152400" y="1523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045200" y="72770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399"/>
                  </a:moveTo>
                  <a:lnTo>
                    <a:pt x="152400" y="1523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399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181600" y="7353299"/>
              <a:ext cx="3111500" cy="0"/>
            </a:xfrm>
            <a:custGeom>
              <a:avLst/>
              <a:gdLst/>
              <a:ahLst/>
              <a:cxnLst/>
              <a:rect l="l" t="t" r="r" b="b"/>
              <a:pathLst>
                <a:path w="3111500">
                  <a:moveTo>
                    <a:pt x="31115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181600" y="731519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0" y="38099"/>
                  </a:lnTo>
                  <a:lnTo>
                    <a:pt x="88900" y="76199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2A6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5893784" y="7181850"/>
            <a:ext cx="168719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A1F2B"/>
                </a:solidFill>
                <a:latin typeface="Arial"/>
                <a:cs typeface="Arial"/>
              </a:rPr>
              <a:t>updatePaymentStatus(COMPLETED)</a:t>
            </a:r>
            <a:endParaRPr sz="75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908300" y="72390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3779837" y="7475219"/>
            <a:ext cx="2423160" cy="264160"/>
            <a:chOff x="3779837" y="7475219"/>
            <a:chExt cx="2423160" cy="264160"/>
          </a:xfrm>
        </p:grpSpPr>
        <p:sp>
          <p:nvSpPr>
            <p:cNvPr id="125" name="object 125"/>
            <p:cNvSpPr/>
            <p:nvPr/>
          </p:nvSpPr>
          <p:spPr>
            <a:xfrm>
              <a:off x="6045200" y="7480299"/>
              <a:ext cx="152400" cy="254000"/>
            </a:xfrm>
            <a:custGeom>
              <a:avLst/>
              <a:gdLst/>
              <a:ahLst/>
              <a:cxnLst/>
              <a:rect l="l" t="t" r="r" b="b"/>
              <a:pathLst>
                <a:path w="152400" h="254000">
                  <a:moveTo>
                    <a:pt x="152400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152400" y="2540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045200" y="7480299"/>
              <a:ext cx="152400" cy="254000"/>
            </a:xfrm>
            <a:custGeom>
              <a:avLst/>
              <a:gdLst/>
              <a:ahLst/>
              <a:cxnLst/>
              <a:rect l="l" t="t" r="r" b="b"/>
              <a:pathLst>
                <a:path w="152400" h="254000">
                  <a:moveTo>
                    <a:pt x="0" y="254000"/>
                  </a:moveTo>
                  <a:lnTo>
                    <a:pt x="152400" y="2540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54000"/>
                  </a:lnTo>
                  <a:close/>
                </a:path>
              </a:pathLst>
            </a:custGeom>
            <a:ln w="1016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784600" y="7658099"/>
              <a:ext cx="1397000" cy="0"/>
            </a:xfrm>
            <a:custGeom>
              <a:avLst/>
              <a:gdLst/>
              <a:ahLst/>
              <a:cxnLst/>
              <a:rect l="l" t="t" r="r" b="b"/>
              <a:pathLst>
                <a:path w="1397000">
                  <a:moveTo>
                    <a:pt x="13970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0155" y="7615554"/>
              <a:ext cx="72390" cy="85089"/>
            </a:xfrm>
            <a:prstGeom prst="rect">
              <a:avLst/>
            </a:prstGeom>
          </p:spPr>
        </p:pic>
      </p:grpSp>
      <p:sp>
        <p:nvSpPr>
          <p:cNvPr id="129" name="object 129"/>
          <p:cNvSpPr txBox="1"/>
          <p:nvPr/>
        </p:nvSpPr>
        <p:spPr>
          <a:xfrm>
            <a:off x="3789159" y="7493000"/>
            <a:ext cx="13881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return:</a:t>
            </a:r>
            <a:r>
              <a:rPr sz="700" spc="-10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getReceipt()</a:t>
            </a:r>
            <a:r>
              <a:rPr sz="700" spc="-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08095"/>
                </a:solidFill>
                <a:latin typeface="Symbol"/>
                <a:cs typeface="Symbol"/>
              </a:rPr>
              <a:t></a:t>
            </a:r>
            <a:r>
              <a:rPr sz="700" spc="10" dirty="0">
                <a:solidFill>
                  <a:srgbClr val="708095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08095"/>
                </a:solidFill>
                <a:latin typeface="Arial MT"/>
                <a:cs typeface="Arial MT"/>
              </a:rPr>
              <a:t>receipt</a:t>
            </a:r>
            <a:r>
              <a:rPr sz="700" spc="-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708095"/>
                </a:solidFill>
                <a:latin typeface="Arial MT"/>
                <a:cs typeface="Arial MT"/>
              </a:rPr>
              <a:t>sent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908300" y="7543800"/>
            <a:ext cx="1104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708095"/>
                </a:solidFill>
                <a:latin typeface="Arial MT"/>
                <a:cs typeface="Arial MT"/>
              </a:rPr>
              <a:t>13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12385054" y="9150855"/>
            <a:ext cx="2320290" cy="1228090"/>
            <a:chOff x="12385054" y="9150855"/>
            <a:chExt cx="2320290" cy="1228090"/>
          </a:xfrm>
        </p:grpSpPr>
        <p:sp>
          <p:nvSpPr>
            <p:cNvPr id="132" name="object 132"/>
            <p:cNvSpPr/>
            <p:nvPr/>
          </p:nvSpPr>
          <p:spPr>
            <a:xfrm>
              <a:off x="12389499" y="9155300"/>
              <a:ext cx="2311400" cy="1219200"/>
            </a:xfrm>
            <a:custGeom>
              <a:avLst/>
              <a:gdLst/>
              <a:ahLst/>
              <a:cxnLst/>
              <a:rect l="l" t="t" r="r" b="b"/>
              <a:pathLst>
                <a:path w="2311400" h="1219200">
                  <a:moveTo>
                    <a:pt x="2311399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2311399" y="1219200"/>
                  </a:lnTo>
                  <a:lnTo>
                    <a:pt x="2311399" y="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2389499" y="9155300"/>
              <a:ext cx="2311400" cy="1219200"/>
            </a:xfrm>
            <a:custGeom>
              <a:avLst/>
              <a:gdLst/>
              <a:ahLst/>
              <a:cxnLst/>
              <a:rect l="l" t="t" r="r" b="b"/>
              <a:pathLst>
                <a:path w="2311400" h="1219200">
                  <a:moveTo>
                    <a:pt x="0" y="1219200"/>
                  </a:moveTo>
                  <a:lnTo>
                    <a:pt x="2311399" y="1219200"/>
                  </a:lnTo>
                  <a:lnTo>
                    <a:pt x="2311399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8890">
              <a:solidFill>
                <a:srgbClr val="CAD4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2452999" y="94220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64454" y="9379455"/>
              <a:ext cx="72387" cy="85089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12452999" y="95998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64454" y="9557255"/>
              <a:ext cx="72387" cy="85089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12452999" y="9777600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7" y="0"/>
                  </a:lnTo>
                </a:path>
              </a:pathLst>
            </a:custGeom>
            <a:ln w="11430">
              <a:solidFill>
                <a:srgbClr val="2A6BA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64454" y="9735055"/>
              <a:ext cx="72387" cy="85089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12452999" y="9891900"/>
              <a:ext cx="254000" cy="127000"/>
            </a:xfrm>
            <a:custGeom>
              <a:avLst/>
              <a:gdLst/>
              <a:ahLst/>
              <a:cxnLst/>
              <a:rect l="l" t="t" r="r" b="b"/>
              <a:pathLst>
                <a:path w="254000" h="127000">
                  <a:moveTo>
                    <a:pt x="254000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54000" y="127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BDE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452999" y="9891900"/>
              <a:ext cx="254000" cy="127000"/>
            </a:xfrm>
            <a:custGeom>
              <a:avLst/>
              <a:gdLst/>
              <a:ahLst/>
              <a:cxnLst/>
              <a:rect l="l" t="t" r="r" b="b"/>
              <a:pathLst>
                <a:path w="254000" h="127000">
                  <a:moveTo>
                    <a:pt x="0" y="127000"/>
                  </a:moveTo>
                  <a:lnTo>
                    <a:pt x="254000" y="127000"/>
                  </a:lnTo>
                  <a:lnTo>
                    <a:pt x="254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12453000" y="9174350"/>
            <a:ext cx="13227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1D3A5E"/>
                </a:solidFill>
                <a:latin typeface="Arial"/>
                <a:cs typeface="Arial"/>
              </a:rPr>
              <a:t>Legend</a:t>
            </a:r>
            <a:endParaRPr sz="750">
              <a:latin typeface="Arial"/>
              <a:cs typeface="Arial"/>
            </a:endParaRPr>
          </a:p>
          <a:p>
            <a:pPr marL="354965" marR="5080">
              <a:lnSpc>
                <a:spcPts val="1400"/>
              </a:lnSpc>
              <a:spcBef>
                <a:spcPts val="130"/>
              </a:spcBef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Synchronous</a:t>
            </a:r>
            <a:r>
              <a:rPr sz="650" spc="-4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message</a:t>
            </a:r>
            <a:r>
              <a:rPr sz="65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Return message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(dashed)</a:t>
            </a:r>
            <a:endParaRPr sz="650">
              <a:latin typeface="Arial MT"/>
              <a:cs typeface="Arial MT"/>
            </a:endParaRPr>
          </a:p>
          <a:p>
            <a:pPr marL="354965" marR="73660">
              <a:lnSpc>
                <a:spcPts val="1400"/>
              </a:lnSpc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&lt;&lt;create&gt;&gt;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instantiation</a:t>
            </a:r>
            <a:r>
              <a:rPr sz="650" spc="5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Activation</a:t>
            </a:r>
            <a:r>
              <a:rPr sz="650" spc="-3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5" dirty="0">
                <a:solidFill>
                  <a:srgbClr val="1A1F2B"/>
                </a:solidFill>
                <a:latin typeface="Arial MT"/>
                <a:cs typeface="Arial MT"/>
              </a:rPr>
              <a:t>box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43" name="object 1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144" name="object 1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Actors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objects</a:t>
            </a:r>
            <a:r>
              <a:rPr spc="-15" dirty="0"/>
              <a:t> </a:t>
            </a:r>
            <a:r>
              <a:rPr dirty="0"/>
              <a:t>verified</a:t>
            </a:r>
            <a:r>
              <a:rPr spc="-15" dirty="0"/>
              <a:t> </a:t>
            </a:r>
            <a:r>
              <a:rPr dirty="0"/>
              <a:t>against</a:t>
            </a:r>
            <a:r>
              <a:rPr spc="-10" dirty="0"/>
              <a:t> </a:t>
            </a:r>
            <a:r>
              <a:rPr dirty="0"/>
              <a:t>Class</a:t>
            </a:r>
            <a:r>
              <a:rPr spc="-15" dirty="0"/>
              <a:t> </a:t>
            </a:r>
            <a:r>
              <a:rPr dirty="0"/>
              <a:t>Diagram</a:t>
            </a:r>
            <a:r>
              <a:rPr spc="145" dirty="0"/>
              <a:t> </a:t>
            </a:r>
            <a:r>
              <a:rPr dirty="0"/>
              <a:t>|</a:t>
            </a:r>
            <a:r>
              <a:rPr spc="150" dirty="0"/>
              <a:t> </a:t>
            </a:r>
            <a:r>
              <a:rPr dirty="0"/>
              <a:t>Confidential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Academic</a:t>
            </a:r>
            <a:r>
              <a:rPr spc="-1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spc="-20" dirty="0"/>
              <a:t>Only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1198</Words>
  <Application>Microsoft Macintosh PowerPoint</Application>
  <PresentationFormat>Custom</PresentationFormat>
  <Paragraphs>258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MT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BulkCart – Sequence Diagrams 03.01, 03.03, 05.02</dc:title>
  <dc:subject>unspecified</dc:subject>
  <dc:creator>anonymous</dc:creator>
  <cp:lastModifiedBy>Meet Mangukiya</cp:lastModifiedBy>
  <cp:revision>8</cp:revision>
  <dcterms:created xsi:type="dcterms:W3CDTF">2026-04-13T13:08:00Z</dcterms:created>
  <dcterms:modified xsi:type="dcterms:W3CDTF">2026-04-13T13:17:11Z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2026-04-13T00:00:00Z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2026-04-13T00:00:00Z</vt:filetime>
  </property>
  <property fmtid="{D5CDD505-2E9C-101B-9397-08002B2CF9AE}" pid="5" name="Producer">
    <vt:lpwstr>ReportLab PDF Library - (opensource)</vt:lpwstr>
  </property>
</Properties>
</file>