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83CBEB"/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05"/>
    <p:restoredTop sz="94617"/>
  </p:normalViewPr>
  <p:slideViewPr>
    <p:cSldViewPr snapToGrid="0">
      <p:cViewPr varScale="1">
        <p:scale>
          <a:sx n="82" d="100"/>
          <a:sy n="82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B5C93-27EA-DA5A-57F0-DFD2B681F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DEBDB-3735-8C5B-1168-D6194557D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F0DB1-1410-AC30-4328-556563EB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71315-3FF7-AD47-867C-E3EB8FD1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B51F7-67BF-6C52-B9A2-A5D55DF5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1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8B57-205E-7012-2E32-13F541E6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7E308-BA73-3CFF-981D-CEF012B78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A70C6-3E44-84E4-EBA2-3658ADB8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B9445-B4E3-6638-375A-CBC188B8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FF895-117C-711F-1044-915762DF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0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B63F-4DBE-231E-FEFB-1A2F61B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95DC0-A552-0168-464D-A4B7B493E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B61EC-A478-5FF4-4CDD-C5EC6CFD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654F5-929E-603F-231F-5DF85232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6C694-CFEC-52DA-AF73-85C3A703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3CEF-AC54-5BBF-0428-DCB4026F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C8E98-088F-C205-C7BF-D0F9D0169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70A36-3C4B-A6D6-D910-107321AA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840D-3A3D-C643-A951-A26005C1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C005F-5FE9-7899-6EA4-4ADF2228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8189F-B845-529B-F116-F7A0A1D7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3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D3B3-6B0B-5464-B069-1C72DAD1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03DAB-F470-B3CB-2CA8-2F8DAF128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B6F47-F3D8-E033-B18B-9ACDAC806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C1225-72EE-13CE-A751-F3E9D05AE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10DAC-2AE9-0A4F-B257-FD494875A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439A4C-ED98-3001-E1CD-3D2C530C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229AD-27EA-6FE7-C1E7-51F01F6F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84AE5-396C-325E-D913-5DF3C1B0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0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203C-CE14-2E88-07C4-91DD3CC7A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43829-4C19-E032-CA9D-5D06BB2F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BBF1A-79DD-753D-B37C-720E799B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C4BD3-3416-C55F-12FA-61121F59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3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F2B44F-47D1-BFE9-CB7E-DB5AC086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90D50-6508-A701-26E8-9A54D5C23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B3D7C-5555-692A-1944-77793949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309C-090F-7638-9355-82EDBFF4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D1583-A5EE-CBFF-719B-317CFE0B3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BBDCE-C442-2677-8C4A-70648EBFD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3FC55-374D-DB4B-8526-54D4CD0F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63AC1-2907-3003-B4C2-8A275F0A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4C58C-D00C-87C3-2054-DA08EEA4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9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0FAA-53E3-3932-DF69-E133D051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8EC2F-5C9C-61A6-B3CB-6E2E72C70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9E01B-B5C9-ABE7-FEF7-F96834EF0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6664A-00F0-630E-4255-F82DD841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38332-FC24-7D43-EF65-F072B5E5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9D47-9D6D-EA35-F963-BE90A4E7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2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986D-9674-0234-6843-AB4D9B6B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004A1-2B89-DA86-7CDA-3FBCAF3A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E2147-D6E3-5A06-AC9E-074E5CA1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A0A02-ECDB-2A67-E2F5-52052EC4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9A5B-5BF8-A2E8-94F5-58C77884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1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2AC47-F65C-99FA-E977-09CA8937D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D7165-141D-3250-6CEC-4E4A1A0D3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7FB58-4957-0EA9-37AE-A59206F2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57DF1-BCE5-F923-4B3F-EC8360F3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2837F-1327-C8DB-2F9F-B22A3563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1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06579-982B-C3D7-9FB9-6D7EEA1A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184AE-0C73-4997-73BF-F95792FCA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B9693-CDAC-CC40-6686-552F2A8FD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13511-397A-5F4D-B11C-7ACCAEECBF7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C02C-9C8A-3322-A2B9-29CD54800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46167-2E83-C350-8917-776BD964C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A9EA1-3BB9-E14F-B84D-B086B3EA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4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BE40-A09C-6504-BA3F-E52FDDA85C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BulkCart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F13B0-02FB-7875-D815-AE260E1595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1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BD3B-DA6E-3E77-126C-01AD6DC3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47"/>
            <a:ext cx="10515600" cy="45912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BulkCart: Business Relationship Map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67038-7EB8-80B5-1A76-2C26BF0D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6670"/>
            <a:ext cx="10515600" cy="616898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8E9851-319A-B6C6-A240-8BF4CBEEEC38}"/>
              </a:ext>
            </a:extLst>
          </p:cNvPr>
          <p:cNvSpPr/>
          <p:nvPr/>
        </p:nvSpPr>
        <p:spPr>
          <a:xfrm>
            <a:off x="1068946" y="1470450"/>
            <a:ext cx="2704564" cy="5050441"/>
          </a:xfrm>
          <a:prstGeom prst="roundRect">
            <a:avLst/>
          </a:prstGeom>
          <a:solidFill>
            <a:srgbClr val="83CBEB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0DFC0-5405-12AB-CFC6-75259781235B}"/>
              </a:ext>
            </a:extLst>
          </p:cNvPr>
          <p:cNvSpPr/>
          <p:nvPr/>
        </p:nvSpPr>
        <p:spPr>
          <a:xfrm>
            <a:off x="1255690" y="1767739"/>
            <a:ext cx="2331076" cy="708338"/>
          </a:xfrm>
          <a:prstGeom prst="rect">
            <a:avLst/>
          </a:prstGeom>
          <a:solidFill>
            <a:srgbClr val="4E95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Wholesale Food Suppliers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B65CD-877A-B4AB-4650-59C804F77BA5}"/>
              </a:ext>
            </a:extLst>
          </p:cNvPr>
          <p:cNvSpPr/>
          <p:nvPr/>
        </p:nvSpPr>
        <p:spPr>
          <a:xfrm>
            <a:off x="1255690" y="2702418"/>
            <a:ext cx="2331076" cy="708338"/>
          </a:xfrm>
          <a:prstGeom prst="rect">
            <a:avLst/>
          </a:prstGeom>
          <a:solidFill>
            <a:srgbClr val="4E95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Packaging &amp; Non‑Food Suppliers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51314C-4C64-7D64-8CA2-DFDC7AF03E30}"/>
              </a:ext>
            </a:extLst>
          </p:cNvPr>
          <p:cNvSpPr/>
          <p:nvPr/>
        </p:nvSpPr>
        <p:spPr>
          <a:xfrm>
            <a:off x="1255690" y="3641502"/>
            <a:ext cx="2331076" cy="708338"/>
          </a:xfrm>
          <a:prstGeom prst="rect">
            <a:avLst/>
          </a:prstGeom>
          <a:solidFill>
            <a:srgbClr val="4E95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Payment Gateway Provider (Stripe / PayPal)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005466-FC91-3D22-65B4-38B7B1A27226}"/>
              </a:ext>
            </a:extLst>
          </p:cNvPr>
          <p:cNvSpPr/>
          <p:nvPr/>
        </p:nvSpPr>
        <p:spPr>
          <a:xfrm>
            <a:off x="1255690" y="4613857"/>
            <a:ext cx="2331076" cy="708338"/>
          </a:xfrm>
          <a:prstGeom prst="rect">
            <a:avLst/>
          </a:prstGeom>
          <a:solidFill>
            <a:srgbClr val="4E95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Logistics &amp; Delivery Partners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B1B5B4-B595-BE3D-4701-E7C3E4D02FB6}"/>
              </a:ext>
            </a:extLst>
          </p:cNvPr>
          <p:cNvSpPr/>
          <p:nvPr/>
        </p:nvSpPr>
        <p:spPr>
          <a:xfrm>
            <a:off x="1255690" y="5551756"/>
            <a:ext cx="2331076" cy="708338"/>
          </a:xfrm>
          <a:prstGeom prst="rect">
            <a:avLst/>
          </a:prstGeom>
          <a:solidFill>
            <a:srgbClr val="4E95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Cloud / Infrastructure Provider (AWS / GCP)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31E17-FAF6-999E-39F0-4D54B22597BD}"/>
              </a:ext>
            </a:extLst>
          </p:cNvPr>
          <p:cNvSpPr/>
          <p:nvPr/>
        </p:nvSpPr>
        <p:spPr>
          <a:xfrm>
            <a:off x="1255690" y="747310"/>
            <a:ext cx="2331076" cy="4591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Suppliers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EBBAAC-E7D0-E260-CF80-DB1A80189E15}"/>
              </a:ext>
            </a:extLst>
          </p:cNvPr>
          <p:cNvSpPr/>
          <p:nvPr/>
        </p:nvSpPr>
        <p:spPr>
          <a:xfrm>
            <a:off x="4887532" y="656990"/>
            <a:ext cx="2331076" cy="63976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Organization Selected Parts</a:t>
            </a:r>
          </a:p>
          <a:p>
            <a:pPr algn="ctr"/>
            <a:r>
              <a:rPr lang="en-US" sz="800" dirty="0"/>
              <a:t> </a:t>
            </a:r>
            <a:endParaRPr lang="en-US" sz="7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E8F4459-3C4B-D257-FAA1-39A899C4F280}"/>
              </a:ext>
            </a:extLst>
          </p:cNvPr>
          <p:cNvSpPr/>
          <p:nvPr/>
        </p:nvSpPr>
        <p:spPr>
          <a:xfrm>
            <a:off x="4353059" y="1470449"/>
            <a:ext cx="3400023" cy="5050441"/>
          </a:xfrm>
          <a:prstGeom prst="roundRect">
            <a:avLst/>
          </a:prstGeom>
          <a:solidFill>
            <a:srgbClr val="83CBEB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5CDD60-702F-7A3F-FB1A-B3DAE15608FC}"/>
              </a:ext>
            </a:extLst>
          </p:cNvPr>
          <p:cNvSpPr/>
          <p:nvPr/>
        </p:nvSpPr>
        <p:spPr>
          <a:xfrm>
            <a:off x="4930462" y="1755875"/>
            <a:ext cx="2331076" cy="708338"/>
          </a:xfrm>
          <a:prstGeom prst="rect">
            <a:avLst/>
          </a:prstGeom>
          <a:solidFill>
            <a:srgbClr val="4E95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Retailer Account &amp; Subscription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05F35-35DE-9010-8E90-87C43CE83546}"/>
              </a:ext>
            </a:extLst>
          </p:cNvPr>
          <p:cNvSpPr/>
          <p:nvPr/>
        </p:nvSpPr>
        <p:spPr>
          <a:xfrm>
            <a:off x="4930462" y="2702418"/>
            <a:ext cx="2331076" cy="708338"/>
          </a:xfrm>
          <a:prstGeom prst="rect">
            <a:avLst/>
          </a:prstGeom>
          <a:solidFill>
            <a:srgbClr val="4E95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Supplier Onboarding &amp; Catalog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BEE8A0-96EA-1292-17B0-3FB43A2EFB8A}"/>
              </a:ext>
            </a:extLst>
          </p:cNvPr>
          <p:cNvSpPr/>
          <p:nvPr/>
        </p:nvSpPr>
        <p:spPr>
          <a:xfrm>
            <a:off x="4930462" y="3641500"/>
            <a:ext cx="2331076" cy="708338"/>
          </a:xfrm>
          <a:prstGeom prst="rect">
            <a:avLst/>
          </a:prstGeom>
          <a:solidFill>
            <a:srgbClr val="4E95D9">
              <a:alpha val="5098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 &amp; Approval Workflow Management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99A81F-33FA-7494-EF61-F12102F571E3}"/>
              </a:ext>
            </a:extLst>
          </p:cNvPr>
          <p:cNvSpPr/>
          <p:nvPr/>
        </p:nvSpPr>
        <p:spPr>
          <a:xfrm>
            <a:off x="4930462" y="4613857"/>
            <a:ext cx="2331076" cy="708338"/>
          </a:xfrm>
          <a:prstGeom prst="rect">
            <a:avLst/>
          </a:prstGeom>
          <a:solidFill>
            <a:srgbClr val="4E95D9">
              <a:alpha val="5098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Billing, Invoicing &amp; Payment Management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2254E-BFCB-EEF4-DF37-ACAF62F07D06}"/>
              </a:ext>
            </a:extLst>
          </p:cNvPr>
          <p:cNvSpPr/>
          <p:nvPr/>
        </p:nvSpPr>
        <p:spPr>
          <a:xfrm>
            <a:off x="4930462" y="5551589"/>
            <a:ext cx="2331076" cy="708338"/>
          </a:xfrm>
          <a:prstGeom prst="rect">
            <a:avLst/>
          </a:prstGeom>
          <a:solidFill>
            <a:srgbClr val="4E95D9">
              <a:alpha val="5098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Analytics &amp; Reporting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D14028-29D7-D896-5D55-9CE5006B7646}"/>
              </a:ext>
            </a:extLst>
          </p:cNvPr>
          <p:cNvSpPr/>
          <p:nvPr/>
        </p:nvSpPr>
        <p:spPr>
          <a:xfrm>
            <a:off x="8605234" y="747309"/>
            <a:ext cx="2331076" cy="4591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Customers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99107B2-81E0-5E9B-F755-0AEAFF4E07E5}"/>
              </a:ext>
            </a:extLst>
          </p:cNvPr>
          <p:cNvSpPr/>
          <p:nvPr/>
        </p:nvSpPr>
        <p:spPr>
          <a:xfrm>
            <a:off x="8414197" y="1470448"/>
            <a:ext cx="2704564" cy="5050441"/>
          </a:xfrm>
          <a:prstGeom prst="roundRect">
            <a:avLst/>
          </a:prstGeom>
          <a:solidFill>
            <a:srgbClr val="83CBEB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616ACD-EE45-CAD4-077A-7F450233FC2C}"/>
              </a:ext>
            </a:extLst>
          </p:cNvPr>
          <p:cNvSpPr/>
          <p:nvPr/>
        </p:nvSpPr>
        <p:spPr>
          <a:xfrm>
            <a:off x="8600941" y="4613857"/>
            <a:ext cx="2331076" cy="708338"/>
          </a:xfrm>
          <a:prstGeom prst="rect">
            <a:avLst/>
          </a:prstGeom>
          <a:solidFill>
            <a:srgbClr val="4E95D9">
              <a:alpha val="5098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Subscribed Suppliers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3DCC90-AC82-C095-BC23-737A53CE7294}"/>
              </a:ext>
            </a:extLst>
          </p:cNvPr>
          <p:cNvSpPr/>
          <p:nvPr/>
        </p:nvSpPr>
        <p:spPr>
          <a:xfrm>
            <a:off x="8605234" y="2702531"/>
            <a:ext cx="2331076" cy="708338"/>
          </a:xfrm>
          <a:prstGeom prst="rect">
            <a:avLst/>
          </a:prstGeom>
          <a:solidFill>
            <a:srgbClr val="4E95D9">
              <a:alpha val="5098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Subscribed Retailers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29924B-DF65-5220-ECD2-8811E3A0FB00}"/>
              </a:ext>
            </a:extLst>
          </p:cNvPr>
          <p:cNvCxnSpPr>
            <a:stCxn id="5" idx="3"/>
            <a:endCxn id="14" idx="1"/>
          </p:cNvCxnSpPr>
          <p:nvPr/>
        </p:nvCxnSpPr>
        <p:spPr>
          <a:xfrm>
            <a:off x="3586766" y="2121908"/>
            <a:ext cx="1343696" cy="934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4A5AFE-B149-C1CA-B588-BDC4D7306285}"/>
              </a:ext>
            </a:extLst>
          </p:cNvPr>
          <p:cNvCxnSpPr>
            <a:cxnSpLocks/>
          </p:cNvCxnSpPr>
          <p:nvPr/>
        </p:nvCxnSpPr>
        <p:spPr>
          <a:xfrm>
            <a:off x="3597499" y="3073898"/>
            <a:ext cx="1332963" cy="109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1BC806-5D43-7081-1473-05194681FD9F}"/>
              </a:ext>
            </a:extLst>
          </p:cNvPr>
          <p:cNvCxnSpPr/>
          <p:nvPr/>
        </p:nvCxnSpPr>
        <p:spPr>
          <a:xfrm>
            <a:off x="3569594" y="3960366"/>
            <a:ext cx="1343696" cy="934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710A55B-AA1B-5C5E-C8A1-84CE6DEB3A83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3586766" y="3995669"/>
            <a:ext cx="1343696" cy="956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826496-96B4-DEAB-54EE-3B63E0F71703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597499" y="2110044"/>
            <a:ext cx="1332963" cy="3744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04C6434-15FF-6699-64C0-F5C7B5925944}"/>
              </a:ext>
            </a:extLst>
          </p:cNvPr>
          <p:cNvCxnSpPr/>
          <p:nvPr/>
        </p:nvCxnSpPr>
        <p:spPr>
          <a:xfrm>
            <a:off x="7244366" y="1988657"/>
            <a:ext cx="1343696" cy="934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7A886B-13AD-9932-5076-7F3D53DC4834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278710" y="3073898"/>
            <a:ext cx="1322231" cy="1894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56930A-D045-D3FF-5831-9EF52F317BE5}"/>
              </a:ext>
            </a:extLst>
          </p:cNvPr>
          <p:cNvCxnSpPr>
            <a:cxnSpLocks/>
          </p:cNvCxnSpPr>
          <p:nvPr/>
        </p:nvCxnSpPr>
        <p:spPr>
          <a:xfrm>
            <a:off x="7252952" y="4012980"/>
            <a:ext cx="1365161" cy="1128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974A25E-5185-A704-99DD-0E0D68978401}"/>
              </a:ext>
            </a:extLst>
          </p:cNvPr>
          <p:cNvCxnSpPr>
            <a:cxnSpLocks/>
          </p:cNvCxnSpPr>
          <p:nvPr/>
        </p:nvCxnSpPr>
        <p:spPr>
          <a:xfrm flipV="1">
            <a:off x="7288369" y="3183821"/>
            <a:ext cx="1338330" cy="836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B9D71A9-4AE4-353F-DEBE-E0E2B0D8A22C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7261538" y="3404626"/>
            <a:ext cx="1326524" cy="156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B47C1D8-20CE-2676-64CD-D0778CF8F5BC}"/>
              </a:ext>
            </a:extLst>
          </p:cNvPr>
          <p:cNvCxnSpPr>
            <a:cxnSpLocks/>
          </p:cNvCxnSpPr>
          <p:nvPr/>
        </p:nvCxnSpPr>
        <p:spPr>
          <a:xfrm>
            <a:off x="7278710" y="4968026"/>
            <a:ext cx="1322231" cy="264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A71BEEF-3216-C81C-99EE-BE63E7F421AD}"/>
              </a:ext>
            </a:extLst>
          </p:cNvPr>
          <p:cNvCxnSpPr>
            <a:cxnSpLocks/>
          </p:cNvCxnSpPr>
          <p:nvPr/>
        </p:nvCxnSpPr>
        <p:spPr>
          <a:xfrm flipV="1">
            <a:off x="7261538" y="5295809"/>
            <a:ext cx="1364088" cy="749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169F50E-44A7-1677-D0D6-BF05FB8C0E72}"/>
              </a:ext>
            </a:extLst>
          </p:cNvPr>
          <p:cNvCxnSpPr>
            <a:cxnSpLocks/>
          </p:cNvCxnSpPr>
          <p:nvPr/>
        </p:nvCxnSpPr>
        <p:spPr>
          <a:xfrm flipV="1">
            <a:off x="7261538" y="3441544"/>
            <a:ext cx="1373747" cy="2603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49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0BB2-2BD6-D6BC-54F4-BE3E725F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26"/>
            <a:ext cx="10515600" cy="433365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BulkCart: SIPOC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BE2F0-F86D-591D-6948-2993316A8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123" y="553790"/>
            <a:ext cx="11681139" cy="61837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116E97-EBEE-B17D-299E-AD860D7AB6D6}"/>
              </a:ext>
            </a:extLst>
          </p:cNvPr>
          <p:cNvSpPr/>
          <p:nvPr/>
        </p:nvSpPr>
        <p:spPr>
          <a:xfrm>
            <a:off x="889714" y="987380"/>
            <a:ext cx="1132268" cy="5537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69D1F8-80B2-956D-79CA-203688331514}"/>
              </a:ext>
            </a:extLst>
          </p:cNvPr>
          <p:cNvSpPr/>
          <p:nvPr/>
        </p:nvSpPr>
        <p:spPr>
          <a:xfrm>
            <a:off x="3133859" y="987380"/>
            <a:ext cx="1132268" cy="5537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187CD2-AF17-187D-20A3-41EB5511AF48}"/>
              </a:ext>
            </a:extLst>
          </p:cNvPr>
          <p:cNvSpPr/>
          <p:nvPr/>
        </p:nvSpPr>
        <p:spPr>
          <a:xfrm>
            <a:off x="5689374" y="987380"/>
            <a:ext cx="1132268" cy="5537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8BD241-569E-B6B7-E6A2-F7FE3FEAF50A}"/>
              </a:ext>
            </a:extLst>
          </p:cNvPr>
          <p:cNvSpPr/>
          <p:nvPr/>
        </p:nvSpPr>
        <p:spPr>
          <a:xfrm>
            <a:off x="8206789" y="987380"/>
            <a:ext cx="1132268" cy="5537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1C248-E11F-BA0E-E753-2D4F22EE8329}"/>
              </a:ext>
            </a:extLst>
          </p:cNvPr>
          <p:cNvSpPr/>
          <p:nvPr/>
        </p:nvSpPr>
        <p:spPr>
          <a:xfrm>
            <a:off x="10446375" y="987380"/>
            <a:ext cx="1132268" cy="5537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25FC06-46F0-36DD-5F59-3487257F31EC}"/>
              </a:ext>
            </a:extLst>
          </p:cNvPr>
          <p:cNvSpPr/>
          <p:nvPr/>
        </p:nvSpPr>
        <p:spPr>
          <a:xfrm>
            <a:off x="690092" y="1867436"/>
            <a:ext cx="1531513" cy="5924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Supplier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25ECBD-4EE4-FB83-0983-C917C659C902}"/>
              </a:ext>
            </a:extLst>
          </p:cNvPr>
          <p:cNvSpPr/>
          <p:nvPr/>
        </p:nvSpPr>
        <p:spPr>
          <a:xfrm>
            <a:off x="2759298" y="2459865"/>
            <a:ext cx="1881389" cy="4108360"/>
          </a:xfrm>
          <a:prstGeom prst="roundRect">
            <a:avLst>
              <a:gd name="adj" fmla="val 116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Product Catalog Data (SKUs, prices, stock)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Retailer Registration Details (business info, addresses)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Supplier Registration Details (company, warehouses)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Pricing &amp; Discount Rules (tiered and customer‑specific)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Payment Information (cards, bank details)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60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E36D6C-5E46-D510-7FE3-D52B5576C714}"/>
              </a:ext>
            </a:extLst>
          </p:cNvPr>
          <p:cNvSpPr/>
          <p:nvPr/>
        </p:nvSpPr>
        <p:spPr>
          <a:xfrm>
            <a:off x="2877086" y="1867433"/>
            <a:ext cx="1666474" cy="5924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4CA423-9270-7C00-6DEC-3CA21A8726A3}"/>
              </a:ext>
            </a:extLst>
          </p:cNvPr>
          <p:cNvSpPr/>
          <p:nvPr/>
        </p:nvSpPr>
        <p:spPr>
          <a:xfrm>
            <a:off x="5422271" y="1867433"/>
            <a:ext cx="1666475" cy="5924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4AB4082-F7E6-A447-27C7-032CCABED1E2}"/>
              </a:ext>
            </a:extLst>
          </p:cNvPr>
          <p:cNvSpPr/>
          <p:nvPr/>
        </p:nvSpPr>
        <p:spPr>
          <a:xfrm>
            <a:off x="7967456" y="1867432"/>
            <a:ext cx="1610935" cy="5924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5D7AAF5-4713-F47C-8AAF-51A9D558BABC}"/>
              </a:ext>
            </a:extLst>
          </p:cNvPr>
          <p:cNvSpPr/>
          <p:nvPr/>
        </p:nvSpPr>
        <p:spPr>
          <a:xfrm>
            <a:off x="10212132" y="1867432"/>
            <a:ext cx="1610935" cy="5924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888F39-41AC-AC29-B659-00AFF8C4A383}"/>
              </a:ext>
            </a:extLst>
          </p:cNvPr>
          <p:cNvSpPr/>
          <p:nvPr/>
        </p:nvSpPr>
        <p:spPr>
          <a:xfrm>
            <a:off x="515155" y="2459865"/>
            <a:ext cx="1881389" cy="4108360"/>
          </a:xfrm>
          <a:prstGeom prst="roundRect">
            <a:avLst>
              <a:gd name="adj" fmla="val 116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Wholesale Food Suppliers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Packaging &amp; Non‑food Suppliers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Payment Gateway Provider (Stripe / PayPal)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Logistics &amp; Delivery Partners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Cloud / Infrastructure Provider (AWS / GCP)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6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E0775F6-B756-E47B-D97D-BE900D73D323}"/>
              </a:ext>
            </a:extLst>
          </p:cNvPr>
          <p:cNvSpPr/>
          <p:nvPr/>
        </p:nvSpPr>
        <p:spPr>
          <a:xfrm>
            <a:off x="5003442" y="2459862"/>
            <a:ext cx="2504134" cy="4108360"/>
          </a:xfrm>
          <a:prstGeom prst="roundRect">
            <a:avLst>
              <a:gd name="adj" fmla="val 116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6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15672E1-A9D7-C214-3B92-23A5B5A282DB}"/>
              </a:ext>
            </a:extLst>
          </p:cNvPr>
          <p:cNvSpPr/>
          <p:nvPr/>
        </p:nvSpPr>
        <p:spPr>
          <a:xfrm>
            <a:off x="5296032" y="2539277"/>
            <a:ext cx="1918952" cy="49369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Retailer Account &amp; Access Management</a:t>
            </a:r>
          </a:p>
          <a:p>
            <a:pPr algn="ctr"/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40D355E-7CB9-B31A-6995-6A6A6440C770}"/>
              </a:ext>
            </a:extLst>
          </p:cNvPr>
          <p:cNvSpPr/>
          <p:nvPr/>
        </p:nvSpPr>
        <p:spPr>
          <a:xfrm>
            <a:off x="5296032" y="3321765"/>
            <a:ext cx="1918952" cy="49369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Supplier Onboarding &amp; Catalog Management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3BF5335-1705-8C2F-45FC-1DE38CE0EA97}"/>
              </a:ext>
            </a:extLst>
          </p:cNvPr>
          <p:cNvSpPr/>
          <p:nvPr/>
        </p:nvSpPr>
        <p:spPr>
          <a:xfrm>
            <a:off x="5301398" y="4119087"/>
            <a:ext cx="1918952" cy="49369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Order Creation &amp; Approval Workflow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3B86E67-6C59-175B-A403-D5B815341AA0}"/>
              </a:ext>
            </a:extLst>
          </p:cNvPr>
          <p:cNvSpPr/>
          <p:nvPr/>
        </p:nvSpPr>
        <p:spPr>
          <a:xfrm>
            <a:off x="5296032" y="4939039"/>
            <a:ext cx="1918952" cy="49369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Inventory Reservation &amp; Shipment Management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5540E74-0119-E684-3070-80ABEF6F4769}"/>
              </a:ext>
            </a:extLst>
          </p:cNvPr>
          <p:cNvSpPr/>
          <p:nvPr/>
        </p:nvSpPr>
        <p:spPr>
          <a:xfrm>
            <a:off x="5296032" y="5736361"/>
            <a:ext cx="1918952" cy="49369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Billing, Invoicing &amp; Payment Processing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C195F1BE-920F-8F2C-49E9-BECB113B9CE1}"/>
              </a:ext>
            </a:extLst>
          </p:cNvPr>
          <p:cNvSpPr/>
          <p:nvPr/>
        </p:nvSpPr>
        <p:spPr>
          <a:xfrm>
            <a:off x="6096000" y="3032968"/>
            <a:ext cx="159508" cy="28879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05FD1C27-C1C2-B5F5-4B3A-83AB0523CBD8}"/>
              </a:ext>
            </a:extLst>
          </p:cNvPr>
          <p:cNvSpPr/>
          <p:nvPr/>
        </p:nvSpPr>
        <p:spPr>
          <a:xfrm>
            <a:off x="6089225" y="3830289"/>
            <a:ext cx="159508" cy="28879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A3508CD3-C48B-7A8D-06D6-EE175CBB1BF5}"/>
              </a:ext>
            </a:extLst>
          </p:cNvPr>
          <p:cNvSpPr/>
          <p:nvPr/>
        </p:nvSpPr>
        <p:spPr>
          <a:xfrm>
            <a:off x="6096000" y="4627612"/>
            <a:ext cx="159508" cy="28879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6B9A0356-A62A-E8A1-A0DE-D6FD082C8B87}"/>
              </a:ext>
            </a:extLst>
          </p:cNvPr>
          <p:cNvSpPr/>
          <p:nvPr/>
        </p:nvSpPr>
        <p:spPr>
          <a:xfrm>
            <a:off x="6096000" y="5440147"/>
            <a:ext cx="159508" cy="28879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E6241C2-778B-34F2-0835-EB37B9EB4BAC}"/>
              </a:ext>
            </a:extLst>
          </p:cNvPr>
          <p:cNvSpPr/>
          <p:nvPr/>
        </p:nvSpPr>
        <p:spPr>
          <a:xfrm>
            <a:off x="7832228" y="2459861"/>
            <a:ext cx="1881389" cy="4108360"/>
          </a:xfrm>
          <a:prstGeom prst="roundRect">
            <a:avLst>
              <a:gd name="adj" fmla="val 116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Confirmed Purchase Orders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Shipment Details &amp; Delivery Updates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Invoices and Payment Receipts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Updated Inventory Levels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Retailer Spending &amp; Order Reports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Supplier Sales &amp; Performance Reports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6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5243ECC-D809-297E-8A8C-DB1F8C85EB51}"/>
              </a:ext>
            </a:extLst>
          </p:cNvPr>
          <p:cNvSpPr/>
          <p:nvPr/>
        </p:nvSpPr>
        <p:spPr>
          <a:xfrm>
            <a:off x="10071813" y="2459861"/>
            <a:ext cx="1881389" cy="4108360"/>
          </a:xfrm>
          <a:prstGeom prst="roundRect">
            <a:avLst>
              <a:gd name="adj" fmla="val 116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dirty="0"/>
              <a:t>Subscribed Retailers </a:t>
            </a:r>
          </a:p>
          <a:p>
            <a:pPr algn="ctr"/>
            <a:endParaRPr lang="en-US" sz="1400" dirty="0"/>
          </a:p>
          <a:p>
            <a:pPr algn="ctr"/>
            <a:r>
              <a:rPr lang="en-US" dirty="0"/>
              <a:t>Subscribed Suppliers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1282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AACD-B5DE-8715-7BBE-2FF2216FE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494"/>
            <a:ext cx="10515600" cy="48154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BulkCart: </a:t>
            </a:r>
            <a:r>
              <a:rPr lang="en-US" sz="2800" dirty="0">
                <a:latin typeface="+mn-lt"/>
              </a:rPr>
              <a:t>User Roles by Business Group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E9559-EEC1-5005-6EC2-63D6FD5EF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49" y="681037"/>
            <a:ext cx="11707813" cy="5977468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External Users (Customers)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   Subscribed Retailers (</a:t>
            </a:r>
            <a:r>
              <a:rPr lang="en-US" altLang="en-US" sz="2000" dirty="0"/>
              <a:t>Mansi </a:t>
            </a:r>
            <a:r>
              <a:rPr lang="en-US" altLang="en-US" sz="2000" dirty="0" err="1"/>
              <a:t>Bhadani</a:t>
            </a:r>
            <a:r>
              <a:rPr lang="en-US" altLang="en-US" sz="2000" dirty="0"/>
              <a:t>, Vivek </a:t>
            </a:r>
            <a:r>
              <a:rPr lang="en-US" altLang="en-US" sz="2000" dirty="0" err="1"/>
              <a:t>Vekhande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   Subscribed Suppliers (</a:t>
            </a:r>
            <a:r>
              <a:rPr lang="en-US" altLang="en-US" sz="2000" dirty="0"/>
              <a:t>Om Kiran Patil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2000" dirty="0"/>
              <a:t> </a:t>
            </a:r>
            <a:r>
              <a:rPr lang="en-US" altLang="en-US" sz="2000" b="1" dirty="0"/>
              <a:t>Internal Users</a:t>
            </a: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83166E-6F0B-E6FA-A33F-F922F68A4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9132499"/>
              </p:ext>
            </p:extLst>
          </p:nvPr>
        </p:nvGraphicFramePr>
        <p:xfrm>
          <a:off x="1913774" y="2894579"/>
          <a:ext cx="8197761" cy="2689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2587">
                  <a:extLst>
                    <a:ext uri="{9D8B030D-6E8A-4147-A177-3AD203B41FA5}">
                      <a16:colId xmlns:a16="http://schemas.microsoft.com/office/drawing/2014/main" val="2766185857"/>
                    </a:ext>
                  </a:extLst>
                </a:gridCol>
                <a:gridCol w="2732587">
                  <a:extLst>
                    <a:ext uri="{9D8B030D-6E8A-4147-A177-3AD203B41FA5}">
                      <a16:colId xmlns:a16="http://schemas.microsoft.com/office/drawing/2014/main" val="2855344827"/>
                    </a:ext>
                  </a:extLst>
                </a:gridCol>
                <a:gridCol w="2732587">
                  <a:extLst>
                    <a:ext uri="{9D8B030D-6E8A-4147-A177-3AD203B41FA5}">
                      <a16:colId xmlns:a16="http://schemas.microsoft.com/office/drawing/2014/main" val="4184065712"/>
                    </a:ext>
                  </a:extLst>
                </a:gridCol>
              </a:tblGrid>
              <a:tr h="27724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100">
                          <a:effectLst/>
                        </a:rPr>
                        <a:t>Business Group</a:t>
                      </a:r>
                      <a:endParaRPr lang="en-US" sz="1100" b="0">
                        <a:effectLst/>
                      </a:endParaRPr>
                    </a:p>
                  </a:txBody>
                  <a:tcPr marL="54734" marR="54734" marT="27367" marB="2736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100">
                          <a:effectLst/>
                        </a:rPr>
                        <a:t>User Roles</a:t>
                      </a:r>
                      <a:endParaRPr lang="en-US" sz="1100" b="0">
                        <a:effectLst/>
                      </a:endParaRPr>
                    </a:p>
                  </a:txBody>
                  <a:tcPr marL="54734" marR="54734" marT="27367" marB="2736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100">
                          <a:effectLst/>
                        </a:rPr>
                        <a:t>Team Member Name (Bus. Group Proxy)</a:t>
                      </a:r>
                      <a:endParaRPr lang="en-US" sz="1100" b="0">
                        <a:effectLst/>
                      </a:endParaRPr>
                    </a:p>
                  </a:txBody>
                  <a:tcPr marL="54734" marR="54734" marT="27367" marB="27367"/>
                </a:tc>
                <a:extLst>
                  <a:ext uri="{0D108BD9-81ED-4DB2-BD59-A6C34878D82A}">
                    <a16:rowId xmlns:a16="http://schemas.microsoft.com/office/drawing/2014/main" val="2757594926"/>
                  </a:ext>
                </a:extLst>
              </a:tr>
              <a:tr h="5110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Retailer Account &amp; Subscription Management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Retailer Account Manager, Onboarding Specialist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 dirty="0">
                          <a:effectLst/>
                        </a:rPr>
                        <a:t>Abubakar Tahir, Aakash Hariprakash Varma</a:t>
                      </a:r>
                    </a:p>
                  </a:txBody>
                  <a:tcPr marL="54734" marR="54734" marT="27367" marB="27367" anchor="ctr"/>
                </a:tc>
                <a:extLst>
                  <a:ext uri="{0D108BD9-81ED-4DB2-BD59-A6C34878D82A}">
                    <a16:rowId xmlns:a16="http://schemas.microsoft.com/office/drawing/2014/main" val="3811956781"/>
                  </a:ext>
                </a:extLst>
              </a:tr>
              <a:tr h="48625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Supplier Onboarding &amp; Catalog Management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Supplier Account Manager, Catalog Administrator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 dirty="0">
                          <a:effectLst/>
                        </a:rPr>
                        <a:t>Rohit Sai Gopal Chandrashekar, Arun Omprakash </a:t>
                      </a:r>
                      <a:r>
                        <a:rPr lang="en-US" sz="1100" dirty="0" err="1">
                          <a:effectLst/>
                        </a:rPr>
                        <a:t>Garwan</a:t>
                      </a:r>
                      <a:endParaRPr lang="en-US" sz="1100" dirty="0">
                        <a:effectLst/>
                      </a:endParaRPr>
                    </a:p>
                  </a:txBody>
                  <a:tcPr marL="54734" marR="54734" marT="27367" marB="27367" anchor="ctr"/>
                </a:tc>
                <a:extLst>
                  <a:ext uri="{0D108BD9-81ED-4DB2-BD59-A6C34878D82A}">
                    <a16:rowId xmlns:a16="http://schemas.microsoft.com/office/drawing/2014/main" val="3547712850"/>
                  </a:ext>
                </a:extLst>
              </a:tr>
              <a:tr h="5110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Order &amp; Approval Workflow Management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Order Management Specialist, Workflow/Rules Analyst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 dirty="0">
                          <a:effectLst/>
                        </a:rPr>
                        <a:t>Asmith Reddy Mamilla</a:t>
                      </a:r>
                    </a:p>
                  </a:txBody>
                  <a:tcPr marL="54734" marR="54734" marT="27367" marB="27367" anchor="ctr"/>
                </a:tc>
                <a:extLst>
                  <a:ext uri="{0D108BD9-81ED-4DB2-BD59-A6C34878D82A}">
                    <a16:rowId xmlns:a16="http://schemas.microsoft.com/office/drawing/2014/main" val="2604237341"/>
                  </a:ext>
                </a:extLst>
              </a:tr>
              <a:tr h="5110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 dirty="0">
                          <a:effectLst/>
                        </a:rPr>
                        <a:t>Billing, Invoicing &amp; Payment Management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Billing Specialist, Payment &amp; Reconciliation Analyst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 dirty="0">
                          <a:effectLst/>
                        </a:rPr>
                        <a:t>Kiran Subhash Rathod</a:t>
                      </a:r>
                    </a:p>
                  </a:txBody>
                  <a:tcPr marL="54734" marR="54734" marT="27367" marB="27367" anchor="ctr"/>
                </a:tc>
                <a:extLst>
                  <a:ext uri="{0D108BD9-81ED-4DB2-BD59-A6C34878D82A}">
                    <a16:rowId xmlns:a16="http://schemas.microsoft.com/office/drawing/2014/main" val="23385115"/>
                  </a:ext>
                </a:extLst>
              </a:tr>
              <a:tr h="39292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Analytics &amp; Reporting Management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>
                          <a:effectLst/>
                        </a:rPr>
                        <a:t>Business Analyst, Reporting Specialist</a:t>
                      </a:r>
                    </a:p>
                  </a:txBody>
                  <a:tcPr marL="54734" marR="54734" marT="27367" marB="27367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 dirty="0">
                          <a:effectLst/>
                        </a:rPr>
                        <a:t>Meet </a:t>
                      </a:r>
                      <a:r>
                        <a:rPr lang="en-US" sz="1100" dirty="0" err="1">
                          <a:effectLst/>
                        </a:rPr>
                        <a:t>Pravinbhai</a:t>
                      </a:r>
                      <a:r>
                        <a:rPr lang="en-US" sz="1100" dirty="0">
                          <a:effectLst/>
                        </a:rPr>
                        <a:t> Mangukiya</a:t>
                      </a:r>
                    </a:p>
                  </a:txBody>
                  <a:tcPr marL="54734" marR="54734" marT="27367" marB="27367" anchor="ctr"/>
                </a:tc>
                <a:extLst>
                  <a:ext uri="{0D108BD9-81ED-4DB2-BD59-A6C34878D82A}">
                    <a16:rowId xmlns:a16="http://schemas.microsoft.com/office/drawing/2014/main" val="3464155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847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342</Words>
  <Application>Microsoft Macintosh PowerPoint</Application>
  <PresentationFormat>Widescreen</PresentationFormat>
  <Paragraphs>129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BulkCart</vt:lpstr>
      <vt:lpstr>BulkCart: Business Relationship Map</vt:lpstr>
      <vt:lpstr>BulkCart: SIPOC Diagram</vt:lpstr>
      <vt:lpstr>BulkCart: User Roles by Business 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BulkCart</dc:title>
  <dc:creator>Meet Mangukiya</dc:creator>
  <cp:lastModifiedBy>Meet Mangukiya</cp:lastModifiedBy>
  <cp:revision>10</cp:revision>
  <dcterms:created xsi:type="dcterms:W3CDTF">2026-02-12T12:53:01Z</dcterms:created>
  <dcterms:modified xsi:type="dcterms:W3CDTF">2026-02-13T13:47:44Z</dcterms:modified>
</cp:coreProperties>
</file>