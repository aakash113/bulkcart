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</p:sldIdLst>
  <p:sldSz cx="15125700" cy="10693400"/>
  <p:notesSz cx="151257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67"/>
  </p:normalViewPr>
  <p:slideViewPr>
    <p:cSldViewPr>
      <p:cViewPr>
        <p:scale>
          <a:sx n="133" d="100"/>
          <a:sy n="133" d="100"/>
        </p:scale>
        <p:origin x="-2384" y="-16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4427" y="3314954"/>
            <a:ext cx="1285684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68855" y="5988304"/>
            <a:ext cx="1058799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628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789735" y="2459482"/>
            <a:ext cx="657967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82599"/>
            <a:ext cx="2641600" cy="9980930"/>
          </a:xfrm>
          <a:custGeom>
            <a:avLst/>
            <a:gdLst/>
            <a:ahLst/>
            <a:cxnLst/>
            <a:rect l="l" t="t" r="r" b="b"/>
            <a:pathLst>
              <a:path w="2641600" h="9980930">
                <a:moveTo>
                  <a:pt x="2641600" y="0"/>
                </a:moveTo>
                <a:lnTo>
                  <a:pt x="0" y="0"/>
                </a:lnTo>
                <a:lnTo>
                  <a:pt x="0" y="9980800"/>
                </a:lnTo>
                <a:lnTo>
                  <a:pt x="2641600" y="9980800"/>
                </a:lnTo>
                <a:lnTo>
                  <a:pt x="2641600" y="0"/>
                </a:lnTo>
                <a:close/>
              </a:path>
            </a:pathLst>
          </a:custGeom>
          <a:solidFill>
            <a:srgbClr val="FFF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82599"/>
            <a:ext cx="2641600" cy="9980930"/>
          </a:xfrm>
          <a:custGeom>
            <a:avLst/>
            <a:gdLst/>
            <a:ahLst/>
            <a:cxnLst/>
            <a:rect l="l" t="t" r="r" b="b"/>
            <a:pathLst>
              <a:path w="2641600" h="9980930">
                <a:moveTo>
                  <a:pt x="0" y="9980800"/>
                </a:moveTo>
                <a:lnTo>
                  <a:pt x="2641600" y="9980800"/>
                </a:lnTo>
                <a:lnTo>
                  <a:pt x="2641600" y="0"/>
                </a:lnTo>
                <a:lnTo>
                  <a:pt x="0" y="0"/>
                </a:lnTo>
                <a:lnTo>
                  <a:pt x="0" y="9980800"/>
                </a:lnTo>
                <a:close/>
              </a:path>
            </a:pathLst>
          </a:custGeom>
          <a:ln w="11430">
            <a:solidFill>
              <a:srgbClr val="F49E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6285" y="427736"/>
            <a:ext cx="1361313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285" y="2459482"/>
            <a:ext cx="1361313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55900" y="10515669"/>
            <a:ext cx="1672589" cy="11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07394" y="10515669"/>
            <a:ext cx="3044190" cy="118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90504" y="9944862"/>
            <a:ext cx="3478911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200" y="218572"/>
            <a:ext cx="598170" cy="106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Story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15120619" cy="482600"/>
          </a:xfrm>
          <a:custGeom>
            <a:avLst/>
            <a:gdLst/>
            <a:ahLst/>
            <a:cxnLst/>
            <a:rect l="l" t="t" r="r" b="b"/>
            <a:pathLst>
              <a:path w="15120619" h="482600">
                <a:moveTo>
                  <a:pt x="15119997" y="0"/>
                </a:moveTo>
                <a:lnTo>
                  <a:pt x="0" y="0"/>
                </a:lnTo>
                <a:lnTo>
                  <a:pt x="0" y="482600"/>
                </a:lnTo>
                <a:lnTo>
                  <a:pt x="15119997" y="482600"/>
                </a:lnTo>
                <a:lnTo>
                  <a:pt x="15119997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55900" y="139700"/>
            <a:ext cx="48869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</a:t>
            </a:r>
            <a:r>
              <a:rPr sz="1200" b="1" spc="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200" b="1" spc="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UML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Diagram</a:t>
            </a:r>
            <a:r>
              <a:rPr sz="1200" b="1" spc="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200" b="1" spc="3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03.01: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Manage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Catalog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40750" y="3316539"/>
            <a:ext cx="2603500" cy="304800"/>
          </a:xfrm>
          <a:prstGeom prst="rect">
            <a:avLst/>
          </a:prstGeom>
          <a:solidFill>
            <a:srgbClr val="1D3A5E"/>
          </a:solidFill>
          <a:ln w="11430">
            <a:solidFill>
              <a:srgbClr val="2A6BAF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Supplier</a:t>
            </a:r>
            <a:endParaRPr sz="8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40750" y="3621339"/>
            <a:ext cx="2603500" cy="1264920"/>
          </a:xfrm>
          <a:prstGeom prst="rect">
            <a:avLst/>
          </a:prstGeom>
          <a:solidFill>
            <a:srgbClr val="EBF4FF"/>
          </a:solidFill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userId: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0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role:</a:t>
            </a:r>
            <a:r>
              <a:rPr sz="650" spc="9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VARCHAR(20)</a:t>
            </a:r>
            <a:r>
              <a:rPr sz="650" spc="9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name:</a:t>
            </a:r>
            <a:r>
              <a:rPr sz="650" spc="7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company: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email: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phone:</a:t>
            </a:r>
            <a:r>
              <a:rPr sz="650" spc="8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VARCHAR(32)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location: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approved:</a:t>
            </a:r>
            <a:r>
              <a:rPr sz="650" spc="1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40750" y="4886259"/>
            <a:ext cx="2603500" cy="838200"/>
          </a:xfrm>
          <a:prstGeom prst="rect">
            <a:avLst/>
          </a:prstGeom>
          <a:solidFill>
            <a:srgbClr val="F6F9FB"/>
          </a:solidFill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manageCatalog():</a:t>
            </a:r>
            <a:r>
              <a:rPr sz="650" i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void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addProduct(data):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Product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editProduct(id,data):</a:t>
            </a:r>
            <a:r>
              <a:rPr sz="650" i="1" spc="4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Product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4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deactivateProduct(id):</a:t>
            </a:r>
            <a:r>
              <a:rPr sz="650" i="1" spc="4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void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viewOwnProducts():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026849" y="2910139"/>
            <a:ext cx="2768600" cy="2118360"/>
          </a:xfrm>
          <a:custGeom>
            <a:avLst/>
            <a:gdLst/>
            <a:ahLst/>
            <a:cxnLst/>
            <a:rect l="l" t="t" r="r" b="b"/>
            <a:pathLst>
              <a:path w="2768600" h="2118360">
                <a:moveTo>
                  <a:pt x="2768600" y="0"/>
                </a:moveTo>
                <a:lnTo>
                  <a:pt x="0" y="0"/>
                </a:lnTo>
                <a:lnTo>
                  <a:pt x="0" y="2118360"/>
                </a:lnTo>
                <a:lnTo>
                  <a:pt x="2768600" y="2118360"/>
                </a:lnTo>
                <a:lnTo>
                  <a:pt x="2768600" y="0"/>
                </a:lnTo>
                <a:close/>
              </a:path>
            </a:pathLst>
          </a:custGeom>
          <a:solidFill>
            <a:srgbClr val="EBF4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9026849" y="2605339"/>
            <a:ext cx="2768600" cy="304800"/>
          </a:xfrm>
          <a:prstGeom prst="rect">
            <a:avLst/>
          </a:prstGeom>
          <a:solidFill>
            <a:srgbClr val="1D3A5E"/>
          </a:solidFill>
          <a:ln w="11430">
            <a:solidFill>
              <a:srgbClr val="2A6BAF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Product</a:t>
            </a:r>
            <a:endParaRPr sz="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26849" y="2910139"/>
            <a:ext cx="2768600" cy="2118360"/>
          </a:xfrm>
          <a:prstGeom prst="rect">
            <a:avLst/>
          </a:prstGeom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productId:</a:t>
            </a:r>
            <a:r>
              <a:rPr sz="650" spc="1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supplierId: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name:</a:t>
            </a:r>
            <a:r>
              <a:rPr sz="650" spc="7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category: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origin:</a:t>
            </a:r>
            <a:r>
              <a:rPr sz="650" spc="7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unit:</a:t>
            </a:r>
            <a:r>
              <a:rPr sz="650" spc="5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price:</a:t>
            </a:r>
            <a:r>
              <a:rPr sz="650" spc="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DECIMAL(10,2)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spc="10" dirty="0">
                <a:solidFill>
                  <a:srgbClr val="1A1F2B"/>
                </a:solidFill>
                <a:latin typeface="Arial MT"/>
                <a:cs typeface="Arial MT"/>
              </a:rPr>
              <a:t>minOrderQuantity:</a:t>
            </a:r>
            <a:r>
              <a:rPr sz="650" spc="9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inventory: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sku:</a:t>
            </a:r>
            <a:r>
              <a:rPr sz="650" spc="10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r>
              <a:rPr sz="650" spc="10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{unique}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image:</a:t>
            </a:r>
            <a:r>
              <a:rPr sz="650" spc="8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VARCHAR(500)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description: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TEXT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isActive: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createdAt:</a:t>
            </a:r>
            <a:r>
              <a:rPr sz="650" spc="15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DATETIME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26849" y="5028500"/>
            <a:ext cx="2768600" cy="695960"/>
          </a:xfrm>
          <a:prstGeom prst="rect">
            <a:avLst/>
          </a:prstGeom>
          <a:solidFill>
            <a:srgbClr val="F6F9FB"/>
          </a:solidFill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updateDetails(data):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void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setActive(flag):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void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4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getApplicablePrice(r):</a:t>
            </a:r>
            <a:r>
              <a:rPr sz="650" i="1" spc="4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Decimal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reserveStock(qty):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Boolean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45550" y="6359459"/>
            <a:ext cx="2413000" cy="304800"/>
          </a:xfrm>
          <a:custGeom>
            <a:avLst/>
            <a:gdLst/>
            <a:ahLst/>
            <a:cxnLst/>
            <a:rect l="l" t="t" r="r" b="b"/>
            <a:pathLst>
              <a:path w="2413000" h="304800">
                <a:moveTo>
                  <a:pt x="2412999" y="0"/>
                </a:moveTo>
                <a:lnTo>
                  <a:pt x="0" y="0"/>
                </a:lnTo>
                <a:lnTo>
                  <a:pt x="0" y="304800"/>
                </a:lnTo>
                <a:lnTo>
                  <a:pt x="2412999" y="304800"/>
                </a:lnTo>
                <a:lnTo>
                  <a:pt x="2412999" y="0"/>
                </a:lnTo>
                <a:close/>
              </a:path>
            </a:pathLst>
          </a:custGeom>
          <a:solidFill>
            <a:srgbClr val="2667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6245550" y="6359459"/>
            <a:ext cx="2413000" cy="304800"/>
          </a:xfrm>
          <a:prstGeom prst="rect">
            <a:avLst/>
          </a:prstGeom>
          <a:ln w="11430">
            <a:solidFill>
              <a:srgbClr val="38A169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651510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ProductCategory_Ref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45550" y="6664259"/>
            <a:ext cx="2413000" cy="695960"/>
          </a:xfrm>
          <a:prstGeom prst="rect">
            <a:avLst/>
          </a:prstGeom>
          <a:solidFill>
            <a:srgbClr val="EFFFF4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id:</a:t>
            </a:r>
            <a:r>
              <a:rPr sz="650" spc="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categoryName:</a:t>
            </a:r>
            <a:r>
              <a:rPr sz="650" spc="18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description: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isActive: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45550" y="7360219"/>
            <a:ext cx="2413000" cy="269240"/>
          </a:xfrm>
          <a:prstGeom prst="rect">
            <a:avLst/>
          </a:prstGeom>
          <a:solidFill>
            <a:srgbClr val="F6F9FB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getActiveCategories():</a:t>
            </a:r>
            <a:r>
              <a:rPr sz="650" i="1" spc="4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41149" y="6359459"/>
            <a:ext cx="2349500" cy="304800"/>
          </a:xfrm>
          <a:custGeom>
            <a:avLst/>
            <a:gdLst/>
            <a:ahLst/>
            <a:cxnLst/>
            <a:rect l="l" t="t" r="r" b="b"/>
            <a:pathLst>
              <a:path w="2349500" h="304800">
                <a:moveTo>
                  <a:pt x="2349500" y="0"/>
                </a:moveTo>
                <a:lnTo>
                  <a:pt x="0" y="0"/>
                </a:lnTo>
                <a:lnTo>
                  <a:pt x="0" y="304800"/>
                </a:lnTo>
                <a:lnTo>
                  <a:pt x="2349500" y="304800"/>
                </a:lnTo>
                <a:lnTo>
                  <a:pt x="2349500" y="0"/>
                </a:lnTo>
                <a:close/>
              </a:path>
            </a:pathLst>
          </a:custGeom>
          <a:solidFill>
            <a:srgbClr val="2667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141149" y="6359459"/>
            <a:ext cx="2349500" cy="304800"/>
          </a:xfrm>
          <a:prstGeom prst="rect">
            <a:avLst/>
          </a:prstGeom>
          <a:ln w="11430">
            <a:solidFill>
              <a:srgbClr val="38A169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Unit_Ref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1149" y="6664259"/>
            <a:ext cx="2349500" cy="695960"/>
          </a:xfrm>
          <a:prstGeom prst="rect">
            <a:avLst/>
          </a:prstGeom>
          <a:solidFill>
            <a:srgbClr val="EFFFF4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id:</a:t>
            </a:r>
            <a:r>
              <a:rPr sz="650" spc="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unitCode: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unitLabel: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unitType:</a:t>
            </a:r>
            <a:r>
              <a:rPr sz="650" spc="1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1149" y="7360219"/>
            <a:ext cx="2349500" cy="269240"/>
          </a:xfrm>
          <a:prstGeom prst="rect">
            <a:avLst/>
          </a:prstGeom>
          <a:solidFill>
            <a:srgbClr val="F6F9FB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getActiveUnits():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544249" y="4478716"/>
            <a:ext cx="575945" cy="83820"/>
            <a:chOff x="8544249" y="4478716"/>
            <a:chExt cx="575945" cy="83820"/>
          </a:xfrm>
        </p:grpSpPr>
        <p:sp>
          <p:nvSpPr>
            <p:cNvPr id="33" name="object 33"/>
            <p:cNvSpPr/>
            <p:nvPr/>
          </p:nvSpPr>
          <p:spPr>
            <a:xfrm>
              <a:off x="8544249" y="4520499"/>
              <a:ext cx="482600" cy="0"/>
            </a:xfrm>
            <a:custGeom>
              <a:avLst/>
              <a:gdLst/>
              <a:ahLst/>
              <a:cxnLst/>
              <a:rect l="l" t="t" r="r" b="b"/>
              <a:pathLst>
                <a:path w="482600">
                  <a:moveTo>
                    <a:pt x="0" y="0"/>
                  </a:moveTo>
                  <a:lnTo>
                    <a:pt x="482600" y="0"/>
                  </a:lnTo>
                </a:path>
              </a:pathLst>
            </a:custGeom>
            <a:ln w="15240">
              <a:solidFill>
                <a:srgbClr val="4954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22404" y="4478716"/>
              <a:ext cx="97790" cy="83566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7415600" y="5718744"/>
            <a:ext cx="2747645" cy="721360"/>
            <a:chOff x="7415600" y="5718744"/>
            <a:chExt cx="2747645" cy="721360"/>
          </a:xfrm>
        </p:grpSpPr>
        <p:sp>
          <p:nvSpPr>
            <p:cNvPr id="37" name="object 37"/>
            <p:cNvSpPr/>
            <p:nvPr/>
          </p:nvSpPr>
          <p:spPr>
            <a:xfrm>
              <a:off x="7452049" y="5724459"/>
              <a:ext cx="2705100" cy="635000"/>
            </a:xfrm>
            <a:custGeom>
              <a:avLst/>
              <a:gdLst/>
              <a:ahLst/>
              <a:cxnLst/>
              <a:rect l="l" t="t" r="r" b="b"/>
              <a:pathLst>
                <a:path w="2705100" h="635000">
                  <a:moveTo>
                    <a:pt x="2705100" y="0"/>
                  </a:moveTo>
                  <a:lnTo>
                    <a:pt x="2705100" y="317500"/>
                  </a:lnTo>
                  <a:lnTo>
                    <a:pt x="0" y="317500"/>
                  </a:lnTo>
                  <a:lnTo>
                    <a:pt x="0" y="63500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15600" y="6355014"/>
              <a:ext cx="72898" cy="85090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7499855" y="6175309"/>
            <a:ext cx="15875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25" dirty="0">
                <a:solidFill>
                  <a:srgbClr val="C42F2F"/>
                </a:solidFill>
                <a:latin typeface="Arial"/>
                <a:cs typeface="Arial"/>
              </a:rPr>
              <a:t>N:1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0279450" y="5724459"/>
            <a:ext cx="385699" cy="715645"/>
            <a:chOff x="10279450" y="5724459"/>
            <a:chExt cx="385699" cy="715645"/>
          </a:xfrm>
        </p:grpSpPr>
        <p:sp>
          <p:nvSpPr>
            <p:cNvPr id="42" name="object 42"/>
            <p:cNvSpPr/>
            <p:nvPr/>
          </p:nvSpPr>
          <p:spPr>
            <a:xfrm>
              <a:off x="10315899" y="5724459"/>
              <a:ext cx="349250" cy="635000"/>
            </a:xfrm>
            <a:custGeom>
              <a:avLst/>
              <a:gdLst/>
              <a:ahLst/>
              <a:cxnLst/>
              <a:rect l="l" t="t" r="r" b="b"/>
              <a:pathLst>
                <a:path w="349250" h="635000">
                  <a:moveTo>
                    <a:pt x="349250" y="0"/>
                  </a:moveTo>
                  <a:lnTo>
                    <a:pt x="349250" y="317500"/>
                  </a:lnTo>
                  <a:lnTo>
                    <a:pt x="0" y="317500"/>
                  </a:lnTo>
                  <a:lnTo>
                    <a:pt x="0" y="63500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79450" y="6355014"/>
              <a:ext cx="72898" cy="8509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10363705" y="6175309"/>
            <a:ext cx="15875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25" dirty="0">
                <a:solidFill>
                  <a:srgbClr val="C42F2F"/>
                </a:solidFill>
                <a:latin typeface="Arial"/>
                <a:cs typeface="Arial"/>
              </a:rPr>
              <a:t>N:1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68" name="object 6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D33EE8C-948A-61A7-EA08-9B48AE8946B1}"/>
              </a:ext>
            </a:extLst>
          </p:cNvPr>
          <p:cNvSpPr txBox="1"/>
          <p:nvPr/>
        </p:nvSpPr>
        <p:spPr>
          <a:xfrm>
            <a:off x="8500782" y="4494250"/>
            <a:ext cx="5533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/>
              <a:t>manages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AE0791F-F0CF-0975-B3AC-A2CEE51CCA80}"/>
              </a:ext>
            </a:extLst>
          </p:cNvPr>
          <p:cNvSpPr txBox="1"/>
          <p:nvPr/>
        </p:nvSpPr>
        <p:spPr>
          <a:xfrm>
            <a:off x="8463485" y="4367132"/>
            <a:ext cx="2343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87E93B-39AE-949B-12B9-3F7E53F74315}"/>
              </a:ext>
            </a:extLst>
          </p:cNvPr>
          <p:cNvSpPr txBox="1"/>
          <p:nvPr/>
        </p:nvSpPr>
        <p:spPr>
          <a:xfrm>
            <a:off x="8777461" y="4346693"/>
            <a:ext cx="3209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0..*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7C7257-C2C9-53ED-CCD7-BD26257F7B5B}"/>
              </a:ext>
            </a:extLst>
          </p:cNvPr>
          <p:cNvSpPr txBox="1"/>
          <p:nvPr/>
        </p:nvSpPr>
        <p:spPr>
          <a:xfrm>
            <a:off x="7866802" y="5887443"/>
            <a:ext cx="59984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category FK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2751D8-805B-F101-6291-33C05D059BA8}"/>
              </a:ext>
            </a:extLst>
          </p:cNvPr>
          <p:cNvSpPr txBox="1"/>
          <p:nvPr/>
        </p:nvSpPr>
        <p:spPr>
          <a:xfrm>
            <a:off x="10395577" y="5997886"/>
            <a:ext cx="42832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/>
              <a:t>unit FK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641600" cy="482600"/>
          </a:xfrm>
          <a:custGeom>
            <a:avLst/>
            <a:gdLst/>
            <a:ahLst/>
            <a:cxnLst/>
            <a:rect l="l" t="t" r="r" b="b"/>
            <a:pathLst>
              <a:path w="2641600" h="482600">
                <a:moveTo>
                  <a:pt x="2641600" y="0"/>
                </a:moveTo>
                <a:lnTo>
                  <a:pt x="0" y="0"/>
                </a:lnTo>
                <a:lnTo>
                  <a:pt x="0" y="482600"/>
                </a:lnTo>
                <a:lnTo>
                  <a:pt x="2641600" y="482600"/>
                </a:lnTo>
                <a:lnTo>
                  <a:pt x="2641600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200" y="218572"/>
            <a:ext cx="598170" cy="106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Story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0"/>
            <a:ext cx="15120619" cy="482600"/>
          </a:xfrm>
          <a:custGeom>
            <a:avLst/>
            <a:gdLst/>
            <a:ahLst/>
            <a:cxnLst/>
            <a:rect l="l" t="t" r="r" b="b"/>
            <a:pathLst>
              <a:path w="15120619" h="482600">
                <a:moveTo>
                  <a:pt x="15119997" y="0"/>
                </a:moveTo>
                <a:lnTo>
                  <a:pt x="0" y="0"/>
                </a:lnTo>
                <a:lnTo>
                  <a:pt x="0" y="482600"/>
                </a:lnTo>
                <a:lnTo>
                  <a:pt x="15119997" y="482600"/>
                </a:lnTo>
                <a:lnTo>
                  <a:pt x="15119997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55900" y="139700"/>
            <a:ext cx="44557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</a:t>
            </a:r>
            <a:r>
              <a:rPr sz="1200" b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UML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Class Diagram</a:t>
            </a:r>
            <a:r>
              <a:rPr sz="1200" b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05.02: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Process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Payments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985200" y="1652839"/>
            <a:ext cx="2540000" cy="304800"/>
          </a:xfrm>
          <a:custGeom>
            <a:avLst/>
            <a:gdLst/>
            <a:ahLst/>
            <a:cxnLst/>
            <a:rect l="l" t="t" r="r" b="b"/>
            <a:pathLst>
              <a:path w="2540000" h="304800">
                <a:moveTo>
                  <a:pt x="0" y="304800"/>
                </a:moveTo>
                <a:lnTo>
                  <a:pt x="2539999" y="304800"/>
                </a:lnTo>
                <a:lnTo>
                  <a:pt x="2539999" y="0"/>
                </a:lnTo>
                <a:lnTo>
                  <a:pt x="0" y="0"/>
                </a:lnTo>
                <a:lnTo>
                  <a:pt x="0" y="304800"/>
                </a:lnTo>
                <a:close/>
              </a:path>
            </a:pathLst>
          </a:custGeom>
          <a:ln w="11430">
            <a:solidFill>
              <a:srgbClr val="2A6B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985200" y="1652839"/>
            <a:ext cx="2540000" cy="304800"/>
          </a:xfrm>
          <a:prstGeom prst="rect">
            <a:avLst/>
          </a:prstGeom>
          <a:solidFill>
            <a:srgbClr val="1D3A5E"/>
          </a:solidFill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Retailer</a:t>
            </a:r>
            <a:endParaRPr sz="8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85200" y="1957639"/>
            <a:ext cx="2540000" cy="980440"/>
          </a:xfrm>
          <a:prstGeom prst="rect">
            <a:avLst/>
          </a:prstGeom>
          <a:solidFill>
            <a:srgbClr val="EBF4FF"/>
          </a:solidFill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userId: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0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role:</a:t>
            </a:r>
            <a:r>
              <a:rPr sz="650" spc="9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VARCHAR(20)</a:t>
            </a:r>
            <a:r>
              <a:rPr sz="650" spc="9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name:</a:t>
            </a:r>
            <a:r>
              <a:rPr sz="650" spc="7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company: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email: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approved:</a:t>
            </a:r>
            <a:r>
              <a:rPr sz="650" spc="1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85200" y="2938079"/>
            <a:ext cx="2540000" cy="695960"/>
          </a:xfrm>
          <a:prstGeom prst="rect">
            <a:avLst/>
          </a:prstGeom>
          <a:solidFill>
            <a:srgbClr val="F6F9FB"/>
          </a:solidFill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viewInvoices():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selectPaymentMethod():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void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submitPayment(data):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Payment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viewPaymentHistory():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976685" y="1362644"/>
            <a:ext cx="2780030" cy="2271395"/>
            <a:chOff x="8976685" y="1362644"/>
            <a:chExt cx="2780030" cy="2271395"/>
          </a:xfrm>
        </p:grpSpPr>
        <p:sp>
          <p:nvSpPr>
            <p:cNvPr id="26" name="object 26"/>
            <p:cNvSpPr/>
            <p:nvPr/>
          </p:nvSpPr>
          <p:spPr>
            <a:xfrm>
              <a:off x="8982400" y="3080319"/>
              <a:ext cx="2768600" cy="553720"/>
            </a:xfrm>
            <a:custGeom>
              <a:avLst/>
              <a:gdLst/>
              <a:ahLst/>
              <a:cxnLst/>
              <a:rect l="l" t="t" r="r" b="b"/>
              <a:pathLst>
                <a:path w="2768600" h="553720">
                  <a:moveTo>
                    <a:pt x="2768600" y="0"/>
                  </a:moveTo>
                  <a:lnTo>
                    <a:pt x="0" y="0"/>
                  </a:lnTo>
                  <a:lnTo>
                    <a:pt x="0" y="553720"/>
                  </a:lnTo>
                  <a:lnTo>
                    <a:pt x="2768600" y="553720"/>
                  </a:lnTo>
                  <a:lnTo>
                    <a:pt x="2768600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982400" y="1673159"/>
              <a:ext cx="2768600" cy="1407160"/>
            </a:xfrm>
            <a:custGeom>
              <a:avLst/>
              <a:gdLst/>
              <a:ahLst/>
              <a:cxnLst/>
              <a:rect l="l" t="t" r="r" b="b"/>
              <a:pathLst>
                <a:path w="2768600" h="1407160">
                  <a:moveTo>
                    <a:pt x="2768600" y="0"/>
                  </a:moveTo>
                  <a:lnTo>
                    <a:pt x="0" y="0"/>
                  </a:lnTo>
                  <a:lnTo>
                    <a:pt x="0" y="1407159"/>
                  </a:lnTo>
                  <a:lnTo>
                    <a:pt x="2768600" y="1407159"/>
                  </a:lnTo>
                  <a:lnTo>
                    <a:pt x="2768600" y="0"/>
                  </a:lnTo>
                  <a:close/>
                </a:path>
              </a:pathLst>
            </a:custGeom>
            <a:solidFill>
              <a:srgbClr val="EB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982400" y="1368359"/>
              <a:ext cx="2768600" cy="1711960"/>
            </a:xfrm>
            <a:custGeom>
              <a:avLst/>
              <a:gdLst/>
              <a:ahLst/>
              <a:cxnLst/>
              <a:rect l="l" t="t" r="r" b="b"/>
              <a:pathLst>
                <a:path w="2768600" h="1711960">
                  <a:moveTo>
                    <a:pt x="0" y="1711959"/>
                  </a:moveTo>
                  <a:lnTo>
                    <a:pt x="2768600" y="1711959"/>
                  </a:lnTo>
                  <a:lnTo>
                    <a:pt x="2768600" y="304800"/>
                  </a:lnTo>
                  <a:lnTo>
                    <a:pt x="0" y="304800"/>
                  </a:lnTo>
                  <a:lnTo>
                    <a:pt x="0" y="1711959"/>
                  </a:lnTo>
                  <a:close/>
                </a:path>
                <a:path w="2768600" h="1711960">
                  <a:moveTo>
                    <a:pt x="0" y="304800"/>
                  </a:moveTo>
                  <a:lnTo>
                    <a:pt x="2768600" y="304800"/>
                  </a:lnTo>
                  <a:lnTo>
                    <a:pt x="27686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982399" y="1368359"/>
            <a:ext cx="2768600" cy="304800"/>
          </a:xfrm>
          <a:prstGeom prst="rect">
            <a:avLst/>
          </a:prstGeom>
          <a:solidFill>
            <a:srgbClr val="1D3A5E"/>
          </a:solidFill>
        </p:spPr>
        <p:txBody>
          <a:bodyPr vert="horz" wrap="square" lIns="0" tIns="825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PurchaseOrder</a:t>
            </a:r>
            <a:endParaRPr sz="8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88114" y="1703131"/>
            <a:ext cx="2757170" cy="13055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3985" indent="-51435">
              <a:lnSpc>
                <a:spcPct val="100000"/>
              </a:lnSpc>
              <a:spcBef>
                <a:spcPts val="434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orderId:</a:t>
            </a:r>
            <a:r>
              <a:rPr sz="650" spc="1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customerId: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35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vendorId:</a:t>
            </a:r>
            <a:r>
              <a:rPr sz="650" spc="1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status: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r>
              <a:rPr sz="650" spc="1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45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total:</a:t>
            </a:r>
            <a:r>
              <a:rPr sz="650" spc="7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DECIMAL(10,2)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paymentStatus:</a:t>
            </a:r>
            <a:r>
              <a:rPr sz="650" spc="16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r>
              <a:rPr sz="650" spc="16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33985" algn="l"/>
              </a:tabLst>
            </a:pPr>
            <a:r>
              <a:rPr sz="650" spc="10" dirty="0">
                <a:solidFill>
                  <a:srgbClr val="1A1F2B"/>
                </a:solidFill>
                <a:latin typeface="Arial MT"/>
                <a:cs typeface="Arial MT"/>
              </a:rPr>
              <a:t>paymentMethod:</a:t>
            </a:r>
            <a:r>
              <a:rPr sz="650" spc="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1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r>
              <a:rPr sz="650" spc="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35"/>
              </a:spcBef>
              <a:buChar char="-"/>
              <a:tabLst>
                <a:tab pos="133985" algn="l"/>
              </a:tabLst>
            </a:pPr>
            <a:r>
              <a:rPr sz="650" spc="10" dirty="0">
                <a:solidFill>
                  <a:srgbClr val="1A1F2B"/>
                </a:solidFill>
                <a:latin typeface="Arial MT"/>
                <a:cs typeface="Arial MT"/>
              </a:rPr>
              <a:t>paymentReference:</a:t>
            </a:r>
            <a:r>
              <a:rPr sz="650" spc="6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VARCHAR(255)</a:t>
            </a:r>
            <a:endParaRPr sz="650">
              <a:latin typeface="Arial MT"/>
              <a:cs typeface="Arial MT"/>
            </a:endParaRPr>
          </a:p>
          <a:p>
            <a:pPr marL="13398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3398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createdAt:</a:t>
            </a:r>
            <a:r>
              <a:rPr sz="650" spc="15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DATETIME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982399" y="3080319"/>
            <a:ext cx="2768600" cy="553720"/>
          </a:xfrm>
          <a:prstGeom prst="rect">
            <a:avLst/>
          </a:prstGeom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-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getStatus():</a:t>
            </a:r>
            <a:r>
              <a:rPr sz="650" i="1" spc="-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String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1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getTotal():</a:t>
            </a:r>
            <a:r>
              <a:rPr sz="650" i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Decimal</a:t>
            </a:r>
            <a:endParaRPr sz="65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updatePaymentStatus(s):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void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28885" y="4288725"/>
            <a:ext cx="2678430" cy="2561590"/>
            <a:chOff x="7528885" y="4288725"/>
            <a:chExt cx="2678430" cy="2561590"/>
          </a:xfrm>
        </p:grpSpPr>
        <p:sp>
          <p:nvSpPr>
            <p:cNvPr id="33" name="object 33"/>
            <p:cNvSpPr/>
            <p:nvPr/>
          </p:nvSpPr>
          <p:spPr>
            <a:xfrm>
              <a:off x="7534600" y="6290879"/>
              <a:ext cx="2667000" cy="553720"/>
            </a:xfrm>
            <a:custGeom>
              <a:avLst/>
              <a:gdLst/>
              <a:ahLst/>
              <a:cxnLst/>
              <a:rect l="l" t="t" r="r" b="b"/>
              <a:pathLst>
                <a:path w="2667000" h="553720">
                  <a:moveTo>
                    <a:pt x="2667000" y="0"/>
                  </a:moveTo>
                  <a:lnTo>
                    <a:pt x="0" y="0"/>
                  </a:lnTo>
                  <a:lnTo>
                    <a:pt x="0" y="553720"/>
                  </a:lnTo>
                  <a:lnTo>
                    <a:pt x="2667000" y="55372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34600" y="6290879"/>
              <a:ext cx="2667000" cy="553720"/>
            </a:xfrm>
            <a:custGeom>
              <a:avLst/>
              <a:gdLst/>
              <a:ahLst/>
              <a:cxnLst/>
              <a:rect l="l" t="t" r="r" b="b"/>
              <a:pathLst>
                <a:path w="2667000" h="553720">
                  <a:moveTo>
                    <a:pt x="0" y="553720"/>
                  </a:moveTo>
                  <a:lnTo>
                    <a:pt x="2667000" y="55372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55372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534600" y="4599240"/>
              <a:ext cx="2667000" cy="1691639"/>
            </a:xfrm>
            <a:custGeom>
              <a:avLst/>
              <a:gdLst/>
              <a:ahLst/>
              <a:cxnLst/>
              <a:rect l="l" t="t" r="r" b="b"/>
              <a:pathLst>
                <a:path w="2667000" h="1691639">
                  <a:moveTo>
                    <a:pt x="2667000" y="0"/>
                  </a:moveTo>
                  <a:lnTo>
                    <a:pt x="0" y="0"/>
                  </a:lnTo>
                  <a:lnTo>
                    <a:pt x="0" y="1691639"/>
                  </a:lnTo>
                  <a:lnTo>
                    <a:pt x="2667000" y="1691639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EB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34600" y="4599240"/>
              <a:ext cx="2667000" cy="1691639"/>
            </a:xfrm>
            <a:custGeom>
              <a:avLst/>
              <a:gdLst/>
              <a:ahLst/>
              <a:cxnLst/>
              <a:rect l="l" t="t" r="r" b="b"/>
              <a:pathLst>
                <a:path w="2667000" h="1691639">
                  <a:moveTo>
                    <a:pt x="0" y="1691639"/>
                  </a:moveTo>
                  <a:lnTo>
                    <a:pt x="2667000" y="1691639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1691639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34600" y="4294440"/>
              <a:ext cx="2667000" cy="304800"/>
            </a:xfrm>
            <a:custGeom>
              <a:avLst/>
              <a:gdLst/>
              <a:ahLst/>
              <a:cxnLst/>
              <a:rect l="l" t="t" r="r" b="b"/>
              <a:pathLst>
                <a:path w="2667000" h="304800">
                  <a:moveTo>
                    <a:pt x="2667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2667000" y="304800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1D3A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34600" y="4294440"/>
              <a:ext cx="2667000" cy="304800"/>
            </a:xfrm>
            <a:custGeom>
              <a:avLst/>
              <a:gdLst/>
              <a:ahLst/>
              <a:cxnLst/>
              <a:rect l="l" t="t" r="r" b="b"/>
              <a:pathLst>
                <a:path w="2667000" h="304800">
                  <a:moveTo>
                    <a:pt x="0" y="304800"/>
                  </a:moveTo>
                  <a:lnTo>
                    <a:pt x="2667000" y="304800"/>
                  </a:lnTo>
                  <a:lnTo>
                    <a:pt x="26670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7641280" y="4364289"/>
            <a:ext cx="245364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Payment</a:t>
            </a:r>
            <a:endParaRPr sz="8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23499" y="4629212"/>
            <a:ext cx="2471420" cy="15900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51435" indent="-51435">
              <a:lnSpc>
                <a:spcPct val="100000"/>
              </a:lnSpc>
              <a:spcBef>
                <a:spcPts val="43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paymentId: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userId: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0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orderId:</a:t>
            </a:r>
            <a:r>
              <a:rPr sz="650" spc="1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11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amount:</a:t>
            </a:r>
            <a:r>
              <a:rPr sz="650" spc="1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DECIMAL(10,2)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currency:</a:t>
            </a:r>
            <a:r>
              <a:rPr sz="650" spc="13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VARCHAR(3)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status:</a:t>
            </a:r>
            <a:r>
              <a:rPr sz="650" spc="114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r>
              <a:rPr sz="650" spc="12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{FK}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gateway:</a:t>
            </a:r>
            <a:r>
              <a:rPr sz="650" spc="10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cardLast4:</a:t>
            </a:r>
            <a:r>
              <a:rPr sz="650" spc="12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VARCHAR(4)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cardBrand:</a:t>
            </a:r>
            <a:r>
              <a:rPr sz="650" spc="13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spc="10" dirty="0">
                <a:solidFill>
                  <a:srgbClr val="1A1F2B"/>
                </a:solidFill>
                <a:latin typeface="Arial MT"/>
                <a:cs typeface="Arial MT"/>
              </a:rPr>
              <a:t>paymentMethodLabel: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 dirty="0">
              <a:latin typeface="Arial MT"/>
              <a:cs typeface="Arial MT"/>
            </a:endParaRPr>
          </a:p>
          <a:p>
            <a:pPr marL="514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514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createdAt:</a:t>
            </a:r>
            <a:r>
              <a:rPr sz="650" spc="15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DATETIME</a:t>
            </a:r>
            <a:endParaRPr sz="650" dirty="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23499" y="6319835"/>
            <a:ext cx="2471420" cy="45212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1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process():</a:t>
            </a:r>
            <a:r>
              <a:rPr sz="650" i="1" spc="1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Boolean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-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refund(amt):</a:t>
            </a:r>
            <a:r>
              <a:rPr sz="650" i="1" spc="-2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Boolean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getReceipt():</a:t>
            </a:r>
            <a:r>
              <a:rPr sz="650" i="1" spc="2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String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6251900" y="7647240"/>
            <a:ext cx="2387600" cy="304800"/>
          </a:xfrm>
          <a:custGeom>
            <a:avLst/>
            <a:gdLst/>
            <a:ahLst/>
            <a:cxnLst/>
            <a:rect l="l" t="t" r="r" b="b"/>
            <a:pathLst>
              <a:path w="2387600" h="304800">
                <a:moveTo>
                  <a:pt x="2387599" y="0"/>
                </a:moveTo>
                <a:lnTo>
                  <a:pt x="0" y="0"/>
                </a:lnTo>
                <a:lnTo>
                  <a:pt x="0" y="304800"/>
                </a:lnTo>
                <a:lnTo>
                  <a:pt x="2387599" y="304800"/>
                </a:lnTo>
                <a:lnTo>
                  <a:pt x="2387599" y="0"/>
                </a:lnTo>
                <a:close/>
              </a:path>
            </a:pathLst>
          </a:custGeom>
          <a:solidFill>
            <a:srgbClr val="26674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6251900" y="7647240"/>
            <a:ext cx="2374900" cy="304800"/>
          </a:xfrm>
          <a:prstGeom prst="rect">
            <a:avLst/>
          </a:prstGeom>
          <a:ln w="11430">
            <a:solidFill>
              <a:srgbClr val="38A169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65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PayStatus_Ref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251900" y="7952040"/>
            <a:ext cx="2374900" cy="695960"/>
          </a:xfrm>
          <a:prstGeom prst="rect">
            <a:avLst/>
          </a:prstGeom>
          <a:solidFill>
            <a:srgbClr val="EFFFF4"/>
          </a:solidFill>
          <a:ln w="11429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id:</a:t>
            </a:r>
            <a:r>
              <a:rPr sz="650" spc="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statusCode:</a:t>
            </a:r>
            <a:r>
              <a:rPr sz="650" spc="14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label:</a:t>
            </a:r>
            <a:r>
              <a:rPr sz="650" spc="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>
              <a:latin typeface="Arial MT"/>
              <a:cs typeface="Arial MT"/>
            </a:endParaRPr>
          </a:p>
          <a:p>
            <a:pPr marL="1403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403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isActive: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51900" y="8648000"/>
            <a:ext cx="2374900" cy="269240"/>
          </a:xfrm>
          <a:prstGeom prst="rect">
            <a:avLst/>
          </a:prstGeom>
          <a:solidFill>
            <a:srgbClr val="F6F9FB"/>
          </a:solidFill>
          <a:ln w="11429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getActiveStatuses():</a:t>
            </a:r>
            <a:r>
              <a:rPr sz="650" i="1" spc="35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090985" y="7499284"/>
            <a:ext cx="2399030" cy="316230"/>
            <a:chOff x="9090985" y="7499284"/>
            <a:chExt cx="2399030" cy="316230"/>
          </a:xfrm>
        </p:grpSpPr>
        <p:sp>
          <p:nvSpPr>
            <p:cNvPr id="47" name="object 47"/>
            <p:cNvSpPr/>
            <p:nvPr/>
          </p:nvSpPr>
          <p:spPr>
            <a:xfrm>
              <a:off x="9096700" y="7504999"/>
              <a:ext cx="2387600" cy="304800"/>
            </a:xfrm>
            <a:custGeom>
              <a:avLst/>
              <a:gdLst/>
              <a:ahLst/>
              <a:cxnLst/>
              <a:rect l="l" t="t" r="r" b="b"/>
              <a:pathLst>
                <a:path w="2387600" h="304800">
                  <a:moveTo>
                    <a:pt x="2387600" y="0"/>
                  </a:moveTo>
                  <a:lnTo>
                    <a:pt x="0" y="0"/>
                  </a:lnTo>
                  <a:lnTo>
                    <a:pt x="0" y="304799"/>
                  </a:lnTo>
                  <a:lnTo>
                    <a:pt x="2387600" y="304799"/>
                  </a:lnTo>
                  <a:lnTo>
                    <a:pt x="2387600" y="0"/>
                  </a:lnTo>
                  <a:close/>
                </a:path>
              </a:pathLst>
            </a:custGeom>
            <a:solidFill>
              <a:srgbClr val="26674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096700" y="7504999"/>
              <a:ext cx="2387600" cy="304800"/>
            </a:xfrm>
            <a:custGeom>
              <a:avLst/>
              <a:gdLst/>
              <a:ahLst/>
              <a:cxnLst/>
              <a:rect l="l" t="t" r="r" b="b"/>
              <a:pathLst>
                <a:path w="2387600" h="304800">
                  <a:moveTo>
                    <a:pt x="0" y="304799"/>
                  </a:moveTo>
                  <a:lnTo>
                    <a:pt x="2387600" y="304799"/>
                  </a:lnTo>
                  <a:lnTo>
                    <a:pt x="23876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ln w="11430">
              <a:solidFill>
                <a:srgbClr val="38A1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9115114" y="7574850"/>
            <a:ext cx="236347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0255">
              <a:lnSpc>
                <a:spcPct val="100000"/>
              </a:lnSpc>
              <a:spcBef>
                <a:spcPts val="100"/>
              </a:spcBef>
            </a:pPr>
            <a:r>
              <a:rPr sz="850" b="1" spc="-10" dirty="0">
                <a:solidFill>
                  <a:srgbClr val="FFFFFF"/>
                </a:solidFill>
                <a:latin typeface="Arial"/>
                <a:cs typeface="Arial"/>
              </a:rPr>
              <a:t>PayMethod_Ref</a:t>
            </a:r>
            <a:endParaRPr sz="8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109399" y="7809800"/>
            <a:ext cx="2374900" cy="838200"/>
          </a:xfrm>
          <a:prstGeom prst="rect">
            <a:avLst/>
          </a:prstGeom>
          <a:solidFill>
            <a:srgbClr val="EFFFF4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27635" indent="-51435">
              <a:lnSpc>
                <a:spcPct val="100000"/>
              </a:lnSpc>
              <a:spcBef>
                <a:spcPts val="670"/>
              </a:spcBef>
              <a:buChar char="-"/>
              <a:tabLst>
                <a:tab pos="1276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id:</a:t>
            </a:r>
            <a:r>
              <a:rPr sz="650" spc="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Integer</a:t>
            </a:r>
            <a:r>
              <a:rPr sz="650" spc="7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20" dirty="0">
                <a:solidFill>
                  <a:srgbClr val="1A1F2B"/>
                </a:solidFill>
                <a:latin typeface="Arial MT"/>
                <a:cs typeface="Arial MT"/>
              </a:rPr>
              <a:t>{PK}</a:t>
            </a:r>
            <a:endParaRPr sz="650">
              <a:latin typeface="Arial MT"/>
              <a:cs typeface="Arial MT"/>
            </a:endParaRPr>
          </a:p>
          <a:p>
            <a:pPr marL="1276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276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methodCode:</a:t>
            </a:r>
            <a:r>
              <a:rPr sz="650" spc="16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VARCHAR(50)</a:t>
            </a:r>
            <a:endParaRPr sz="650">
              <a:latin typeface="Arial MT"/>
              <a:cs typeface="Arial MT"/>
            </a:endParaRPr>
          </a:p>
          <a:p>
            <a:pPr marL="1276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276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methodName:</a:t>
            </a:r>
            <a:r>
              <a:rPr sz="650" spc="165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VARCHAR(100)</a:t>
            </a:r>
            <a:endParaRPr sz="650">
              <a:latin typeface="Arial MT"/>
              <a:cs typeface="Arial MT"/>
            </a:endParaRPr>
          </a:p>
          <a:p>
            <a:pPr marL="1276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276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requiresCard:</a:t>
            </a:r>
            <a:r>
              <a:rPr sz="650" spc="16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  <a:p>
            <a:pPr marL="127635" indent="-51435">
              <a:lnSpc>
                <a:spcPct val="100000"/>
              </a:lnSpc>
              <a:spcBef>
                <a:spcPts val="340"/>
              </a:spcBef>
              <a:buChar char="-"/>
              <a:tabLst>
                <a:tab pos="127635" algn="l"/>
              </a:tabLst>
            </a:pPr>
            <a:r>
              <a:rPr sz="650" dirty="0">
                <a:solidFill>
                  <a:srgbClr val="1A1F2B"/>
                </a:solidFill>
                <a:latin typeface="Arial MT"/>
                <a:cs typeface="Arial MT"/>
              </a:rPr>
              <a:t>isActive:</a:t>
            </a:r>
            <a:r>
              <a:rPr sz="650" spc="100" dirty="0">
                <a:solidFill>
                  <a:srgbClr val="1A1F2B"/>
                </a:solidFill>
                <a:latin typeface="Arial MT"/>
                <a:cs typeface="Arial MT"/>
              </a:rPr>
              <a:t> </a:t>
            </a:r>
            <a:r>
              <a:rPr sz="650" spc="-10" dirty="0">
                <a:solidFill>
                  <a:srgbClr val="1A1F2B"/>
                </a:solidFill>
                <a:latin typeface="Arial MT"/>
                <a:cs typeface="Arial MT"/>
              </a:rPr>
              <a:t>BOOLEAN</a:t>
            </a:r>
            <a:endParaRPr sz="65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109399" y="8648000"/>
            <a:ext cx="2374900" cy="269240"/>
          </a:xfrm>
          <a:prstGeom prst="rect">
            <a:avLst/>
          </a:prstGeom>
          <a:solidFill>
            <a:srgbClr val="F6F9FB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70"/>
              </a:spcBef>
            </a:pPr>
            <a:r>
              <a:rPr sz="650" i="1" dirty="0">
                <a:solidFill>
                  <a:srgbClr val="1A1F2B"/>
                </a:solidFill>
                <a:latin typeface="Arial"/>
                <a:cs typeface="Arial"/>
              </a:rPr>
              <a:t>+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10" dirty="0">
                <a:solidFill>
                  <a:srgbClr val="1A1F2B"/>
                </a:solidFill>
                <a:latin typeface="Arial"/>
                <a:cs typeface="Arial"/>
              </a:rPr>
              <a:t>getActiveMethods():</a:t>
            </a:r>
            <a:r>
              <a:rPr sz="650" i="1" spc="30" dirty="0">
                <a:solidFill>
                  <a:srgbClr val="1A1F2B"/>
                </a:solidFill>
                <a:latin typeface="Arial"/>
                <a:cs typeface="Arial"/>
              </a:rPr>
              <a:t> </a:t>
            </a:r>
            <a:r>
              <a:rPr sz="650" i="1" spc="-20" dirty="0">
                <a:solidFill>
                  <a:srgbClr val="1A1F2B"/>
                </a:solidFill>
                <a:latin typeface="Arial"/>
                <a:cs typeface="Arial"/>
              </a:rPr>
              <a:t>List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248214" y="2701737"/>
            <a:ext cx="1827530" cy="1602863"/>
            <a:chOff x="7248214" y="2601656"/>
            <a:chExt cx="1827530" cy="1786255"/>
          </a:xfrm>
        </p:grpSpPr>
        <p:sp>
          <p:nvSpPr>
            <p:cNvPr id="53" name="object 53"/>
            <p:cNvSpPr/>
            <p:nvPr/>
          </p:nvSpPr>
          <p:spPr>
            <a:xfrm>
              <a:off x="8525199" y="2643439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ln w="15240">
              <a:solidFill>
                <a:srgbClr val="4954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77954" y="2601656"/>
              <a:ext cx="97790" cy="83566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255199" y="3634039"/>
              <a:ext cx="1422400" cy="660400"/>
            </a:xfrm>
            <a:custGeom>
              <a:avLst/>
              <a:gdLst/>
              <a:ahLst/>
              <a:cxnLst/>
              <a:rect l="l" t="t" r="r" b="b"/>
              <a:pathLst>
                <a:path w="1422400" h="660400">
                  <a:moveTo>
                    <a:pt x="0" y="0"/>
                  </a:moveTo>
                  <a:lnTo>
                    <a:pt x="0" y="330200"/>
                  </a:lnTo>
                  <a:lnTo>
                    <a:pt x="1422400" y="330200"/>
                  </a:lnTo>
                  <a:lnTo>
                    <a:pt x="1422400" y="660400"/>
                  </a:lnTo>
                </a:path>
              </a:pathLst>
            </a:custGeom>
            <a:ln w="13970">
              <a:solidFill>
                <a:srgbClr val="4954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35816" y="4289994"/>
              <a:ext cx="83566" cy="97790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7470225" y="3834153"/>
            <a:ext cx="533076" cy="76944"/>
          </a:xfrm>
          <a:prstGeom prst="rect">
            <a:avLst/>
          </a:prstGeom>
          <a:ln w="4444">
            <a:solidFill>
              <a:srgbClr val="70809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20"/>
              </a:lnSpc>
            </a:pPr>
            <a:r>
              <a:rPr sz="600" i="1" spc="-10" dirty="0">
                <a:solidFill>
                  <a:srgbClr val="1A1F2B"/>
                </a:solidFill>
                <a:latin typeface="Arial"/>
                <a:cs typeface="Arial"/>
              </a:rPr>
              <a:t>submits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092551" y="3640390"/>
            <a:ext cx="7175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50" dirty="0">
                <a:solidFill>
                  <a:srgbClr val="C42F2F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641280" y="4110289"/>
            <a:ext cx="102933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165" algn="r">
              <a:lnSpc>
                <a:spcPct val="100000"/>
              </a:lnSpc>
              <a:spcBef>
                <a:spcPts val="100"/>
              </a:spcBef>
            </a:pPr>
            <a:r>
              <a:rPr sz="650" b="1" spc="-20" dirty="0">
                <a:solidFill>
                  <a:srgbClr val="C42F2F"/>
                </a:solidFill>
                <a:latin typeface="Arial"/>
                <a:cs typeface="Arial"/>
              </a:rPr>
              <a:t>0..*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9016817" y="3640389"/>
            <a:ext cx="1404493" cy="649605"/>
            <a:chOff x="9016817" y="3450525"/>
            <a:chExt cx="1404493" cy="937260"/>
          </a:xfrm>
        </p:grpSpPr>
        <p:sp>
          <p:nvSpPr>
            <p:cNvPr id="62" name="object 62"/>
            <p:cNvSpPr/>
            <p:nvPr/>
          </p:nvSpPr>
          <p:spPr>
            <a:xfrm>
              <a:off x="9058600" y="3634040"/>
              <a:ext cx="1308100" cy="660400"/>
            </a:xfrm>
            <a:custGeom>
              <a:avLst/>
              <a:gdLst/>
              <a:ahLst/>
              <a:cxnLst/>
              <a:rect l="l" t="t" r="r" b="b"/>
              <a:pathLst>
                <a:path w="1308100" h="660400">
                  <a:moveTo>
                    <a:pt x="1308100" y="0"/>
                  </a:moveTo>
                  <a:lnTo>
                    <a:pt x="1308100" y="330200"/>
                  </a:lnTo>
                  <a:lnTo>
                    <a:pt x="0" y="330200"/>
                  </a:lnTo>
                  <a:lnTo>
                    <a:pt x="0" y="660400"/>
                  </a:lnTo>
                </a:path>
              </a:pathLst>
            </a:custGeom>
            <a:ln w="15240">
              <a:solidFill>
                <a:srgbClr val="C4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12090" y="3450525"/>
              <a:ext cx="109220" cy="18923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016817" y="4289995"/>
              <a:ext cx="83566" cy="9779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9901879" y="3811586"/>
            <a:ext cx="38608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600" i="1" spc="-10" dirty="0">
                <a:solidFill>
                  <a:srgbClr val="1A1F2B"/>
                </a:solidFill>
                <a:latin typeface="Arial"/>
                <a:cs typeface="Arial"/>
              </a:rPr>
              <a:t>generates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458051" y="3640390"/>
            <a:ext cx="7175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50" dirty="0">
                <a:solidFill>
                  <a:srgbClr val="C42F2F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9110945" y="4110289"/>
            <a:ext cx="14986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20" dirty="0">
                <a:solidFill>
                  <a:srgbClr val="C42F2F"/>
                </a:solidFill>
                <a:latin typeface="Arial"/>
                <a:cs typeface="Arial"/>
              </a:rPr>
              <a:t>1..*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7409250" y="6838884"/>
            <a:ext cx="1210945" cy="808356"/>
            <a:chOff x="7409250" y="6838884"/>
            <a:chExt cx="1210945" cy="889000"/>
          </a:xfrm>
        </p:grpSpPr>
        <p:sp>
          <p:nvSpPr>
            <p:cNvPr id="70" name="object 70"/>
            <p:cNvSpPr/>
            <p:nvPr/>
          </p:nvSpPr>
          <p:spPr>
            <a:xfrm>
              <a:off x="7445699" y="6844599"/>
              <a:ext cx="1168400" cy="802640"/>
            </a:xfrm>
            <a:custGeom>
              <a:avLst/>
              <a:gdLst/>
              <a:ahLst/>
              <a:cxnLst/>
              <a:rect l="l" t="t" r="r" b="b"/>
              <a:pathLst>
                <a:path w="1168400" h="802640">
                  <a:moveTo>
                    <a:pt x="1168400" y="0"/>
                  </a:moveTo>
                  <a:lnTo>
                    <a:pt x="1168400" y="330199"/>
                  </a:lnTo>
                  <a:lnTo>
                    <a:pt x="0" y="330199"/>
                  </a:lnTo>
                  <a:lnTo>
                    <a:pt x="0" y="802639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09250" y="7642794"/>
              <a:ext cx="72898" cy="85089"/>
            </a:xfrm>
            <a:prstGeom prst="rect">
              <a:avLst/>
            </a:prstGeom>
          </p:spPr>
        </p:pic>
      </p:grpSp>
      <p:sp>
        <p:nvSpPr>
          <p:cNvPr id="72" name="object 72"/>
          <p:cNvSpPr txBox="1"/>
          <p:nvPr/>
        </p:nvSpPr>
        <p:spPr>
          <a:xfrm>
            <a:off x="7825501" y="7009700"/>
            <a:ext cx="408940" cy="114300"/>
          </a:xfrm>
          <a:prstGeom prst="rect">
            <a:avLst/>
          </a:prstGeom>
          <a:ln w="4444">
            <a:solidFill>
              <a:srgbClr val="70809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20"/>
              </a:lnSpc>
            </a:pPr>
            <a:r>
              <a:rPr sz="600" i="1" dirty="0">
                <a:solidFill>
                  <a:srgbClr val="708095"/>
                </a:solidFill>
                <a:latin typeface="Arial"/>
                <a:cs typeface="Arial"/>
              </a:rPr>
              <a:t>status</a:t>
            </a:r>
            <a:r>
              <a:rPr sz="600" i="1" spc="50" dirty="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sz="600" i="1" spc="-25" dirty="0">
                <a:solidFill>
                  <a:srgbClr val="708095"/>
                </a:solidFill>
                <a:latin typeface="Arial"/>
                <a:cs typeface="Arial"/>
              </a:rPr>
              <a:t>FK</a:t>
            </a:r>
            <a:endParaRPr sz="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451414" y="7463090"/>
            <a:ext cx="18796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sz="650" b="1" spc="-25" dirty="0">
                <a:solidFill>
                  <a:srgbClr val="C42F2F"/>
                </a:solidFill>
                <a:latin typeface="Arial"/>
                <a:cs typeface="Arial"/>
              </a:rPr>
              <a:t>N:1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6369545" y="3634039"/>
            <a:ext cx="3163313" cy="4008754"/>
            <a:chOff x="7609530" y="3634039"/>
            <a:chExt cx="1926590" cy="4076700"/>
          </a:xfrm>
        </p:grpSpPr>
        <p:sp>
          <p:nvSpPr>
            <p:cNvPr id="75" name="object 75"/>
            <p:cNvSpPr/>
            <p:nvPr/>
          </p:nvSpPr>
          <p:spPr>
            <a:xfrm>
              <a:off x="7636200" y="3634039"/>
              <a:ext cx="1899920" cy="4013200"/>
            </a:xfrm>
            <a:custGeom>
              <a:avLst/>
              <a:gdLst/>
              <a:ahLst/>
              <a:cxnLst/>
              <a:rect l="l" t="t" r="r" b="b"/>
              <a:pathLst>
                <a:path w="1899920" h="4013200">
                  <a:moveTo>
                    <a:pt x="1899919" y="0"/>
                  </a:moveTo>
                  <a:lnTo>
                    <a:pt x="1899919" y="482600"/>
                  </a:lnTo>
                  <a:lnTo>
                    <a:pt x="0" y="482600"/>
                  </a:lnTo>
                  <a:lnTo>
                    <a:pt x="0" y="3642360"/>
                  </a:lnTo>
                  <a:lnTo>
                    <a:pt x="0" y="4013200"/>
                  </a:lnTo>
                </a:path>
              </a:pathLst>
            </a:custGeom>
            <a:ln w="1016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609530" y="7647239"/>
              <a:ext cx="53340" cy="63500"/>
            </a:xfrm>
            <a:custGeom>
              <a:avLst/>
              <a:gdLst/>
              <a:ahLst/>
              <a:cxnLst/>
              <a:rect l="l" t="t" r="r" b="b"/>
              <a:pathLst>
                <a:path w="53340" h="63500">
                  <a:moveTo>
                    <a:pt x="26670" y="0"/>
                  </a:moveTo>
                  <a:lnTo>
                    <a:pt x="0" y="63500"/>
                  </a:lnTo>
                  <a:lnTo>
                    <a:pt x="53339" y="63500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609530" y="7647239"/>
              <a:ext cx="53340" cy="63500"/>
            </a:xfrm>
            <a:custGeom>
              <a:avLst/>
              <a:gdLst/>
              <a:ahLst/>
              <a:cxnLst/>
              <a:rect l="l" t="t" r="r" b="b"/>
              <a:pathLst>
                <a:path w="53340" h="63500">
                  <a:moveTo>
                    <a:pt x="26670" y="0"/>
                  </a:moveTo>
                  <a:lnTo>
                    <a:pt x="0" y="63500"/>
                  </a:lnTo>
                  <a:lnTo>
                    <a:pt x="53339" y="63500"/>
                  </a:lnTo>
                  <a:lnTo>
                    <a:pt x="26670" y="0"/>
                  </a:lnTo>
                  <a:close/>
                </a:path>
              </a:pathLst>
            </a:custGeom>
            <a:ln w="8889">
              <a:solidFill>
                <a:srgbClr val="708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6492476" y="4001069"/>
            <a:ext cx="600075" cy="10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" i="1" dirty="0">
                <a:solidFill>
                  <a:srgbClr val="708095"/>
                </a:solidFill>
                <a:latin typeface="Arial"/>
                <a:cs typeface="Arial"/>
              </a:rPr>
              <a:t>paymentStatus</a:t>
            </a:r>
            <a:r>
              <a:rPr sz="550" i="1" spc="35" dirty="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sz="550" i="1" spc="-25" dirty="0">
                <a:solidFill>
                  <a:srgbClr val="708095"/>
                </a:solidFill>
                <a:latin typeface="Arial"/>
                <a:cs typeface="Arial"/>
              </a:rPr>
              <a:t>FK</a:t>
            </a:r>
            <a:endParaRPr sz="550" dirty="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9116385" y="6838884"/>
            <a:ext cx="1210945" cy="672807"/>
            <a:chOff x="9116385" y="6838884"/>
            <a:chExt cx="1210945" cy="746760"/>
          </a:xfrm>
        </p:grpSpPr>
        <p:sp>
          <p:nvSpPr>
            <p:cNvPr id="82" name="object 82"/>
            <p:cNvSpPr/>
            <p:nvPr/>
          </p:nvSpPr>
          <p:spPr>
            <a:xfrm>
              <a:off x="9122100" y="6844599"/>
              <a:ext cx="1168400" cy="660400"/>
            </a:xfrm>
            <a:custGeom>
              <a:avLst/>
              <a:gdLst/>
              <a:ahLst/>
              <a:cxnLst/>
              <a:rect l="l" t="t" r="r" b="b"/>
              <a:pathLst>
                <a:path w="1168400" h="660400">
                  <a:moveTo>
                    <a:pt x="0" y="0"/>
                  </a:moveTo>
                  <a:lnTo>
                    <a:pt x="0" y="330199"/>
                  </a:lnTo>
                  <a:lnTo>
                    <a:pt x="1168400" y="330199"/>
                  </a:lnTo>
                  <a:lnTo>
                    <a:pt x="1168400" y="660399"/>
                  </a:lnTo>
                </a:path>
              </a:pathLst>
            </a:custGeom>
            <a:ln w="11429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54051" y="7500554"/>
              <a:ext cx="72898" cy="8508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9475641" y="7212899"/>
              <a:ext cx="461645" cy="114300"/>
            </a:xfrm>
            <a:custGeom>
              <a:avLst/>
              <a:gdLst/>
              <a:ahLst/>
              <a:cxnLst/>
              <a:rect l="l" t="t" r="r" b="b"/>
              <a:pathLst>
                <a:path w="461645" h="114300">
                  <a:moveTo>
                    <a:pt x="461317" y="0"/>
                  </a:moveTo>
                  <a:lnTo>
                    <a:pt x="0" y="0"/>
                  </a:lnTo>
                  <a:lnTo>
                    <a:pt x="0" y="114299"/>
                  </a:lnTo>
                  <a:lnTo>
                    <a:pt x="461317" y="114299"/>
                  </a:lnTo>
                  <a:lnTo>
                    <a:pt x="4613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9475641" y="7212900"/>
            <a:ext cx="461645" cy="114300"/>
          </a:xfrm>
          <a:prstGeom prst="rect">
            <a:avLst/>
          </a:prstGeom>
          <a:ln w="4444">
            <a:solidFill>
              <a:srgbClr val="70809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20"/>
              </a:lnSpc>
            </a:pPr>
            <a:r>
              <a:rPr sz="600" i="1" dirty="0">
                <a:solidFill>
                  <a:srgbClr val="708095"/>
                </a:solidFill>
                <a:latin typeface="Arial"/>
                <a:cs typeface="Arial"/>
              </a:rPr>
              <a:t>method</a:t>
            </a:r>
            <a:r>
              <a:rPr sz="600" i="1" spc="45" dirty="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sz="600" i="1" spc="-25" dirty="0">
                <a:solidFill>
                  <a:srgbClr val="708095"/>
                </a:solidFill>
                <a:latin typeface="Arial"/>
                <a:cs typeface="Arial"/>
              </a:rPr>
              <a:t>FK</a:t>
            </a:r>
            <a:endParaRPr sz="6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0338305" y="7320850"/>
            <a:ext cx="15875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b="1" spc="-25" dirty="0">
                <a:solidFill>
                  <a:srgbClr val="C42F2F"/>
                </a:solidFill>
                <a:latin typeface="Arial"/>
                <a:cs typeface="Arial"/>
              </a:rPr>
              <a:t>N:1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0799250" y="3590861"/>
            <a:ext cx="914610" cy="3914138"/>
            <a:chOff x="10068885" y="3628959"/>
            <a:chExt cx="1133475" cy="3943985"/>
          </a:xfrm>
        </p:grpSpPr>
        <p:sp>
          <p:nvSpPr>
            <p:cNvPr id="88" name="object 88"/>
            <p:cNvSpPr/>
            <p:nvPr/>
          </p:nvSpPr>
          <p:spPr>
            <a:xfrm>
              <a:off x="10100000" y="3634039"/>
              <a:ext cx="1097280" cy="3870960"/>
            </a:xfrm>
            <a:custGeom>
              <a:avLst/>
              <a:gdLst/>
              <a:ahLst/>
              <a:cxnLst/>
              <a:rect l="l" t="t" r="r" b="b"/>
              <a:pathLst>
                <a:path w="1097279" h="3870959">
                  <a:moveTo>
                    <a:pt x="1097279" y="0"/>
                  </a:moveTo>
                  <a:lnTo>
                    <a:pt x="1097279" y="635000"/>
                  </a:lnTo>
                  <a:lnTo>
                    <a:pt x="0" y="635000"/>
                  </a:lnTo>
                  <a:lnTo>
                    <a:pt x="0" y="3642360"/>
                  </a:lnTo>
                  <a:lnTo>
                    <a:pt x="0" y="3870960"/>
                  </a:lnTo>
                </a:path>
              </a:pathLst>
            </a:custGeom>
            <a:ln w="1016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0073330" y="7505000"/>
              <a:ext cx="53340" cy="63500"/>
            </a:xfrm>
            <a:custGeom>
              <a:avLst/>
              <a:gdLst/>
              <a:ahLst/>
              <a:cxnLst/>
              <a:rect l="l" t="t" r="r" b="b"/>
              <a:pathLst>
                <a:path w="53340" h="63500">
                  <a:moveTo>
                    <a:pt x="26670" y="0"/>
                  </a:moveTo>
                  <a:lnTo>
                    <a:pt x="0" y="63499"/>
                  </a:lnTo>
                  <a:lnTo>
                    <a:pt x="53339" y="63499"/>
                  </a:lnTo>
                  <a:lnTo>
                    <a:pt x="266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0073330" y="7505000"/>
              <a:ext cx="53340" cy="63500"/>
            </a:xfrm>
            <a:custGeom>
              <a:avLst/>
              <a:gdLst/>
              <a:ahLst/>
              <a:cxnLst/>
              <a:rect l="l" t="t" r="r" b="b"/>
              <a:pathLst>
                <a:path w="53340" h="63500">
                  <a:moveTo>
                    <a:pt x="26670" y="0"/>
                  </a:moveTo>
                  <a:lnTo>
                    <a:pt x="0" y="63499"/>
                  </a:lnTo>
                  <a:lnTo>
                    <a:pt x="53339" y="63499"/>
                  </a:lnTo>
                  <a:lnTo>
                    <a:pt x="26670" y="0"/>
                  </a:lnTo>
                  <a:close/>
                </a:path>
              </a:pathLst>
            </a:custGeom>
            <a:ln w="8889">
              <a:solidFill>
                <a:srgbClr val="7080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0991850" y="4105778"/>
            <a:ext cx="685800" cy="114300"/>
          </a:xfrm>
          <a:prstGeom prst="rect">
            <a:avLst/>
          </a:prstGeom>
          <a:ln w="4444">
            <a:solidFill>
              <a:srgbClr val="70809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10"/>
              </a:lnSpc>
            </a:pPr>
            <a:r>
              <a:rPr sz="550" i="1" dirty="0">
                <a:solidFill>
                  <a:srgbClr val="708095"/>
                </a:solidFill>
                <a:latin typeface="Arial"/>
                <a:cs typeface="Arial"/>
              </a:rPr>
              <a:t>paymentMethod</a:t>
            </a:r>
            <a:r>
              <a:rPr sz="550" i="1" spc="35" dirty="0">
                <a:solidFill>
                  <a:srgbClr val="708095"/>
                </a:solidFill>
                <a:latin typeface="Arial"/>
                <a:cs typeface="Arial"/>
              </a:rPr>
              <a:t> </a:t>
            </a:r>
            <a:r>
              <a:rPr sz="550" i="1" spc="-25" dirty="0">
                <a:solidFill>
                  <a:srgbClr val="708095"/>
                </a:solidFill>
                <a:latin typeface="Arial"/>
                <a:cs typeface="Arial"/>
              </a:rPr>
              <a:t>FK</a:t>
            </a:r>
            <a:endParaRPr sz="5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113" name="object 1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E675321-16BE-1F73-5F94-3BC384DEE227}"/>
              </a:ext>
            </a:extLst>
          </p:cNvPr>
          <p:cNvSpPr txBox="1"/>
          <p:nvPr/>
        </p:nvSpPr>
        <p:spPr>
          <a:xfrm>
            <a:off x="8544811" y="2603554"/>
            <a:ext cx="4090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i="1" dirty="0"/>
              <a:t>places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EDAF452-642E-5412-7798-F0EB5065AA4F}"/>
              </a:ext>
            </a:extLst>
          </p:cNvPr>
          <p:cNvSpPr txBox="1"/>
          <p:nvPr/>
        </p:nvSpPr>
        <p:spPr>
          <a:xfrm>
            <a:off x="8447716" y="2453544"/>
            <a:ext cx="2343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82544A7-0C48-E044-C709-6C74FEE50352}"/>
              </a:ext>
            </a:extLst>
          </p:cNvPr>
          <p:cNvSpPr txBox="1"/>
          <p:nvPr/>
        </p:nvSpPr>
        <p:spPr>
          <a:xfrm>
            <a:off x="8766804" y="2461828"/>
            <a:ext cx="300082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solidFill>
                  <a:srgbClr val="FF0000"/>
                </a:solidFill>
              </a:rPr>
              <a:t>0..*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641D2-FB17-2F0F-F6A0-05DAF53DC29A}"/>
              </a:ext>
            </a:extLst>
          </p:cNvPr>
          <p:cNvSpPr txBox="1"/>
          <p:nvPr/>
        </p:nvSpPr>
        <p:spPr>
          <a:xfrm>
            <a:off x="2311879" y="70391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40301-B5D3-1393-BCE3-97F412435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B78261C-E0FB-2330-54C1-D3201E226B83}"/>
              </a:ext>
            </a:extLst>
          </p:cNvPr>
          <p:cNvSpPr/>
          <p:nvPr/>
        </p:nvSpPr>
        <p:spPr>
          <a:xfrm>
            <a:off x="0" y="0"/>
            <a:ext cx="2641600" cy="482600"/>
          </a:xfrm>
          <a:custGeom>
            <a:avLst/>
            <a:gdLst/>
            <a:ahLst/>
            <a:cxnLst/>
            <a:rect l="l" t="t" r="r" b="b"/>
            <a:pathLst>
              <a:path w="2641600" h="482600">
                <a:moveTo>
                  <a:pt x="2641600" y="0"/>
                </a:moveTo>
                <a:lnTo>
                  <a:pt x="0" y="0"/>
                </a:lnTo>
                <a:lnTo>
                  <a:pt x="0" y="482600"/>
                </a:lnTo>
                <a:lnTo>
                  <a:pt x="2641600" y="482600"/>
                </a:lnTo>
                <a:lnTo>
                  <a:pt x="2641600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022BA3B-234F-61F8-4FEE-9831DFC365B2}"/>
              </a:ext>
            </a:extLst>
          </p:cNvPr>
          <p:cNvSpPr txBox="1"/>
          <p:nvPr/>
        </p:nvSpPr>
        <p:spPr>
          <a:xfrm>
            <a:off x="76200" y="218572"/>
            <a:ext cx="598170" cy="106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30"/>
              </a:lnSpc>
            </a:pPr>
            <a:r>
              <a:rPr sz="750" b="1" dirty="0">
                <a:solidFill>
                  <a:srgbClr val="FFFFFF"/>
                </a:solidFill>
                <a:latin typeface="Arial"/>
                <a:cs typeface="Arial"/>
              </a:rPr>
              <a:t>Story </a:t>
            </a:r>
            <a:r>
              <a:rPr sz="750" b="1" spc="-10" dirty="0">
                <a:solidFill>
                  <a:srgbClr val="FFFFFF"/>
                </a:solidFill>
                <a:latin typeface="Arial"/>
                <a:cs typeface="Arial"/>
              </a:rPr>
              <a:t>Outline</a:t>
            </a:r>
            <a:endParaRPr sz="750">
              <a:latin typeface="Arial"/>
              <a:cs typeface="Arial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3BA6D00-9EB4-736A-6E8C-A09965E41878}"/>
              </a:ext>
            </a:extLst>
          </p:cNvPr>
          <p:cNvSpPr/>
          <p:nvPr/>
        </p:nvSpPr>
        <p:spPr>
          <a:xfrm>
            <a:off x="0" y="0"/>
            <a:ext cx="15120619" cy="482600"/>
          </a:xfrm>
          <a:custGeom>
            <a:avLst/>
            <a:gdLst/>
            <a:ahLst/>
            <a:cxnLst/>
            <a:rect l="l" t="t" r="r" b="b"/>
            <a:pathLst>
              <a:path w="15120619" h="482600">
                <a:moveTo>
                  <a:pt x="15119997" y="0"/>
                </a:moveTo>
                <a:lnTo>
                  <a:pt x="0" y="0"/>
                </a:lnTo>
                <a:lnTo>
                  <a:pt x="0" y="482600"/>
                </a:lnTo>
                <a:lnTo>
                  <a:pt x="15119997" y="482600"/>
                </a:lnTo>
                <a:lnTo>
                  <a:pt x="15119997" y="0"/>
                </a:lnTo>
                <a:close/>
              </a:path>
            </a:pathLst>
          </a:custGeom>
          <a:solidFill>
            <a:srgbClr val="1D3A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2D6C9A5A-9ACA-66EE-D064-7E0B2A322355}"/>
              </a:ext>
            </a:extLst>
          </p:cNvPr>
          <p:cNvSpPr txBox="1"/>
          <p:nvPr/>
        </p:nvSpPr>
        <p:spPr>
          <a:xfrm>
            <a:off x="2755900" y="139700"/>
            <a:ext cx="513349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BulkCart</a:t>
            </a:r>
            <a:r>
              <a:rPr sz="1200" b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—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UML</a:t>
            </a:r>
            <a:r>
              <a:rPr sz="12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Class Diagram</a:t>
            </a:r>
            <a:r>
              <a:rPr sz="1200" b="1" spc="3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200" b="1" spc="3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3.03: Browse Product Catalog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2" name="object 112">
            <a:extLst>
              <a:ext uri="{FF2B5EF4-FFF2-40B4-BE49-F238E27FC236}">
                <a16:creationId xmlns:a16="http://schemas.microsoft.com/office/drawing/2014/main" id="{91A50105-F8FB-4AD5-6FC1-6F015BBF147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BulkCart</a:t>
            </a:r>
            <a:r>
              <a:rPr spc="-15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B2B</a:t>
            </a:r>
            <a:r>
              <a:rPr spc="-15" dirty="0"/>
              <a:t> </a:t>
            </a:r>
            <a:r>
              <a:rPr dirty="0"/>
              <a:t>Wholesale</a:t>
            </a:r>
            <a:r>
              <a:rPr spc="-15" dirty="0"/>
              <a:t> </a:t>
            </a:r>
            <a:r>
              <a:rPr dirty="0"/>
              <a:t>Ordering</a:t>
            </a:r>
            <a:r>
              <a:rPr spc="-15" dirty="0"/>
              <a:t> </a:t>
            </a:r>
            <a:r>
              <a:rPr spc="-10" dirty="0"/>
              <a:t>Platform</a:t>
            </a:r>
          </a:p>
        </p:txBody>
      </p:sp>
      <p:sp>
        <p:nvSpPr>
          <p:cNvPr id="113" name="object 113">
            <a:extLst>
              <a:ext uri="{FF2B5EF4-FFF2-40B4-BE49-F238E27FC236}">
                <a16:creationId xmlns:a16="http://schemas.microsoft.com/office/drawing/2014/main" id="{A6DD765B-DB4E-87FB-4D04-29322DFFE347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5" dirty="0">
                <a:latin typeface="Times New Roman"/>
                <a:cs typeface="Times New Roman"/>
              </a:rPr>
              <a:t> </a:t>
            </a:r>
            <a:r>
              <a:rPr dirty="0"/>
              <a:t>Inheritance</a:t>
            </a:r>
            <a:r>
              <a:rPr spc="165" dirty="0"/>
              <a:t> 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Association</a:t>
            </a:r>
            <a:r>
              <a:rPr spc="165" dirty="0"/>
              <a:t> </a:t>
            </a:r>
            <a:r>
              <a:rPr dirty="0">
                <a:latin typeface="MS Gothic"/>
                <a:cs typeface="MS Gothic"/>
              </a:rPr>
              <a:t>◆</a:t>
            </a:r>
            <a:r>
              <a:rPr dirty="0"/>
              <a:t>——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dirty="0"/>
              <a:t>Composition</a:t>
            </a:r>
            <a:r>
              <a:rPr spc="16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dirty="0"/>
              <a:t>-</a:t>
            </a:r>
            <a:r>
              <a:rPr dirty="0">
                <a:latin typeface="MS Gothic"/>
                <a:cs typeface="MS Gothic"/>
              </a:rPr>
              <a:t>■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-10" dirty="0"/>
              <a:t>Dependency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D90C5-96CB-7FB0-EC19-FDC3B38CDD91}"/>
              </a:ext>
            </a:extLst>
          </p:cNvPr>
          <p:cNvSpPr txBox="1"/>
          <p:nvPr/>
        </p:nvSpPr>
        <p:spPr>
          <a:xfrm>
            <a:off x="2311879" y="703915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4" name="object 14">
            <a:extLst>
              <a:ext uri="{FF2B5EF4-FFF2-40B4-BE49-F238E27FC236}">
                <a16:creationId xmlns:a16="http://schemas.microsoft.com/office/drawing/2014/main" id="{81C868EB-9307-EF44-42CC-BDE3488C72C9}"/>
              </a:ext>
            </a:extLst>
          </p:cNvPr>
          <p:cNvGrpSpPr/>
          <p:nvPr/>
        </p:nvGrpSpPr>
        <p:grpSpPr>
          <a:xfrm>
            <a:off x="5280179" y="3487131"/>
            <a:ext cx="2614930" cy="2114550"/>
            <a:chOff x="5896935" y="3681664"/>
            <a:chExt cx="2614930" cy="2114550"/>
          </a:xfrm>
        </p:grpSpPr>
        <p:sp>
          <p:nvSpPr>
            <p:cNvPr id="5" name="object 15">
              <a:extLst>
                <a:ext uri="{FF2B5EF4-FFF2-40B4-BE49-F238E27FC236}">
                  <a16:creationId xmlns:a16="http://schemas.microsoft.com/office/drawing/2014/main" id="{63CDE1E2-780E-50BA-35C9-4F5FFE3966CE}"/>
                </a:ext>
              </a:extLst>
            </p:cNvPr>
            <p:cNvSpPr/>
            <p:nvPr/>
          </p:nvSpPr>
          <p:spPr>
            <a:xfrm>
              <a:off x="5902650" y="4952299"/>
              <a:ext cx="2603500" cy="838200"/>
            </a:xfrm>
            <a:custGeom>
              <a:avLst/>
              <a:gdLst/>
              <a:ahLst/>
              <a:cxnLst/>
              <a:rect l="l" t="t" r="r" b="b"/>
              <a:pathLst>
                <a:path w="2603500" h="838200">
                  <a:moveTo>
                    <a:pt x="2603499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2603499" y="838200"/>
                  </a:lnTo>
                  <a:lnTo>
                    <a:pt x="2603499" y="0"/>
                  </a:lnTo>
                  <a:close/>
                </a:path>
              </a:pathLst>
            </a:custGeom>
            <a:solidFill>
              <a:srgbClr val="F6F9FB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16">
              <a:extLst>
                <a:ext uri="{FF2B5EF4-FFF2-40B4-BE49-F238E27FC236}">
                  <a16:creationId xmlns:a16="http://schemas.microsoft.com/office/drawing/2014/main" id="{A04903E9-8D28-E6A7-07A7-952CB045366A}"/>
                </a:ext>
              </a:extLst>
            </p:cNvPr>
            <p:cNvSpPr/>
            <p:nvPr/>
          </p:nvSpPr>
          <p:spPr>
            <a:xfrm>
              <a:off x="5902650" y="4952299"/>
              <a:ext cx="2603500" cy="838200"/>
            </a:xfrm>
            <a:custGeom>
              <a:avLst/>
              <a:gdLst/>
              <a:ahLst/>
              <a:cxnLst/>
              <a:rect l="l" t="t" r="r" b="b"/>
              <a:pathLst>
                <a:path w="2603500" h="838200">
                  <a:moveTo>
                    <a:pt x="0" y="838200"/>
                  </a:moveTo>
                  <a:lnTo>
                    <a:pt x="2603499" y="838200"/>
                  </a:lnTo>
                  <a:lnTo>
                    <a:pt x="2603499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17">
              <a:extLst>
                <a:ext uri="{FF2B5EF4-FFF2-40B4-BE49-F238E27FC236}">
                  <a16:creationId xmlns:a16="http://schemas.microsoft.com/office/drawing/2014/main" id="{A195C5DC-6887-8FF2-6057-7F91F8F02374}"/>
                </a:ext>
              </a:extLst>
            </p:cNvPr>
            <p:cNvSpPr/>
            <p:nvPr/>
          </p:nvSpPr>
          <p:spPr>
            <a:xfrm>
              <a:off x="5902650" y="3687379"/>
              <a:ext cx="2603500" cy="1264920"/>
            </a:xfrm>
            <a:custGeom>
              <a:avLst/>
              <a:gdLst/>
              <a:ahLst/>
              <a:cxnLst/>
              <a:rect l="l" t="t" r="r" b="b"/>
              <a:pathLst>
                <a:path w="2603500" h="1264920">
                  <a:moveTo>
                    <a:pt x="2603499" y="0"/>
                  </a:moveTo>
                  <a:lnTo>
                    <a:pt x="0" y="0"/>
                  </a:lnTo>
                  <a:lnTo>
                    <a:pt x="0" y="1264919"/>
                  </a:lnTo>
                  <a:lnTo>
                    <a:pt x="2603499" y="1264919"/>
                  </a:lnTo>
                  <a:lnTo>
                    <a:pt x="2603499" y="0"/>
                  </a:lnTo>
                  <a:close/>
                </a:path>
              </a:pathLst>
            </a:custGeom>
            <a:solidFill>
              <a:srgbClr val="EBF4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18">
              <a:extLst>
                <a:ext uri="{FF2B5EF4-FFF2-40B4-BE49-F238E27FC236}">
                  <a16:creationId xmlns:a16="http://schemas.microsoft.com/office/drawing/2014/main" id="{7D71D7A2-FCBB-8327-51C7-0C07DCC15AED}"/>
                </a:ext>
              </a:extLst>
            </p:cNvPr>
            <p:cNvSpPr/>
            <p:nvPr/>
          </p:nvSpPr>
          <p:spPr>
            <a:xfrm>
              <a:off x="5902650" y="3687379"/>
              <a:ext cx="2603500" cy="1264920"/>
            </a:xfrm>
            <a:custGeom>
              <a:avLst/>
              <a:gdLst/>
              <a:ahLst/>
              <a:cxnLst/>
              <a:rect l="l" t="t" r="r" b="b"/>
              <a:pathLst>
                <a:path w="2603500" h="1264920">
                  <a:moveTo>
                    <a:pt x="0" y="1264919"/>
                  </a:moveTo>
                  <a:lnTo>
                    <a:pt x="2603499" y="1264919"/>
                  </a:lnTo>
                  <a:lnTo>
                    <a:pt x="2603499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0" name="object 19">
            <a:extLst>
              <a:ext uri="{FF2B5EF4-FFF2-40B4-BE49-F238E27FC236}">
                <a16:creationId xmlns:a16="http://schemas.microsoft.com/office/drawing/2014/main" id="{BBE5DB0B-0ABF-0F46-C5A1-7F45874A48D2}"/>
              </a:ext>
            </a:extLst>
          </p:cNvPr>
          <p:cNvSpPr txBox="1"/>
          <p:nvPr/>
        </p:nvSpPr>
        <p:spPr>
          <a:xfrm>
            <a:off x="5285894" y="3188046"/>
            <a:ext cx="2603500" cy="304800"/>
          </a:xfrm>
          <a:prstGeom prst="rect">
            <a:avLst/>
          </a:prstGeom>
          <a:solidFill>
            <a:srgbClr val="1D3A5E"/>
          </a:solidFill>
          <a:ln w="11430">
            <a:solidFill>
              <a:srgbClr val="2A6BAF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Retailer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1" name="object 20">
            <a:extLst>
              <a:ext uri="{FF2B5EF4-FFF2-40B4-BE49-F238E27FC236}">
                <a16:creationId xmlns:a16="http://schemas.microsoft.com/office/drawing/2014/main" id="{FBE73DB1-3C5C-864B-9829-15C518243B3C}"/>
              </a:ext>
            </a:extLst>
          </p:cNvPr>
          <p:cNvSpPr txBox="1"/>
          <p:nvPr/>
        </p:nvSpPr>
        <p:spPr>
          <a:xfrm>
            <a:off x="5362094" y="3522818"/>
            <a:ext cx="1100455" cy="11633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434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userId:</a:t>
            </a:r>
            <a:r>
              <a:rPr kumimoji="0" sz="650" b="0" i="0" u="none" strike="noStrike" kern="0" cap="none" spc="10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r>
              <a:rPr kumimoji="0" sz="650" b="0" i="0" u="none" strike="noStrike" kern="0" cap="none" spc="10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{PK}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role:</a:t>
            </a:r>
            <a:r>
              <a:rPr kumimoji="0" sz="650" b="0" i="0" u="none" strike="noStrike" kern="0" cap="none" spc="9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VARCHAR(20)</a:t>
            </a:r>
            <a:r>
              <a:rPr kumimoji="0" sz="650" b="0" i="0" u="none" strike="noStrike" kern="0" cap="none" spc="9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{FK}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name:</a:t>
            </a:r>
            <a:r>
              <a:rPr kumimoji="0" sz="650" b="0" i="0" u="none" strike="noStrike" kern="0" cap="none" spc="7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VARCHAR(255)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company:</a:t>
            </a:r>
            <a:r>
              <a:rPr kumimoji="0" sz="650" b="0" i="0" u="none" strike="noStrike" kern="0" cap="none" spc="114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VARCHAR(255)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email:</a:t>
            </a:r>
            <a:r>
              <a:rPr kumimoji="0" sz="650" b="0" i="0" u="none" strike="noStrike" kern="0" cap="none" spc="7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VARCHAR(255)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phone:</a:t>
            </a:r>
            <a:r>
              <a:rPr kumimoji="0" sz="650" b="0" i="0" u="none" strike="noStrike" kern="0" cap="none" spc="8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VARCHAR(32)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location:</a:t>
            </a:r>
            <a:r>
              <a:rPr kumimoji="0" sz="650" b="0" i="0" u="none" strike="noStrike" kern="0" cap="none" spc="10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VARCHAR(255)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approved:</a:t>
            </a:r>
            <a:r>
              <a:rPr kumimoji="0" sz="650" b="0" i="0" u="none" strike="noStrike" kern="0" cap="none" spc="1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BOOLEAN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2" name="object 21">
            <a:extLst>
              <a:ext uri="{FF2B5EF4-FFF2-40B4-BE49-F238E27FC236}">
                <a16:creationId xmlns:a16="http://schemas.microsoft.com/office/drawing/2014/main" id="{A48DC4FA-5149-4E58-522A-1ECE7007138E}"/>
              </a:ext>
            </a:extLst>
          </p:cNvPr>
          <p:cNvSpPr txBox="1"/>
          <p:nvPr/>
        </p:nvSpPr>
        <p:spPr>
          <a:xfrm>
            <a:off x="5362094" y="4786722"/>
            <a:ext cx="1229995" cy="7366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2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browseProducts():</a:t>
            </a:r>
            <a:r>
              <a:rPr kumimoji="0" sz="650" b="0" i="1" u="none" strike="noStrike" kern="0" cap="none" spc="2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4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browseProducts(filter):</a:t>
            </a:r>
            <a:r>
              <a:rPr kumimoji="0" sz="650" b="0" i="1" u="none" strike="noStrike" kern="0" cap="none" spc="4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3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getApplicablePrice(p):</a:t>
            </a:r>
            <a:r>
              <a:rPr kumimoji="0" sz="650" b="0" i="1" u="none" strike="noStrike" kern="0" cap="none" spc="4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Decimal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reserveStock(pid,</a:t>
            </a:r>
            <a:r>
              <a:rPr kumimoji="0" sz="650" b="0" i="1" u="none" strike="noStrike" kern="0" cap="none" spc="1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qty):</a:t>
            </a:r>
            <a:r>
              <a:rPr kumimoji="0" sz="650" b="0" i="1" u="none" strike="noStrike" kern="0" cap="none" spc="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Boolean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viewOrderHistory():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3" name="object 22">
            <a:extLst>
              <a:ext uri="{FF2B5EF4-FFF2-40B4-BE49-F238E27FC236}">
                <a16:creationId xmlns:a16="http://schemas.microsoft.com/office/drawing/2014/main" id="{75ED55BA-338B-3576-1A28-B17ED5456CFF}"/>
              </a:ext>
            </a:extLst>
          </p:cNvPr>
          <p:cNvGrpSpPr/>
          <p:nvPr/>
        </p:nvGrpSpPr>
        <p:grpSpPr>
          <a:xfrm>
            <a:off x="8858250" y="2451100"/>
            <a:ext cx="2830830" cy="2414270"/>
            <a:chOff x="9033835" y="2685984"/>
            <a:chExt cx="2830830" cy="2414270"/>
          </a:xfrm>
        </p:grpSpPr>
        <p:sp>
          <p:nvSpPr>
            <p:cNvPr id="14" name="object 23">
              <a:extLst>
                <a:ext uri="{FF2B5EF4-FFF2-40B4-BE49-F238E27FC236}">
                  <a16:creationId xmlns:a16="http://schemas.microsoft.com/office/drawing/2014/main" id="{CF95703A-E882-7512-F717-54D2380BEE04}"/>
                </a:ext>
              </a:extLst>
            </p:cNvPr>
            <p:cNvSpPr/>
            <p:nvPr/>
          </p:nvSpPr>
          <p:spPr>
            <a:xfrm>
              <a:off x="9039550" y="2691699"/>
              <a:ext cx="2819400" cy="2402840"/>
            </a:xfrm>
            <a:custGeom>
              <a:avLst/>
              <a:gdLst/>
              <a:ahLst/>
              <a:cxnLst/>
              <a:rect l="l" t="t" r="r" b="b"/>
              <a:pathLst>
                <a:path w="2819400" h="2402840">
                  <a:moveTo>
                    <a:pt x="2819400" y="0"/>
                  </a:moveTo>
                  <a:lnTo>
                    <a:pt x="0" y="0"/>
                  </a:lnTo>
                  <a:lnTo>
                    <a:pt x="0" y="2402840"/>
                  </a:lnTo>
                  <a:lnTo>
                    <a:pt x="2819400" y="2402840"/>
                  </a:lnTo>
                  <a:lnTo>
                    <a:pt x="2819400" y="0"/>
                  </a:lnTo>
                  <a:close/>
                </a:path>
              </a:pathLst>
            </a:custGeom>
            <a:solidFill>
              <a:srgbClr val="EBF4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object 24">
              <a:extLst>
                <a:ext uri="{FF2B5EF4-FFF2-40B4-BE49-F238E27FC236}">
                  <a16:creationId xmlns:a16="http://schemas.microsoft.com/office/drawing/2014/main" id="{BAF54983-039F-1A6D-BB25-94FDF53095AE}"/>
                </a:ext>
              </a:extLst>
            </p:cNvPr>
            <p:cNvSpPr/>
            <p:nvPr/>
          </p:nvSpPr>
          <p:spPr>
            <a:xfrm>
              <a:off x="9039550" y="2691699"/>
              <a:ext cx="2819400" cy="2402840"/>
            </a:xfrm>
            <a:custGeom>
              <a:avLst/>
              <a:gdLst/>
              <a:ahLst/>
              <a:cxnLst/>
              <a:rect l="l" t="t" r="r" b="b"/>
              <a:pathLst>
                <a:path w="2819400" h="2402840">
                  <a:moveTo>
                    <a:pt x="0" y="2402840"/>
                  </a:moveTo>
                  <a:lnTo>
                    <a:pt x="2819400" y="2402840"/>
                  </a:lnTo>
                  <a:lnTo>
                    <a:pt x="2819400" y="0"/>
                  </a:lnTo>
                  <a:lnTo>
                    <a:pt x="0" y="0"/>
                  </a:lnTo>
                  <a:lnTo>
                    <a:pt x="0" y="2402840"/>
                  </a:lnTo>
                  <a:close/>
                </a:path>
              </a:pathLst>
            </a:custGeom>
            <a:ln w="11430">
              <a:solidFill>
                <a:srgbClr val="2A6BA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6" name="object 26">
            <a:extLst>
              <a:ext uri="{FF2B5EF4-FFF2-40B4-BE49-F238E27FC236}">
                <a16:creationId xmlns:a16="http://schemas.microsoft.com/office/drawing/2014/main" id="{AFF88763-EF8D-7214-80C2-35471508AFAF}"/>
              </a:ext>
            </a:extLst>
          </p:cNvPr>
          <p:cNvSpPr txBox="1"/>
          <p:nvPr/>
        </p:nvSpPr>
        <p:spPr>
          <a:xfrm>
            <a:off x="8940164" y="2486788"/>
            <a:ext cx="1225550" cy="2232662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productId:</a:t>
            </a:r>
            <a:r>
              <a:rPr kumimoji="0" sz="650" b="0" i="0" u="none" strike="noStrike" kern="0" cap="none" spc="12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r>
              <a:rPr kumimoji="0" sz="650" b="0" i="0" u="none" strike="noStrike" kern="0" cap="none" spc="12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{PK}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supplierId:</a:t>
            </a:r>
            <a:r>
              <a:rPr kumimoji="0" sz="650" b="0" i="0" u="none" strike="noStrike" kern="0" cap="none" spc="114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r>
              <a:rPr kumimoji="0" sz="650" b="0" i="0" u="none" strike="noStrike" kern="0" cap="none" spc="114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{FK}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name:</a:t>
            </a:r>
            <a:r>
              <a:rPr kumimoji="0" sz="650" b="0" i="0" u="none" strike="noStrike" kern="0" cap="none" spc="7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VARCHAR(255)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category:</a:t>
            </a:r>
            <a:r>
              <a:rPr kumimoji="0" sz="650" b="0" i="0" u="none" strike="noStrike" kern="0" cap="none" spc="13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VARCHAR(100)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origin:</a:t>
            </a:r>
            <a:r>
              <a:rPr kumimoji="0" sz="650" b="0" i="0" u="none" strike="noStrike" kern="0" cap="none" spc="7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VARCHAR(100)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unit:</a:t>
            </a:r>
            <a:r>
              <a:rPr kumimoji="0" sz="650" b="0" i="0" u="none" strike="noStrike" kern="0" cap="none" spc="5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VARCHAR(50)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price:</a:t>
            </a:r>
            <a:r>
              <a:rPr kumimoji="0" sz="650" b="0" i="0" u="none" strike="noStrike" kern="0" cap="none" spc="6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DECIMAL(10,2)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minOrderQuantity:</a:t>
            </a:r>
            <a:r>
              <a:rPr kumimoji="0" sz="650" b="0" i="0" u="none" strike="noStrike" kern="0" cap="none" spc="9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inventory:</a:t>
            </a:r>
            <a:r>
              <a:rPr kumimoji="0" sz="650" b="0" i="0" u="none" strike="noStrike" kern="0" cap="none" spc="114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sku:</a:t>
            </a:r>
            <a:r>
              <a:rPr kumimoji="0" sz="650" b="0" i="0" u="none" strike="noStrike" kern="0" cap="none" spc="10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VARCHAR(100)</a:t>
            </a:r>
            <a:r>
              <a:rPr kumimoji="0" sz="650" b="0" i="0" u="none" strike="noStrike" kern="0" cap="none" spc="10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{unique}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image:</a:t>
            </a:r>
            <a:r>
              <a:rPr kumimoji="0" sz="650" b="0" i="0" u="none" strike="noStrike" kern="0" cap="none" spc="8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VARCHAR(500)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description:</a:t>
            </a:r>
            <a:r>
              <a:rPr kumimoji="0" sz="650" b="0" i="0" u="none" strike="noStrike" kern="0" cap="none" spc="13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TEXT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rating:</a:t>
            </a:r>
            <a:r>
              <a:rPr kumimoji="0" sz="650" b="0" i="0" u="none" strike="noStrike" kern="0" cap="none" spc="7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DECIMAL(3,2)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reviews:</a:t>
            </a:r>
            <a:r>
              <a:rPr kumimoji="0" sz="650" b="0" i="0" u="none" strike="noStrike" kern="0" cap="none" spc="10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641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41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isActive:</a:t>
            </a:r>
            <a:r>
              <a:rPr kumimoji="0" sz="650" b="0" i="0" u="none" strike="noStrike" kern="0" cap="none" spc="10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BOOLEAN</a:t>
            </a:r>
            <a:endParaRPr kumimoji="0" lang="en-US" sz="650" b="0" i="0" u="none" strike="noStrike" kern="0" cap="none" spc="-10" normalizeH="0" baseline="0" noProof="0" dirty="0">
              <a:ln>
                <a:noFill/>
              </a:ln>
              <a:solidFill>
                <a:srgbClr val="1A1F2B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>
                <a:tab pos="64135" algn="l"/>
              </a:tabLst>
              <a:defRPr/>
            </a:pPr>
            <a:r>
              <a:rPr kumimoji="0" lang="en-US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- </a:t>
            </a:r>
            <a:r>
              <a:rPr kumimoji="0" lang="en-US" sz="650" b="0" i="0" u="none" strike="noStrike" kern="0" cap="none" spc="0" normalizeH="0" baseline="0" noProof="0" dirty="0" err="1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createdAt</a:t>
            </a:r>
            <a:r>
              <a:rPr kumimoji="0" lang="en-US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:</a:t>
            </a:r>
            <a:r>
              <a:rPr kumimoji="0" lang="en-US" sz="650" b="0" i="0" u="none" strike="noStrike" kern="0" cap="none" spc="7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lang="en-US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DATETIME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19" name="object 27">
            <a:extLst>
              <a:ext uri="{FF2B5EF4-FFF2-40B4-BE49-F238E27FC236}">
                <a16:creationId xmlns:a16="http://schemas.microsoft.com/office/drawing/2014/main" id="{EAEEE031-AD34-611A-44F6-6C346A1F4CB9}"/>
              </a:ext>
            </a:extLst>
          </p:cNvPr>
          <p:cNvSpPr txBox="1"/>
          <p:nvPr/>
        </p:nvSpPr>
        <p:spPr>
          <a:xfrm>
            <a:off x="8952864" y="4679876"/>
            <a:ext cx="29209" cy="96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ts val="7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-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C2D0C2E4-E601-D1EB-7042-80EDD9210953}"/>
              </a:ext>
            </a:extLst>
          </p:cNvPr>
          <p:cNvSpPr txBox="1"/>
          <p:nvPr/>
        </p:nvSpPr>
        <p:spPr>
          <a:xfrm>
            <a:off x="8863964" y="4859655"/>
            <a:ext cx="2819400" cy="695960"/>
          </a:xfrm>
          <a:prstGeom prst="rect">
            <a:avLst/>
          </a:prstGeom>
          <a:solidFill>
            <a:srgbClr val="F6F9FB"/>
          </a:solidFill>
          <a:ln w="11430">
            <a:solidFill>
              <a:srgbClr val="2A6BAF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4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getApplicablePrice(r):</a:t>
            </a:r>
            <a:r>
              <a:rPr kumimoji="0" sz="650" b="0" i="1" u="none" strike="noStrike" kern="0" cap="none" spc="4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Decimal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reserveStock(qty):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Boolean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releaseStock(qty):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void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setActive(flag):</a:t>
            </a:r>
            <a:r>
              <a:rPr kumimoji="0" sz="650" b="0" i="1" u="none" strike="noStrike" kern="0" cap="none" spc="3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void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7" name="object 29">
            <a:extLst>
              <a:ext uri="{FF2B5EF4-FFF2-40B4-BE49-F238E27FC236}">
                <a16:creationId xmlns:a16="http://schemas.microsoft.com/office/drawing/2014/main" id="{99995FED-F215-90BD-443F-DE6F54DD590C}"/>
              </a:ext>
            </a:extLst>
          </p:cNvPr>
          <p:cNvSpPr/>
          <p:nvPr/>
        </p:nvSpPr>
        <p:spPr>
          <a:xfrm>
            <a:off x="9054464" y="6292216"/>
            <a:ext cx="2438400" cy="304800"/>
          </a:xfrm>
          <a:custGeom>
            <a:avLst/>
            <a:gdLst/>
            <a:ahLst/>
            <a:cxnLst/>
            <a:rect l="l" t="t" r="r" b="b"/>
            <a:pathLst>
              <a:path w="2438400" h="304800">
                <a:moveTo>
                  <a:pt x="2438400" y="0"/>
                </a:moveTo>
                <a:lnTo>
                  <a:pt x="0" y="0"/>
                </a:lnTo>
                <a:lnTo>
                  <a:pt x="0" y="304799"/>
                </a:lnTo>
                <a:lnTo>
                  <a:pt x="2438400" y="304799"/>
                </a:lnTo>
                <a:lnTo>
                  <a:pt x="2438400" y="0"/>
                </a:lnTo>
                <a:close/>
              </a:path>
            </a:pathLst>
          </a:custGeom>
          <a:solidFill>
            <a:srgbClr val="266749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5" name="object 30">
            <a:extLst>
              <a:ext uri="{FF2B5EF4-FFF2-40B4-BE49-F238E27FC236}">
                <a16:creationId xmlns:a16="http://schemas.microsoft.com/office/drawing/2014/main" id="{57233F50-906E-D8BE-CAAE-DE0DA7F12C31}"/>
              </a:ext>
            </a:extLst>
          </p:cNvPr>
          <p:cNvSpPr txBox="1"/>
          <p:nvPr/>
        </p:nvSpPr>
        <p:spPr>
          <a:xfrm>
            <a:off x="9054464" y="6292216"/>
            <a:ext cx="2438400" cy="304800"/>
          </a:xfrm>
          <a:prstGeom prst="rect">
            <a:avLst/>
          </a:prstGeom>
          <a:ln w="11430">
            <a:solidFill>
              <a:srgbClr val="38A169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664210" marR="0" lvl="0" indent="0" defTabSz="91440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ProductCategory_Ref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8" name="object 31">
            <a:extLst>
              <a:ext uri="{FF2B5EF4-FFF2-40B4-BE49-F238E27FC236}">
                <a16:creationId xmlns:a16="http://schemas.microsoft.com/office/drawing/2014/main" id="{CC00E67D-6E04-628A-2146-77897D1E377F}"/>
              </a:ext>
            </a:extLst>
          </p:cNvPr>
          <p:cNvSpPr txBox="1"/>
          <p:nvPr/>
        </p:nvSpPr>
        <p:spPr>
          <a:xfrm>
            <a:off x="9054464" y="6597016"/>
            <a:ext cx="2438400" cy="695960"/>
          </a:xfrm>
          <a:prstGeom prst="rect">
            <a:avLst/>
          </a:prstGeom>
          <a:solidFill>
            <a:srgbClr val="EFFFF4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40335" marR="0" lvl="0" indent="-51435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1403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id:</a:t>
            </a:r>
            <a:r>
              <a:rPr kumimoji="0" sz="650" b="0" i="0" u="none" strike="noStrike" kern="0" cap="none" spc="6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Integer</a:t>
            </a:r>
            <a:r>
              <a:rPr kumimoji="0" sz="650" b="0" i="0" u="none" strike="noStrike" kern="0" cap="none" spc="7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{PK}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403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1403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categoryName:</a:t>
            </a:r>
            <a:r>
              <a:rPr kumimoji="0" sz="650" b="0" i="0" u="none" strike="noStrike" kern="0" cap="none" spc="18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VARCHAR(100)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403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1403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description:</a:t>
            </a:r>
            <a:r>
              <a:rPr kumimoji="0" sz="650" b="0" i="0" u="none" strike="noStrike" kern="0" cap="none" spc="13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VARCHAR(255)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  <a:p>
            <a:pPr marL="140335" marR="0" lvl="0" indent="-51435" defTabSz="914400" eaLnBrk="1" fontAlgn="auto" latinLnBrk="0" hangingPunct="1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140335" algn="l"/>
              </a:tabLst>
              <a:defRPr/>
            </a:pPr>
            <a:r>
              <a:rPr kumimoji="0" sz="650" b="0" i="0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isActive:</a:t>
            </a:r>
            <a:r>
              <a:rPr kumimoji="0" sz="650" b="0" i="0" u="none" strike="noStrike" kern="0" cap="none" spc="10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650" b="0" i="0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 MT"/>
                <a:cs typeface="Arial MT"/>
              </a:rPr>
              <a:t>BOOLEAN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79" name="object 32">
            <a:extLst>
              <a:ext uri="{FF2B5EF4-FFF2-40B4-BE49-F238E27FC236}">
                <a16:creationId xmlns:a16="http://schemas.microsoft.com/office/drawing/2014/main" id="{6ACBC3FD-0240-F52C-50FD-AB33AA7A9B24}"/>
              </a:ext>
            </a:extLst>
          </p:cNvPr>
          <p:cNvSpPr txBox="1"/>
          <p:nvPr/>
        </p:nvSpPr>
        <p:spPr>
          <a:xfrm>
            <a:off x="9054464" y="7292975"/>
            <a:ext cx="2438400" cy="269240"/>
          </a:xfrm>
          <a:prstGeom prst="rect">
            <a:avLst/>
          </a:prstGeom>
          <a:solidFill>
            <a:srgbClr val="F6F9FB"/>
          </a:solidFill>
          <a:ln w="11430">
            <a:solidFill>
              <a:srgbClr val="38A169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88900" marR="0" lvl="0" indent="0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1" u="none" strike="noStrike" kern="0" cap="none" spc="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650" b="0" i="1" u="none" strike="noStrike" kern="0" cap="none" spc="35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1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getActiveCategories():</a:t>
            </a:r>
            <a:r>
              <a:rPr kumimoji="0" sz="650" b="0" i="1" u="none" strike="noStrike" kern="0" cap="none" spc="4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50" b="0" i="1" u="none" strike="noStrike" kern="0" cap="none" spc="-20" normalizeH="0" baseline="0" noProof="0" dirty="0">
                <a:ln>
                  <a:noFill/>
                </a:ln>
                <a:solidFill>
                  <a:srgbClr val="1A1F2B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92" name="object 33">
            <a:extLst>
              <a:ext uri="{FF2B5EF4-FFF2-40B4-BE49-F238E27FC236}">
                <a16:creationId xmlns:a16="http://schemas.microsoft.com/office/drawing/2014/main" id="{6B6EA276-83A4-F5F5-BA32-56DA314D8904}"/>
              </a:ext>
            </a:extLst>
          </p:cNvPr>
          <p:cNvGrpSpPr/>
          <p:nvPr/>
        </p:nvGrpSpPr>
        <p:grpSpPr>
          <a:xfrm>
            <a:off x="7889394" y="4120565"/>
            <a:ext cx="987722" cy="487579"/>
            <a:chOff x="8501705" y="4424360"/>
            <a:chExt cx="631190" cy="487579"/>
          </a:xfrm>
        </p:grpSpPr>
        <p:sp>
          <p:nvSpPr>
            <p:cNvPr id="93" name="object 34">
              <a:extLst>
                <a:ext uri="{FF2B5EF4-FFF2-40B4-BE49-F238E27FC236}">
                  <a16:creationId xmlns:a16="http://schemas.microsoft.com/office/drawing/2014/main" id="{67792736-4061-4A64-64F1-B060B8ABA942}"/>
                </a:ext>
              </a:extLst>
            </p:cNvPr>
            <p:cNvSpPr/>
            <p:nvPr/>
          </p:nvSpPr>
          <p:spPr>
            <a:xfrm>
              <a:off x="8506150" y="4466143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5240">
              <a:solidFill>
                <a:srgbClr val="495467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4" name="object 35">
              <a:extLst>
                <a:ext uri="{FF2B5EF4-FFF2-40B4-BE49-F238E27FC236}">
                  <a16:creationId xmlns:a16="http://schemas.microsoft.com/office/drawing/2014/main" id="{7A9F7278-6E7C-C25D-7355-093A3915261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035105" y="4424360"/>
              <a:ext cx="97790" cy="83566"/>
            </a:xfrm>
            <a:prstGeom prst="rect">
              <a:avLst/>
            </a:prstGeom>
          </p:spPr>
        </p:pic>
        <p:sp>
          <p:nvSpPr>
            <p:cNvPr id="95" name="object 36">
              <a:extLst>
                <a:ext uri="{FF2B5EF4-FFF2-40B4-BE49-F238E27FC236}">
                  <a16:creationId xmlns:a16="http://schemas.microsoft.com/office/drawing/2014/main" id="{5986A67B-CF1E-43FB-9C78-3383692F9669}"/>
                </a:ext>
              </a:extLst>
            </p:cNvPr>
            <p:cNvSpPr/>
            <p:nvPr/>
          </p:nvSpPr>
          <p:spPr>
            <a:xfrm>
              <a:off x="8501705" y="4875490"/>
              <a:ext cx="533400" cy="0"/>
            </a:xfrm>
            <a:custGeom>
              <a:avLst/>
              <a:gdLst/>
              <a:ahLst/>
              <a:cxnLst/>
              <a:rect l="l" t="t" r="r" b="b"/>
              <a:pathLst>
                <a:path w="533400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ln w="12700">
              <a:solidFill>
                <a:srgbClr val="495467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96" name="object 37">
              <a:extLst>
                <a:ext uri="{FF2B5EF4-FFF2-40B4-BE49-F238E27FC236}">
                  <a16:creationId xmlns:a16="http://schemas.microsoft.com/office/drawing/2014/main" id="{AC39FF29-49C1-00C3-CA9E-1F9215AB735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35105" y="4839041"/>
              <a:ext cx="85090" cy="72898"/>
            </a:xfrm>
            <a:prstGeom prst="rect">
              <a:avLst/>
            </a:prstGeom>
          </p:spPr>
        </p:pic>
      </p:grpSp>
      <p:sp>
        <p:nvSpPr>
          <p:cNvPr id="97" name="object 42">
            <a:extLst>
              <a:ext uri="{FF2B5EF4-FFF2-40B4-BE49-F238E27FC236}">
                <a16:creationId xmlns:a16="http://schemas.microsoft.com/office/drawing/2014/main" id="{AEC511E3-80C3-C8EB-D734-0A55CBD55E86}"/>
              </a:ext>
            </a:extLst>
          </p:cNvPr>
          <p:cNvSpPr txBox="1"/>
          <p:nvPr/>
        </p:nvSpPr>
        <p:spPr>
          <a:xfrm>
            <a:off x="8025391" y="4592404"/>
            <a:ext cx="900003" cy="1551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0" cap="none" spc="0" normalizeH="0" baseline="18518" noProof="0" dirty="0" err="1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900" b="0" i="1" u="none" strike="noStrike" kern="0" cap="none" spc="0" normalizeH="0" baseline="18518" noProof="0" dirty="0" err="1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ApplicablePrice</a:t>
            </a:r>
            <a:r>
              <a:rPr kumimoji="0" sz="900" b="0" i="1" u="none" strike="noStrike" kern="0" cap="none" spc="0" normalizeH="0" baseline="18518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()</a:t>
            </a:r>
            <a:endParaRPr kumimoji="0" sz="6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grpSp>
        <p:nvGrpSpPr>
          <p:cNvPr id="98" name="object 43">
            <a:extLst>
              <a:ext uri="{FF2B5EF4-FFF2-40B4-BE49-F238E27FC236}">
                <a16:creationId xmlns:a16="http://schemas.microsoft.com/office/drawing/2014/main" id="{E2FBE8CE-0728-653A-DAD8-5D2B35E591B3}"/>
              </a:ext>
            </a:extLst>
          </p:cNvPr>
          <p:cNvGrpSpPr/>
          <p:nvPr/>
        </p:nvGrpSpPr>
        <p:grpSpPr>
          <a:xfrm>
            <a:off x="10237215" y="5549900"/>
            <a:ext cx="73025" cy="822960"/>
            <a:chOff x="10412800" y="5784784"/>
            <a:chExt cx="73025" cy="822960"/>
          </a:xfrm>
        </p:grpSpPr>
        <p:sp>
          <p:nvSpPr>
            <p:cNvPr id="99" name="object 44">
              <a:extLst>
                <a:ext uri="{FF2B5EF4-FFF2-40B4-BE49-F238E27FC236}">
                  <a16:creationId xmlns:a16="http://schemas.microsoft.com/office/drawing/2014/main" id="{33136777-470B-1D15-1E87-F186E8AA22C6}"/>
                </a:ext>
              </a:extLst>
            </p:cNvPr>
            <p:cNvSpPr/>
            <p:nvPr/>
          </p:nvSpPr>
          <p:spPr>
            <a:xfrm>
              <a:off x="10449249" y="5790499"/>
              <a:ext cx="0" cy="736600"/>
            </a:xfrm>
            <a:custGeom>
              <a:avLst/>
              <a:gdLst/>
              <a:ahLst/>
              <a:cxnLst/>
              <a:rect l="l" t="t" r="r" b="b"/>
              <a:pathLst>
                <a:path h="736600">
                  <a:moveTo>
                    <a:pt x="0" y="317500"/>
                  </a:moveTo>
                  <a:lnTo>
                    <a:pt x="0" y="736600"/>
                  </a:lnTo>
                </a:path>
                <a:path h="736600">
                  <a:moveTo>
                    <a:pt x="0" y="0"/>
                  </a:moveTo>
                  <a:lnTo>
                    <a:pt x="0" y="203200"/>
                  </a:lnTo>
                </a:path>
              </a:pathLst>
            </a:custGeom>
            <a:ln w="11430">
              <a:solidFill>
                <a:srgbClr val="70809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pic>
          <p:nvPicPr>
            <p:cNvPr id="100" name="object 45">
              <a:extLst>
                <a:ext uri="{FF2B5EF4-FFF2-40B4-BE49-F238E27FC236}">
                  <a16:creationId xmlns:a16="http://schemas.microsoft.com/office/drawing/2014/main" id="{D9257D61-9050-12B6-86A9-F9871C1A66C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12800" y="6522654"/>
              <a:ext cx="72898" cy="85090"/>
            </a:xfrm>
            <a:prstGeom prst="rect">
              <a:avLst/>
            </a:prstGeom>
          </p:spPr>
        </p:pic>
      </p:grpSp>
      <p:sp>
        <p:nvSpPr>
          <p:cNvPr id="101" name="object 46">
            <a:extLst>
              <a:ext uri="{FF2B5EF4-FFF2-40B4-BE49-F238E27FC236}">
                <a16:creationId xmlns:a16="http://schemas.microsoft.com/office/drawing/2014/main" id="{2FC9B7FA-063E-1877-49C6-654A3F5C98D2}"/>
              </a:ext>
            </a:extLst>
          </p:cNvPr>
          <p:cNvSpPr txBox="1"/>
          <p:nvPr/>
        </p:nvSpPr>
        <p:spPr>
          <a:xfrm>
            <a:off x="10023321" y="5758816"/>
            <a:ext cx="501015" cy="114300"/>
          </a:xfrm>
          <a:prstGeom prst="rect">
            <a:avLst/>
          </a:prstGeom>
          <a:ln w="4444">
            <a:solidFill>
              <a:srgbClr val="70809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6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00" b="0" i="1" u="none" strike="noStrike" kern="0" cap="none" spc="0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category</a:t>
            </a:r>
            <a:r>
              <a:rPr kumimoji="0" sz="600" b="0" i="1" u="none" strike="noStrike" kern="0" cap="none" spc="50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600" b="0" i="1" u="none" strike="noStrike" kern="0" cap="none" spc="-25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FK</a:t>
            </a:r>
            <a:endParaRPr kumimoji="0" sz="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2" name="object 47">
            <a:extLst>
              <a:ext uri="{FF2B5EF4-FFF2-40B4-BE49-F238E27FC236}">
                <a16:creationId xmlns:a16="http://schemas.microsoft.com/office/drawing/2014/main" id="{D421DD44-4EBA-EFCD-A299-F2DA116868F5}"/>
              </a:ext>
            </a:extLst>
          </p:cNvPr>
          <p:cNvSpPr txBox="1"/>
          <p:nvPr/>
        </p:nvSpPr>
        <p:spPr>
          <a:xfrm>
            <a:off x="10321470" y="6108066"/>
            <a:ext cx="15875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0" cap="none" spc="-25" normalizeH="0" baseline="0" noProof="0" dirty="0">
                <a:ln>
                  <a:noFill/>
                </a:ln>
                <a:solidFill>
                  <a:srgbClr val="C42F2F"/>
                </a:solidFill>
                <a:effectLst/>
                <a:uLnTx/>
                <a:uFillTx/>
                <a:latin typeface="Arial"/>
                <a:cs typeface="Arial"/>
              </a:rPr>
              <a:t>N:1</a:t>
            </a:r>
            <a:endParaRPr kumimoji="0" sz="6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6" name="object 51">
            <a:extLst>
              <a:ext uri="{FF2B5EF4-FFF2-40B4-BE49-F238E27FC236}">
                <a16:creationId xmlns:a16="http://schemas.microsoft.com/office/drawing/2014/main" id="{B37A4CDC-3EF2-715A-1B4D-9D719E4B4F9F}"/>
              </a:ext>
            </a:extLst>
          </p:cNvPr>
          <p:cNvSpPr txBox="1"/>
          <p:nvPr/>
        </p:nvSpPr>
        <p:spPr>
          <a:xfrm>
            <a:off x="7271137" y="6270337"/>
            <a:ext cx="653415" cy="114300"/>
          </a:xfrm>
          <a:prstGeom prst="rect">
            <a:avLst/>
          </a:prstGeom>
          <a:ln w="4444">
            <a:solidFill>
              <a:srgbClr val="708095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ts val="6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50" b="0" i="1" u="none" strike="noStrike" kern="0" cap="none" spc="0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filters</a:t>
            </a:r>
            <a:r>
              <a:rPr kumimoji="0" sz="550" b="0" i="1" u="none" strike="noStrike" kern="0" cap="none" spc="55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1" u="none" strike="noStrike" kern="0" cap="none" spc="0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550" b="0" i="1" u="none" strike="noStrike" kern="0" cap="none" spc="55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550" b="0" i="1" u="none" strike="noStrike" kern="0" cap="none" spc="-10" normalizeH="0" baseline="0" noProof="0" dirty="0">
                <a:ln>
                  <a:noFill/>
                </a:ln>
                <a:solidFill>
                  <a:srgbClr val="708095"/>
                </a:solidFill>
                <a:effectLst/>
                <a:uLnTx/>
                <a:uFillTx/>
                <a:latin typeface="Arial"/>
                <a:cs typeface="Arial"/>
              </a:rPr>
              <a:t>category</a:t>
            </a:r>
            <a:endParaRPr kumimoji="0" sz="5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57E00F9-4371-A24D-8C73-ABF53272CDAC}"/>
              </a:ext>
            </a:extLst>
          </p:cNvPr>
          <p:cNvSpPr txBox="1"/>
          <p:nvPr/>
        </p:nvSpPr>
        <p:spPr>
          <a:xfrm>
            <a:off x="8089845" y="4121499"/>
            <a:ext cx="5677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browses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1C05A63-92B1-E7E2-6D49-5DC8B38EFAB5}"/>
              </a:ext>
            </a:extLst>
          </p:cNvPr>
          <p:cNvSpPr txBox="1"/>
          <p:nvPr/>
        </p:nvSpPr>
        <p:spPr>
          <a:xfrm>
            <a:off x="7994571" y="3916855"/>
            <a:ext cx="68161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1        0..*</a:t>
            </a:r>
          </a:p>
        </p:txBody>
      </p:sp>
      <p:sp>
        <p:nvSpPr>
          <p:cNvPr id="110" name="object 25">
            <a:extLst>
              <a:ext uri="{FF2B5EF4-FFF2-40B4-BE49-F238E27FC236}">
                <a16:creationId xmlns:a16="http://schemas.microsoft.com/office/drawing/2014/main" id="{444FB517-FF20-6CF6-DB3B-09580250BCE7}"/>
              </a:ext>
            </a:extLst>
          </p:cNvPr>
          <p:cNvSpPr txBox="1"/>
          <p:nvPr/>
        </p:nvSpPr>
        <p:spPr>
          <a:xfrm>
            <a:off x="8868955" y="2152014"/>
            <a:ext cx="2819400" cy="304800"/>
          </a:xfrm>
          <a:prstGeom prst="rect">
            <a:avLst/>
          </a:prstGeom>
          <a:solidFill>
            <a:srgbClr val="1D3A5E"/>
          </a:solidFill>
          <a:ln w="11430">
            <a:solidFill>
              <a:srgbClr val="2A6BAF"/>
            </a:solidFill>
          </a:ln>
        </p:spPr>
        <p:txBody>
          <a:bodyPr vert="horz" wrap="square" lIns="0" tIns="8255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Product</a:t>
            </a:r>
            <a:endParaRPr kumimoji="0" sz="8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object 50">
            <a:extLst>
              <a:ext uri="{FF2B5EF4-FFF2-40B4-BE49-F238E27FC236}">
                <a16:creationId xmlns:a16="http://schemas.microsoft.com/office/drawing/2014/main" id="{7F07C952-742D-23EA-507C-6EC683B3D5DE}"/>
              </a:ext>
            </a:extLst>
          </p:cNvPr>
          <p:cNvSpPr/>
          <p:nvPr/>
        </p:nvSpPr>
        <p:spPr>
          <a:xfrm>
            <a:off x="8925394" y="6327777"/>
            <a:ext cx="129070" cy="173657"/>
          </a:xfrm>
          <a:custGeom>
            <a:avLst/>
            <a:gdLst/>
            <a:ahLst/>
            <a:cxnLst/>
            <a:rect l="l" t="t" r="r" b="b"/>
            <a:pathLst>
              <a:path w="63500" h="53339">
                <a:moveTo>
                  <a:pt x="0" y="26669"/>
                </a:moveTo>
                <a:lnTo>
                  <a:pt x="63500" y="53339"/>
                </a:lnTo>
                <a:lnTo>
                  <a:pt x="63500" y="0"/>
                </a:lnTo>
                <a:lnTo>
                  <a:pt x="0" y="26669"/>
                </a:lnTo>
                <a:close/>
              </a:path>
            </a:pathLst>
          </a:custGeom>
          <a:ln w="8890">
            <a:solidFill>
              <a:srgbClr val="708095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7E5368BD-7601-E3BC-5C84-DEFA17C0D88D}"/>
              </a:ext>
            </a:extLst>
          </p:cNvPr>
          <p:cNvCxnSpPr>
            <a:cxnSpLocks/>
          </p:cNvCxnSpPr>
          <p:nvPr/>
        </p:nvCxnSpPr>
        <p:spPr>
          <a:xfrm rot="10800000">
            <a:off x="6431581" y="5591176"/>
            <a:ext cx="2493814" cy="830342"/>
          </a:xfrm>
          <a:prstGeom prst="bentConnector3">
            <a:avLst>
              <a:gd name="adj1" fmla="val 99790"/>
            </a:avLst>
          </a:prstGeom>
          <a:ln w="9525" cap="flat" cmpd="sng" algn="ctr">
            <a:solidFill>
              <a:schemeClr val="accent1">
                <a:alpha val="56513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668870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873</Words>
  <Application>Microsoft Macintosh PowerPoint</Application>
  <PresentationFormat>Custom</PresentationFormat>
  <Paragraphs>179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MS Gothic</vt:lpstr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BulkCart – Class Diagrams 03.01 &amp; 05.02</dc:title>
  <dc:subject>unspecified</dc:subject>
  <dc:creator>anonymous</dc:creator>
  <cp:lastModifiedBy>Meet Mangukiya</cp:lastModifiedBy>
  <cp:revision>6</cp:revision>
  <dcterms:created xsi:type="dcterms:W3CDTF">2026-04-13T12:50:57Z</dcterms:created>
  <dcterms:modified xsi:type="dcterms:W3CDTF">2026-04-13T16:53:13Z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2026-04-13T00:00:00Z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2026-04-13T00:00:00Z</vt:filetime>
  </property>
  <property fmtid="{D5CDD505-2E9C-101B-9397-08002B2CF9AE}" pid="5" name="Producer">
    <vt:lpwstr>ReportLab PDF Library - (opensource)</vt:lpwstr>
  </property>
</Properties>
</file>