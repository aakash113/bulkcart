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56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65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92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7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22439-9AD3-202F-D974-1D0572F5223A}"/>
              </a:ext>
            </a:extLst>
          </p:cNvPr>
          <p:cNvSpPr txBox="1"/>
          <p:nvPr/>
        </p:nvSpPr>
        <p:spPr>
          <a:xfrm>
            <a:off x="4371489" y="2828835"/>
            <a:ext cx="3449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Team 1 : </a:t>
            </a:r>
            <a:r>
              <a:rPr lang="en-US" sz="3600" dirty="0" err="1"/>
              <a:t>BulkCart</a:t>
            </a:r>
            <a:endParaRPr lang="en-US" sz="3600" dirty="0"/>
          </a:p>
          <a:p>
            <a:pPr algn="ctr"/>
            <a:r>
              <a:rPr lang="en-US" sz="3600" dirty="0"/>
              <a:t>    </a:t>
            </a:r>
            <a:r>
              <a:rPr lang="en-US" sz="2400" dirty="0"/>
              <a:t>ER Diagrams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0894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B0705D-DC99-952B-E600-BC6800B74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672276"/>
              </p:ext>
            </p:extLst>
          </p:nvPr>
        </p:nvGraphicFramePr>
        <p:xfrm>
          <a:off x="2032000" y="719665"/>
          <a:ext cx="8128000" cy="4576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13360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13584294"/>
                    </a:ext>
                  </a:extLst>
                </a:gridCol>
              </a:tblGrid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Entity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Entity Primary </a:t>
                      </a:r>
                      <a:r>
                        <a:rPr lang="en-US" dirty="0" err="1"/>
                        <a:t>Arttributes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63060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userId</a:t>
                      </a:r>
                      <a:r>
                        <a:rPr lang="en-US" dirty="0"/>
                        <a:t>, role, name, email, address, company,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113024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cartId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userId</a:t>
                      </a:r>
                      <a:r>
                        <a:rPr lang="en-US" dirty="0"/>
                        <a:t>, items, </a:t>
                      </a:r>
                      <a:r>
                        <a:rPr lang="en-US" dirty="0" err="1"/>
                        <a:t>createdAt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UpdatedAt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65511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paymentId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userId</a:t>
                      </a:r>
                      <a:r>
                        <a:rPr lang="en-US" dirty="0"/>
                        <a:t>, status, amount, gateway, </a:t>
                      </a:r>
                      <a:r>
                        <a:rPr lang="en-US" dirty="0" err="1"/>
                        <a:t>createdAt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585993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OtpCode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otpId</a:t>
                      </a:r>
                      <a:r>
                        <a:rPr lang="en-US" dirty="0"/>
                        <a:t>, email, code, </a:t>
                      </a:r>
                      <a:r>
                        <a:rPr lang="en-US" dirty="0" err="1"/>
                        <a:t>expireAt</a:t>
                      </a:r>
                      <a:r>
                        <a:rPr lang="en-US" dirty="0"/>
                        <a:t>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983452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productid, </a:t>
                      </a:r>
                      <a:r>
                        <a:rPr lang="en-US" dirty="0" err="1"/>
                        <a:t>supplierId</a:t>
                      </a:r>
                      <a:r>
                        <a:rPr lang="en-US" dirty="0"/>
                        <a:t>, name, category,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396173"/>
                  </a:ext>
                </a:extLst>
              </a:tr>
              <a:tr h="653797">
                <a:tc>
                  <a:txBody>
                    <a:bodyPr/>
                    <a:lstStyle/>
                    <a:p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r>
                        <a:rPr lang="en-US" dirty="0"/>
                        <a:t>, , </a:t>
                      </a:r>
                      <a:r>
                        <a:rPr lang="en-US" dirty="0" err="1"/>
                        <a:t>customerId</a:t>
                      </a:r>
                      <a:r>
                        <a:rPr lang="en-US" dirty="0"/>
                        <a:t>, total, status, </a:t>
                      </a:r>
                      <a:r>
                        <a:rPr lang="en-US" dirty="0" err="1"/>
                        <a:t>createdAt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5456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0A078E-D564-C295-55B0-A0C15BB2DA9E}"/>
              </a:ext>
            </a:extLst>
          </p:cNvPr>
          <p:cNvSpPr txBox="1"/>
          <p:nvPr/>
        </p:nvSpPr>
        <p:spPr>
          <a:xfrm>
            <a:off x="4893523" y="115910"/>
            <a:ext cx="2404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BulkCart</a:t>
            </a:r>
            <a:r>
              <a:rPr lang="en-US" dirty="0"/>
              <a:t>: List of Entities</a:t>
            </a:r>
          </a:p>
        </p:txBody>
      </p:sp>
    </p:spTree>
    <p:extLst>
      <p:ext uri="{BB962C8B-B14F-4D97-AF65-F5344CB8AC3E}">
        <p14:creationId xmlns:p14="http://schemas.microsoft.com/office/powerpoint/2010/main" val="223533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3769" y="114300"/>
            <a:ext cx="289590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BulkCart – Conceptual ER Diagram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588685" y="1493048"/>
            <a:ext cx="54588" cy="474329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 flipV="1">
            <a:off x="777240" y="530352"/>
            <a:ext cx="320040" cy="55778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1298448" y="566928"/>
            <a:ext cx="274320" cy="58521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 flipV="1">
            <a:off x="2907792" y="548640"/>
            <a:ext cx="932688" cy="53949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 flipV="1">
            <a:off x="3886200" y="493776"/>
            <a:ext cx="137160" cy="594360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4297680" y="566928"/>
            <a:ext cx="530352" cy="52120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4434840" y="822960"/>
            <a:ext cx="612648" cy="36027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 flipV="1">
            <a:off x="8366760" y="548640"/>
            <a:ext cx="685800" cy="53949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 flipV="1">
            <a:off x="9189720" y="493776"/>
            <a:ext cx="137160" cy="594360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9601200" y="548640"/>
            <a:ext cx="658368" cy="53949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9765792" y="822960"/>
            <a:ext cx="914400" cy="38404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 flipV="1">
            <a:off x="588685" y="3447288"/>
            <a:ext cx="484632" cy="54315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210477" y="3429000"/>
            <a:ext cx="91440" cy="46634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856502" y="3948790"/>
            <a:ext cx="708659" cy="239161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1137325" y="4370832"/>
            <a:ext cx="164592" cy="40233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 flipV="1">
            <a:off x="6096000" y="2816352"/>
            <a:ext cx="487680" cy="51206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 flipV="1">
            <a:off x="6766560" y="2944368"/>
            <a:ext cx="91440" cy="38404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7132320" y="2999232"/>
            <a:ext cx="658368" cy="32918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7296912" y="3456432"/>
            <a:ext cx="1024128" cy="20116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 flipV="1">
            <a:off x="2999232" y="5010912"/>
            <a:ext cx="704088" cy="283464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H="1" flipV="1">
            <a:off x="3913632" y="4956048"/>
            <a:ext cx="109728" cy="29260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4233672" y="5010912"/>
            <a:ext cx="594360" cy="29260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H="1">
            <a:off x="3913632" y="5724144"/>
            <a:ext cx="109728" cy="292608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08760" y="1325880"/>
            <a:ext cx="708660" cy="91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11780" y="1325880"/>
            <a:ext cx="708660" cy="91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26280" y="1325880"/>
            <a:ext cx="1851660" cy="91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72300" y="1325880"/>
            <a:ext cx="1851660" cy="91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H="1">
            <a:off x="2514600" y="1563624"/>
            <a:ext cx="1188720" cy="78638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H="1">
            <a:off x="1554480" y="2514600"/>
            <a:ext cx="681422" cy="13807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97680" y="1563624"/>
            <a:ext cx="1051560" cy="125272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77840" y="3054096"/>
            <a:ext cx="777240" cy="51206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H="1">
            <a:off x="8092440" y="1563624"/>
            <a:ext cx="1051560" cy="60350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H="1">
            <a:off x="7109460" y="2496312"/>
            <a:ext cx="982980" cy="83210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954082" y="285711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44444"/>
                </a:solidFill>
              </a:rPr>
              <a:t>(0..N)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H="1">
            <a:off x="5577840" y="3803904"/>
            <a:ext cx="914400" cy="6949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H="1">
            <a:off x="4526280" y="4828032"/>
            <a:ext cx="1051560" cy="65836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217420" y="116128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17420" y="116128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verifies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77940" y="116128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77940" y="116128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owns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35902" y="235000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35902" y="23500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has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54168" y="276573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54168" y="276573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places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795260" y="216712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795260" y="21671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ordered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in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189220" y="4498848"/>
            <a:ext cx="594360" cy="32918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89220" y="44988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paid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via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1460" y="1967377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51460" y="1967377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000000"/>
                </a:solidFill>
              </a:rPr>
              <a:t>otpid</a:t>
            </a:r>
            <a:r>
              <a:rPr lang="en-US" sz="750" dirty="0">
                <a:solidFill>
                  <a:srgbClr val="000000"/>
                </a:solidFill>
              </a:rPr>
              <a:t> «PK»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87375" y="329184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87375" y="329184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email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216152" y="384048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16152" y="3840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purpose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190083" y="1919725"/>
            <a:ext cx="824789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90083" y="1919725"/>
            <a:ext cx="824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expiresAt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32888" y="365760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532888" y="365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000000"/>
                </a:solidFill>
              </a:rPr>
              <a:t>userid</a:t>
            </a:r>
            <a:r>
              <a:rPr lang="en-US" sz="750" dirty="0">
                <a:solidFill>
                  <a:srgbClr val="000000"/>
                </a:solidFill>
              </a:rPr>
              <a:t> «PK»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596335" y="292608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596335" y="292608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name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83887" y="365760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583887" y="365760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role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12487" y="640080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812487" y="640080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email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982712" y="365760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982712" y="365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productid «PK»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899855" y="292608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899855" y="292608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name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0015423" y="365760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015423" y="365760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price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211105" y="640080"/>
            <a:ext cx="97475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0211105" y="640080"/>
            <a:ext cx="974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supplierId «FK»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89522" y="3182112"/>
            <a:ext cx="824789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89522" y="3182112"/>
            <a:ext cx="824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userId «FK»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53354" y="3456432"/>
            <a:ext cx="59984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53354" y="3456432"/>
            <a:ext cx="5998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items[ ]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66896" y="3675888"/>
            <a:ext cx="862279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166896" y="3675888"/>
            <a:ext cx="862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productId «FK»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781623" y="4700016"/>
            <a:ext cx="674827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81623" y="4700016"/>
            <a:ext cx="674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quantity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721096" y="2569078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721096" y="256907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000000"/>
                </a:solidFill>
              </a:rPr>
              <a:t>orderid</a:t>
            </a:r>
            <a:r>
              <a:rPr lang="en-US" sz="750" dirty="0">
                <a:solidFill>
                  <a:srgbClr val="000000"/>
                </a:solidFill>
              </a:rPr>
              <a:t> «PK»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485839" y="2743200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485839" y="2743200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status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801377" y="2857114"/>
            <a:ext cx="52486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801377" y="2857114"/>
            <a:ext cx="524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total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833208" y="3273552"/>
            <a:ext cx="1012241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833208" y="3273552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customerId «FK»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606040" y="4828032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606040" y="48280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000000"/>
                </a:solidFill>
              </a:rPr>
              <a:t>paymentid</a:t>
            </a:r>
            <a:r>
              <a:rPr lang="en-US" sz="750" dirty="0">
                <a:solidFill>
                  <a:srgbClr val="000000"/>
                </a:solidFill>
              </a:rPr>
              <a:t> «PK»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576676" y="4754880"/>
            <a:ext cx="637337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3576676" y="4754880"/>
            <a:ext cx="637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amount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565142" y="4828032"/>
            <a:ext cx="562356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565142" y="4828032"/>
            <a:ext cx="562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status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482950" y="5943600"/>
            <a:ext cx="824789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482950" y="5943600"/>
            <a:ext cx="824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userId «FK»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02920" y="1088136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02920" y="10881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OtpCode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3520440" y="1088136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520440" y="10881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User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823960" y="1088136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823960" y="10881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Product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90437" y="3895344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890437" y="38953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Cart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6355080" y="3328416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355080" y="332841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Order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3520440" y="5248656"/>
            <a:ext cx="10058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520440" y="52486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Payment</a:t>
            </a:r>
            <a:endParaRPr lang="en-US" sz="1200" dirty="0"/>
          </a:p>
        </p:txBody>
      </p:sp>
      <p:sp>
        <p:nvSpPr>
          <p:cNvPr id="124" name="Shape 2">
            <a:extLst>
              <a:ext uri="{FF2B5EF4-FFF2-40B4-BE49-F238E27FC236}">
                <a16:creationId xmlns:a16="http://schemas.microsoft.com/office/drawing/2014/main" id="{FC9C02E6-1063-C51D-FA42-98B7F61068B1}"/>
              </a:ext>
            </a:extLst>
          </p:cNvPr>
          <p:cNvSpPr/>
          <p:nvPr/>
        </p:nvSpPr>
        <p:spPr>
          <a:xfrm flipH="1" flipV="1">
            <a:off x="1210477" y="1563624"/>
            <a:ext cx="409984" cy="350306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>
            <a:extLst>
              <a:ext uri="{FF2B5EF4-FFF2-40B4-BE49-F238E27FC236}">
                <a16:creationId xmlns:a16="http://schemas.microsoft.com/office/drawing/2014/main" id="{5F9F914E-0E67-1AA1-B409-75F28EFAF4AC}"/>
              </a:ext>
            </a:extLst>
          </p:cNvPr>
          <p:cNvSpPr/>
          <p:nvPr/>
        </p:nvSpPr>
        <p:spPr>
          <a:xfrm>
            <a:off x="8503920" y="1225296"/>
            <a:ext cx="2301455" cy="41323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996315" y="46863"/>
            <a:ext cx="2739336" cy="230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BulkCart – Logical ER Diagram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72768" y="582930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72768" y="582930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Users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72768" y="79781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18488" y="79781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userId</a:t>
            </a:r>
            <a:r>
              <a:rPr lang="en-US" sz="750" dirty="0">
                <a:solidFill>
                  <a:srgbClr val="000000"/>
                </a:solidFill>
              </a:rPr>
              <a:t> (PK)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72768" y="9578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18488" y="9578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role (customer/vendor/admin)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572768" y="11178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18488" y="111785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name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572768" y="12778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18488" y="12778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company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72768" y="14378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18488" y="14378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email (unique)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72768" y="159791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18488" y="159791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password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572768" y="17579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18488" y="17579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phone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572768" y="19179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18488" y="191795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location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72768" y="20779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18488" y="20779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approved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72768" y="22379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18488" y="22379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businessDescription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75304" y="582930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75304" y="582930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Carts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75304" y="79781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21024" y="79781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cartId</a:t>
            </a:r>
            <a:r>
              <a:rPr lang="en-US" sz="750" dirty="0">
                <a:solidFill>
                  <a:srgbClr val="000000"/>
                </a:solidFill>
              </a:rPr>
              <a:t> (PK)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575304" y="9578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21024" y="9578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userId (FK → Users, unique)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575304" y="11178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575304" y="12778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21024" y="12778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createdAt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575304" y="14378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21024" y="14378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updatedAt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11112" y="494815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11112" y="494815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Products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11112" y="70969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56832" y="70969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productId</a:t>
            </a:r>
            <a:r>
              <a:rPr lang="en-US" sz="750" dirty="0">
                <a:solidFill>
                  <a:srgbClr val="000000"/>
                </a:solidFill>
              </a:rPr>
              <a:t> (PK)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11112" y="86971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56832" y="86971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supplierId (FK → Users)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11112" y="102973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56832" y="102973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name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611112" y="118975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56832" y="118975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category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11112" y="134977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56832" y="134977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origin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611112" y="150979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56832" y="150979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unit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611112" y="166981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56832" y="166981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price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611112" y="182983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56832" y="182983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minOrderQuantity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11112" y="198985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198985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inventory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611112" y="214987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6832" y="214987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sku (unique)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11112" y="230989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56832" y="230989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image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611112" y="246991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656832" y="246991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description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11112" y="262993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656832" y="262993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rating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611112" y="278995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656832" y="278995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reviews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11112" y="294997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56832" y="294997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leadTimeDays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611112" y="310999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656832" y="310999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certifications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11112" y="327001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656832" y="327001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tierPricing</a:t>
            </a:r>
            <a:r>
              <a:rPr lang="en-US" sz="750" dirty="0">
                <a:solidFill>
                  <a:srgbClr val="000000"/>
                </a:solidFill>
              </a:rPr>
              <a:t>[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0" y="1970532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0" y="1970532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OtpCodes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0" y="218541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5720" y="218541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otpId</a:t>
            </a:r>
            <a:r>
              <a:rPr lang="en-US" sz="750" dirty="0">
                <a:solidFill>
                  <a:srgbClr val="000000"/>
                </a:solidFill>
              </a:rPr>
              <a:t> (PK, unique)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0" y="234543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5720" y="234543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email (FK → Users.email)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0" y="250545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5720" y="250545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purpose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0" y="266547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5720" y="266547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code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0" y="282549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5720" y="282549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expiresAt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0" y="298551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5720" y="298551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verified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0" y="3145536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5720" y="3145536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verificationToken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527048" y="3143250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527048" y="3143250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Orders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27048" y="33581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572768" y="33581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orderId</a:t>
            </a:r>
            <a:r>
              <a:rPr lang="en-US" sz="750" dirty="0">
                <a:solidFill>
                  <a:srgbClr val="000000"/>
                </a:solidFill>
              </a:rPr>
              <a:t> (PK, unique)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527048" y="35181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572768" y="351815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customerId (FK → Users)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527048" y="36781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572768" y="36781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vendorId (FK → Users)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1527048" y="38381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572768" y="38381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customerName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527048" y="399821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572768" y="399821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vendorName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1527048" y="41582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572768" y="41582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status (FK → OrderStatus_Ref)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1527048" y="43182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572768" y="431825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total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1527048" y="44782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1572768" y="44782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eta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527048" y="46382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1572768" y="46382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paymentStatus (FK→PayStatus)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527048" y="479831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1572768" y="479831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paymentReference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527048" y="495833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1572768" y="495833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paymentMethod (FK→PayMethod)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1527048" y="511835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1572768" y="511835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cardLast4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527048" y="527837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572768" y="527837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items[ ] (embedded OrderItems)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1527048" y="543839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572768" y="543839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createdAt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820002" y="3236300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820002" y="3236300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CC0000"/>
                </a:solidFill>
              </a:rPr>
              <a:t>Payments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820002" y="345118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3865722" y="345118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paymentId</a:t>
            </a:r>
            <a:r>
              <a:rPr lang="en-US" sz="750" dirty="0">
                <a:solidFill>
                  <a:srgbClr val="000000"/>
                </a:solidFill>
              </a:rPr>
              <a:t> (PK, unique)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3820002" y="361120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865722" y="361120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userId (FK → Users)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3820002" y="377122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865722" y="377122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amount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3820002" y="393124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3865722" y="393124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currency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3820002" y="409126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3865722" y="409126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status (FK → PayStatus_Ref)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3820002" y="425128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3865722" y="425128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gateway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3820002" y="441130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3865722" y="441130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cardLast4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3820002" y="457132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3865722" y="457132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cardBrand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3820002" y="473134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3865722" y="473134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paymentMethodLabel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3820002" y="4891364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3865722" y="4891364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createdAt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8879340" y="2092109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8831687" y="124587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06600"/>
                </a:solidFill>
              </a:rPr>
              <a:t>Reference Tables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8965243" y="1865376"/>
            <a:ext cx="1234440" cy="2148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8965243" y="1865376"/>
            <a:ext cx="12344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u="sng" dirty="0">
                <a:solidFill>
                  <a:srgbClr val="006600"/>
                </a:solidFill>
              </a:rPr>
              <a:t>OrderStatus_Ref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8965243" y="2080260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9010963" y="2080260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id (PK)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965243" y="2240280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9010963" y="2240280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label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8965243" y="2400300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9010963" y="2400300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isTerminal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952363" y="2770632"/>
            <a:ext cx="1234440" cy="2148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8952363" y="2770632"/>
            <a:ext cx="12344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u="sng" dirty="0">
                <a:solidFill>
                  <a:srgbClr val="006600"/>
                </a:solidFill>
              </a:rPr>
              <a:t>PayStatus_Ref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8952363" y="2985516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8998083" y="2985516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id (PK)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952363" y="3145536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8998083" y="3145536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label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8952363" y="3305556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8998083" y="3305556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isActive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965242" y="3656119"/>
            <a:ext cx="1234440" cy="2148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8965242" y="3656119"/>
            <a:ext cx="12344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u="sng" dirty="0">
                <a:solidFill>
                  <a:srgbClr val="006600"/>
                </a:solidFill>
              </a:rPr>
              <a:t>PayMethod_Ref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8965242" y="3871003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9010962" y="3871003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id (PK)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965242" y="4031023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9010962" y="4031023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methodName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8939484" y="4394594"/>
            <a:ext cx="1234440" cy="2148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8939484" y="4394594"/>
            <a:ext cx="12344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u="sng" dirty="0">
                <a:solidFill>
                  <a:srgbClr val="006600"/>
                </a:solidFill>
              </a:rPr>
              <a:t>UserRole_Ref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8939484" y="4609478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8985204" y="4609478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id (PK)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939484" y="4769498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8985204" y="4769498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roleName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8939484" y="4929518"/>
            <a:ext cx="1234440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8985204" y="4929518"/>
            <a:ext cx="1143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</a:rPr>
              <a:t>isInternal</a:t>
            </a:r>
            <a:endParaRPr lang="en-US" sz="700" dirty="0"/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ADF3AC1C-2634-811F-41AE-67D983418E6F}"/>
              </a:ext>
            </a:extLst>
          </p:cNvPr>
          <p:cNvCxnSpPr/>
          <p:nvPr/>
        </p:nvCxnSpPr>
        <p:spPr>
          <a:xfrm>
            <a:off x="3099816" y="4135181"/>
            <a:ext cx="692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F34542B-53FA-AF33-0906-2D22196D5CB5}"/>
              </a:ext>
            </a:extLst>
          </p:cNvPr>
          <p:cNvCxnSpPr>
            <a:stCxn id="24" idx="2"/>
            <a:endCxn id="104" idx="0"/>
          </p:cNvCxnSpPr>
          <p:nvPr/>
        </p:nvCxnSpPr>
        <p:spPr>
          <a:xfrm flipH="1">
            <a:off x="2267712" y="2398014"/>
            <a:ext cx="45720" cy="745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BA4A74E-F8E1-AA13-B426-83279590E1A3}"/>
              </a:ext>
            </a:extLst>
          </p:cNvPr>
          <p:cNvCxnSpPr>
            <a:stCxn id="12" idx="3"/>
            <a:endCxn id="38" idx="1"/>
          </p:cNvCxnSpPr>
          <p:nvPr/>
        </p:nvCxnSpPr>
        <p:spPr>
          <a:xfrm>
            <a:off x="3054096" y="1357884"/>
            <a:ext cx="566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D345846A-7BF8-9CA4-8C7B-A866A3588BBF}"/>
              </a:ext>
            </a:extLst>
          </p:cNvPr>
          <p:cNvCxnSpPr>
            <a:cxnSpLocks/>
          </p:cNvCxnSpPr>
          <p:nvPr/>
        </p:nvCxnSpPr>
        <p:spPr>
          <a:xfrm flipV="1">
            <a:off x="5365983" y="3246797"/>
            <a:ext cx="3593288" cy="105317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2" name="Elbow Connector 211">
            <a:extLst>
              <a:ext uri="{FF2B5EF4-FFF2-40B4-BE49-F238E27FC236}">
                <a16:creationId xmlns:a16="http://schemas.microsoft.com/office/drawing/2014/main" id="{F27724D8-7472-BFC8-825D-033B797607C3}"/>
              </a:ext>
            </a:extLst>
          </p:cNvPr>
          <p:cNvCxnSpPr>
            <a:cxnSpLocks/>
          </p:cNvCxnSpPr>
          <p:nvPr/>
        </p:nvCxnSpPr>
        <p:spPr>
          <a:xfrm flipV="1">
            <a:off x="3008376" y="2215805"/>
            <a:ext cx="5883456" cy="3276611"/>
          </a:xfrm>
          <a:prstGeom prst="bentConnector3">
            <a:avLst>
              <a:gd name="adj1" fmla="val 87913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Elbow Connector 216">
            <a:extLst>
              <a:ext uri="{FF2B5EF4-FFF2-40B4-BE49-F238E27FC236}">
                <a16:creationId xmlns:a16="http://schemas.microsoft.com/office/drawing/2014/main" id="{D33B217A-5E54-BA4A-78FF-39B77A8D6001}"/>
              </a:ext>
            </a:extLst>
          </p:cNvPr>
          <p:cNvCxnSpPr>
            <a:cxnSpLocks/>
            <a:stCxn id="5" idx="0"/>
          </p:cNvCxnSpPr>
          <p:nvPr/>
        </p:nvCxnSpPr>
        <p:spPr>
          <a:xfrm rot="16200000" flipH="1">
            <a:off x="4199847" y="-1303486"/>
            <a:ext cx="4133003" cy="7905835"/>
          </a:xfrm>
          <a:prstGeom prst="bentConnector4">
            <a:avLst>
              <a:gd name="adj1" fmla="val -5531"/>
              <a:gd name="adj2" fmla="val 109045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Elbow Connector 226">
            <a:extLst>
              <a:ext uri="{FF2B5EF4-FFF2-40B4-BE49-F238E27FC236}">
                <a16:creationId xmlns:a16="http://schemas.microsoft.com/office/drawing/2014/main" id="{928BE316-6572-2B2F-C6BE-91AAD4EFB744}"/>
              </a:ext>
            </a:extLst>
          </p:cNvPr>
          <p:cNvCxnSpPr>
            <a:cxnSpLocks/>
          </p:cNvCxnSpPr>
          <p:nvPr/>
        </p:nvCxnSpPr>
        <p:spPr>
          <a:xfrm flipV="1">
            <a:off x="3072384" y="3889243"/>
            <a:ext cx="5852675" cy="1210824"/>
          </a:xfrm>
          <a:prstGeom prst="bentConnector3">
            <a:avLst>
              <a:gd name="adj1" fmla="val 80774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Shape 27">
            <a:extLst>
              <a:ext uri="{FF2B5EF4-FFF2-40B4-BE49-F238E27FC236}">
                <a16:creationId xmlns:a16="http://schemas.microsoft.com/office/drawing/2014/main" id="{BD0DC268-11AB-5F34-0950-C57C5886B311}"/>
              </a:ext>
            </a:extLst>
          </p:cNvPr>
          <p:cNvSpPr/>
          <p:nvPr/>
        </p:nvSpPr>
        <p:spPr>
          <a:xfrm>
            <a:off x="4366260" y="1934995"/>
            <a:ext cx="1481328" cy="2148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6320BAE0-7F2C-45FA-73EA-1AE2F3959911}"/>
              </a:ext>
            </a:extLst>
          </p:cNvPr>
          <p:cNvSpPr/>
          <p:nvPr/>
        </p:nvSpPr>
        <p:spPr>
          <a:xfrm>
            <a:off x="4366260" y="1934995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 err="1">
                <a:solidFill>
                  <a:srgbClr val="CC0000"/>
                </a:solidFill>
              </a:rPr>
              <a:t>CartItem</a:t>
            </a:r>
            <a:endParaRPr lang="en-US" sz="900" dirty="0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E4637BCB-CBD5-7EBB-E151-43EC65881490}"/>
              </a:ext>
            </a:extLst>
          </p:cNvPr>
          <p:cNvSpPr/>
          <p:nvPr/>
        </p:nvSpPr>
        <p:spPr>
          <a:xfrm>
            <a:off x="4366260" y="214987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F6BF5D00-59B8-1820-4661-2D35529163A0}"/>
              </a:ext>
            </a:extLst>
          </p:cNvPr>
          <p:cNvSpPr/>
          <p:nvPr/>
        </p:nvSpPr>
        <p:spPr>
          <a:xfrm>
            <a:off x="4411980" y="214987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cartitemId</a:t>
            </a:r>
            <a:r>
              <a:rPr lang="en-US" sz="750" dirty="0">
                <a:solidFill>
                  <a:srgbClr val="000000"/>
                </a:solidFill>
              </a:rPr>
              <a:t> (PK)</a:t>
            </a:r>
            <a:endParaRPr lang="en-US" sz="750" dirty="0"/>
          </a:p>
        </p:txBody>
      </p:sp>
      <p:sp>
        <p:nvSpPr>
          <p:cNvPr id="99" name="Shape 31">
            <a:extLst>
              <a:ext uri="{FF2B5EF4-FFF2-40B4-BE49-F238E27FC236}">
                <a16:creationId xmlns:a16="http://schemas.microsoft.com/office/drawing/2014/main" id="{1323BFD2-7359-5903-CFAF-7D64BE822AB6}"/>
              </a:ext>
            </a:extLst>
          </p:cNvPr>
          <p:cNvSpPr/>
          <p:nvPr/>
        </p:nvSpPr>
        <p:spPr>
          <a:xfrm>
            <a:off x="4366260" y="230989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FDD5A30A-DE7A-66FA-6B9C-9EAA5FD1FFF1}"/>
              </a:ext>
            </a:extLst>
          </p:cNvPr>
          <p:cNvSpPr/>
          <p:nvPr/>
        </p:nvSpPr>
        <p:spPr>
          <a:xfrm>
            <a:off x="4411980" y="230989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cartId</a:t>
            </a:r>
            <a:r>
              <a:rPr lang="en-US" sz="750" dirty="0">
                <a:solidFill>
                  <a:srgbClr val="000000"/>
                </a:solidFill>
              </a:rPr>
              <a:t> (FK → carts)</a:t>
            </a:r>
            <a:endParaRPr lang="en-US" sz="750" dirty="0"/>
          </a:p>
        </p:txBody>
      </p:sp>
      <p:sp>
        <p:nvSpPr>
          <p:cNvPr id="135" name="Shape 33">
            <a:extLst>
              <a:ext uri="{FF2B5EF4-FFF2-40B4-BE49-F238E27FC236}">
                <a16:creationId xmlns:a16="http://schemas.microsoft.com/office/drawing/2014/main" id="{24CBB166-C1E5-C442-6055-A0CACD8C1003}"/>
              </a:ext>
            </a:extLst>
          </p:cNvPr>
          <p:cNvSpPr/>
          <p:nvPr/>
        </p:nvSpPr>
        <p:spPr>
          <a:xfrm>
            <a:off x="4366260" y="246991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34">
            <a:extLst>
              <a:ext uri="{FF2B5EF4-FFF2-40B4-BE49-F238E27FC236}">
                <a16:creationId xmlns:a16="http://schemas.microsoft.com/office/drawing/2014/main" id="{4BEF3A12-81B5-738C-E879-A674BB3BBD39}"/>
              </a:ext>
            </a:extLst>
          </p:cNvPr>
          <p:cNvSpPr/>
          <p:nvPr/>
        </p:nvSpPr>
        <p:spPr>
          <a:xfrm>
            <a:off x="4411980" y="246991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productid(FK -&gt; products)</a:t>
            </a:r>
            <a:endParaRPr lang="en-US" sz="750" dirty="0"/>
          </a:p>
        </p:txBody>
      </p:sp>
      <p:sp>
        <p:nvSpPr>
          <p:cNvPr id="160" name="Shape 35">
            <a:extLst>
              <a:ext uri="{FF2B5EF4-FFF2-40B4-BE49-F238E27FC236}">
                <a16:creationId xmlns:a16="http://schemas.microsoft.com/office/drawing/2014/main" id="{D20B16A2-2EAA-F072-AABF-E5E9124A1067}"/>
              </a:ext>
            </a:extLst>
          </p:cNvPr>
          <p:cNvSpPr/>
          <p:nvPr/>
        </p:nvSpPr>
        <p:spPr>
          <a:xfrm>
            <a:off x="4366260" y="262993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3" name="Text 36">
            <a:extLst>
              <a:ext uri="{FF2B5EF4-FFF2-40B4-BE49-F238E27FC236}">
                <a16:creationId xmlns:a16="http://schemas.microsoft.com/office/drawing/2014/main" id="{385FCE3D-A318-D9F2-D0FB-F662326A4974}"/>
              </a:ext>
            </a:extLst>
          </p:cNvPr>
          <p:cNvSpPr/>
          <p:nvPr/>
        </p:nvSpPr>
        <p:spPr>
          <a:xfrm>
            <a:off x="4411980" y="262993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</a:rPr>
              <a:t>Quantity</a:t>
            </a:r>
            <a:endParaRPr lang="en-US" sz="750" dirty="0"/>
          </a:p>
        </p:txBody>
      </p:sp>
      <p:sp>
        <p:nvSpPr>
          <p:cNvPr id="194" name="Shape 37">
            <a:extLst>
              <a:ext uri="{FF2B5EF4-FFF2-40B4-BE49-F238E27FC236}">
                <a16:creationId xmlns:a16="http://schemas.microsoft.com/office/drawing/2014/main" id="{555A37A0-09FC-D52F-3680-BAEE28784E29}"/>
              </a:ext>
            </a:extLst>
          </p:cNvPr>
          <p:cNvSpPr/>
          <p:nvPr/>
        </p:nvSpPr>
        <p:spPr>
          <a:xfrm>
            <a:off x="4366260" y="2789959"/>
            <a:ext cx="1481328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38">
            <a:extLst>
              <a:ext uri="{FF2B5EF4-FFF2-40B4-BE49-F238E27FC236}">
                <a16:creationId xmlns:a16="http://schemas.microsoft.com/office/drawing/2014/main" id="{59F24CA6-D302-B344-12A6-385B49113EBA}"/>
              </a:ext>
            </a:extLst>
          </p:cNvPr>
          <p:cNvSpPr/>
          <p:nvPr/>
        </p:nvSpPr>
        <p:spPr>
          <a:xfrm>
            <a:off x="4411980" y="2789959"/>
            <a:ext cx="13898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000000"/>
                </a:solidFill>
              </a:rPr>
              <a:t>unitprice</a:t>
            </a:r>
            <a:endParaRPr lang="en-US" sz="750" dirty="0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FC54D91-6D70-256F-377B-C56FDBDDCC25}"/>
              </a:ext>
            </a:extLst>
          </p:cNvPr>
          <p:cNvCxnSpPr>
            <a:stCxn id="39" idx="2"/>
            <a:endCxn id="28" idx="0"/>
          </p:cNvCxnSpPr>
          <p:nvPr/>
        </p:nvCxnSpPr>
        <p:spPr>
          <a:xfrm>
            <a:off x="4315968" y="1597914"/>
            <a:ext cx="790956" cy="33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350BFA1B-2FCA-74A0-0B76-EADD45E4A7A3}"/>
              </a:ext>
            </a:extLst>
          </p:cNvPr>
          <p:cNvCxnSpPr>
            <a:cxnSpLocks/>
            <a:stCxn id="58" idx="1"/>
            <a:endCxn id="99" idx="3"/>
          </p:cNvCxnSpPr>
          <p:nvPr/>
        </p:nvCxnSpPr>
        <p:spPr>
          <a:xfrm flipH="1">
            <a:off x="5847588" y="1749829"/>
            <a:ext cx="763524" cy="64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03BF18-A3F4-FB63-9126-D2EF919B41D1}"/>
              </a:ext>
            </a:extLst>
          </p:cNvPr>
          <p:cNvCxnSpPr>
            <a:cxnSpLocks/>
          </p:cNvCxnSpPr>
          <p:nvPr/>
        </p:nvCxnSpPr>
        <p:spPr>
          <a:xfrm>
            <a:off x="3070098" y="2257875"/>
            <a:ext cx="1072411" cy="101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FF69546-05D3-61BB-0102-B6BDFFE68EB2}"/>
              </a:ext>
            </a:extLst>
          </p:cNvPr>
          <p:cNvCxnSpPr>
            <a:stCxn id="84" idx="0"/>
            <a:endCxn id="10" idx="1"/>
          </p:cNvCxnSpPr>
          <p:nvPr/>
        </p:nvCxnSpPr>
        <p:spPr>
          <a:xfrm flipV="1">
            <a:off x="740664" y="1197864"/>
            <a:ext cx="832104" cy="772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9" name="cf_line"/>
          <p:cNvSpPr>
            <a:spLocks noGrp="1"/>
          </p:cNvSpPr>
          <p:nvPr/>
        </p:nvSpPr>
        <p:spPr>
          <a:xfrm>
            <a:off x="3127248" y="1284732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cf_line"/>
          <p:cNvSpPr>
            <a:spLocks noGrp="1"/>
          </p:cNvSpPr>
          <p:nvPr/>
        </p:nvSpPr>
        <p:spPr>
          <a:xfrm>
            <a:off x="3502152" y="1284732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cf_line"/>
          <p:cNvSpPr>
            <a:spLocks noGrp="1"/>
          </p:cNvSpPr>
          <p:nvPr/>
        </p:nvSpPr>
        <p:spPr>
          <a:xfrm>
            <a:off x="1435608" y="1189758"/>
            <a:ext cx="45721" cy="248135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cf_line"/>
          <p:cNvSpPr>
            <a:spLocks noGrp="1"/>
          </p:cNvSpPr>
          <p:nvPr/>
        </p:nvSpPr>
        <p:spPr>
          <a:xfrm>
            <a:off x="667511" y="1851660"/>
            <a:ext cx="162221" cy="118872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3" name="cf_line"/>
          <p:cNvSpPr>
            <a:spLocks noGrp="1"/>
          </p:cNvSpPr>
          <p:nvPr/>
        </p:nvSpPr>
        <p:spPr>
          <a:xfrm>
            <a:off x="726777" y="1825012"/>
            <a:ext cx="153755" cy="121159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cf_line"/>
          <p:cNvSpPr>
            <a:spLocks noGrp="1"/>
          </p:cNvSpPr>
          <p:nvPr/>
        </p:nvSpPr>
        <p:spPr>
          <a:xfrm>
            <a:off x="2212848" y="2571750"/>
            <a:ext cx="146304" cy="3657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87" name="cf_line"/>
          <p:cNvSpPr>
            <a:spLocks noGrp="1"/>
          </p:cNvSpPr>
          <p:nvPr/>
        </p:nvSpPr>
        <p:spPr>
          <a:xfrm>
            <a:off x="2212848" y="2969971"/>
            <a:ext cx="146304" cy="3657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88" name="cf_line"/>
          <p:cNvSpPr>
            <a:spLocks noGrp="1"/>
          </p:cNvSpPr>
          <p:nvPr/>
        </p:nvSpPr>
        <p:spPr>
          <a:xfrm>
            <a:off x="3172968" y="4062039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89" name="cf_line"/>
          <p:cNvSpPr>
            <a:spLocks noGrp="1"/>
          </p:cNvSpPr>
          <p:nvPr/>
        </p:nvSpPr>
        <p:spPr>
          <a:xfrm>
            <a:off x="3273552" y="4062039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98" name="cf_circle"/>
          <p:cNvSpPr>
            <a:spLocks noGrp="1"/>
          </p:cNvSpPr>
          <p:nvPr/>
        </p:nvSpPr>
        <p:spPr>
          <a:xfrm>
            <a:off x="3568446" y="4084899"/>
            <a:ext cx="100584" cy="100584"/>
          </a:xfrm>
          <a:prstGeom prst="ellipse">
            <a:avLst/>
          </a:prstGeom>
          <a:noFill/>
          <a:ln w="9525">
            <a:solidFill>
              <a:srgbClr val="4472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90" name="cf_line"/>
          <p:cNvSpPr>
            <a:spLocks noGrp="1"/>
          </p:cNvSpPr>
          <p:nvPr/>
        </p:nvSpPr>
        <p:spPr>
          <a:xfrm>
            <a:off x="3686252" y="4053572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91" name="cf_line"/>
          <p:cNvSpPr>
            <a:spLocks noGrp="1"/>
          </p:cNvSpPr>
          <p:nvPr/>
        </p:nvSpPr>
        <p:spPr>
          <a:xfrm flipV="1">
            <a:off x="4316984" y="1662876"/>
            <a:ext cx="245872" cy="6943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93" name="cf_line"/>
          <p:cNvSpPr>
            <a:spLocks noGrp="1"/>
          </p:cNvSpPr>
          <p:nvPr/>
        </p:nvSpPr>
        <p:spPr>
          <a:xfrm flipH="1">
            <a:off x="4902200" y="1829839"/>
            <a:ext cx="108712" cy="88115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94" name="cf_line"/>
          <p:cNvSpPr>
            <a:spLocks noGrp="1"/>
          </p:cNvSpPr>
          <p:nvPr/>
        </p:nvSpPr>
        <p:spPr>
          <a:xfrm flipH="1">
            <a:off x="4769104" y="1801991"/>
            <a:ext cx="127000" cy="71905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9997" name="cf_line"/>
          <p:cNvSpPr>
            <a:spLocks noGrp="1"/>
          </p:cNvSpPr>
          <p:nvPr/>
        </p:nvSpPr>
        <p:spPr>
          <a:xfrm>
            <a:off x="6403544" y="1837944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00" name="cf_line"/>
          <p:cNvSpPr>
            <a:spLocks noGrp="1"/>
          </p:cNvSpPr>
          <p:nvPr/>
        </p:nvSpPr>
        <p:spPr>
          <a:xfrm>
            <a:off x="6445607" y="1785812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04" name="cf_line"/>
          <p:cNvSpPr>
            <a:spLocks noGrp="1"/>
          </p:cNvSpPr>
          <p:nvPr/>
        </p:nvSpPr>
        <p:spPr>
          <a:xfrm>
            <a:off x="5945124" y="2229889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05" name="cf_line"/>
          <p:cNvSpPr>
            <a:spLocks noGrp="1"/>
          </p:cNvSpPr>
          <p:nvPr/>
        </p:nvSpPr>
        <p:spPr>
          <a:xfrm>
            <a:off x="3141879" y="2270252"/>
            <a:ext cx="3657" cy="146304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10" name="cf_line"/>
          <p:cNvSpPr>
            <a:spLocks noGrp="1"/>
          </p:cNvSpPr>
          <p:nvPr/>
        </p:nvSpPr>
        <p:spPr>
          <a:xfrm flipV="1">
            <a:off x="3928533" y="3137132"/>
            <a:ext cx="214086" cy="46335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11" name="cf_line">
            <a:extLst>
              <a:ext uri="{FF2B5EF4-FFF2-40B4-BE49-F238E27FC236}">
                <a16:creationId xmlns:a16="http://schemas.microsoft.com/office/drawing/2014/main" id="{820B0169-787E-8332-B70C-B9E32C3DBE19}"/>
              </a:ext>
            </a:extLst>
          </p:cNvPr>
          <p:cNvSpPr>
            <a:spLocks noGrp="1"/>
          </p:cNvSpPr>
          <p:nvPr/>
        </p:nvSpPr>
        <p:spPr>
          <a:xfrm flipV="1">
            <a:off x="3889272" y="3109999"/>
            <a:ext cx="214086" cy="46335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0012" name="cf_line">
            <a:extLst>
              <a:ext uri="{FF2B5EF4-FFF2-40B4-BE49-F238E27FC236}">
                <a16:creationId xmlns:a16="http://schemas.microsoft.com/office/drawing/2014/main" id="{8DDF334D-507F-D73E-ECBE-85702059DD8D}"/>
              </a:ext>
            </a:extLst>
          </p:cNvPr>
          <p:cNvSpPr>
            <a:spLocks noGrp="1"/>
          </p:cNvSpPr>
          <p:nvPr/>
        </p:nvSpPr>
        <p:spPr>
          <a:xfrm>
            <a:off x="2240280" y="3026332"/>
            <a:ext cx="146304" cy="3657"/>
          </a:xfrm>
          <a:prstGeom prst="line">
            <a:avLst/>
          </a:prstGeom>
          <a:noFill/>
          <a:ln w="12700">
            <a:solidFill>
              <a:srgbClr val="4472C4"/>
            </a:solidFill>
            <a:round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396</Words>
  <Application>Microsoft Macintosh PowerPoint</Application>
  <PresentationFormat>Widescreen</PresentationFormat>
  <Paragraphs>150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Meet Mangukiya</cp:lastModifiedBy>
  <cp:revision>15</cp:revision>
  <dcterms:created xsi:type="dcterms:W3CDTF">2026-04-11T16:37:17Z</dcterms:created>
  <dcterms:modified xsi:type="dcterms:W3CDTF">2026-05-10T19:13:56Z</dcterms:modified>
</cp:coreProperties>
</file>